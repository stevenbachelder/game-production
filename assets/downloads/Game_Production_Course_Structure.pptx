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Title slide. Game Production, MFA. This deck sets out the teaching forms and the overall structure of the course, for staff and students.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aim: explore the capability of games and the full possibility space. Four broad territories of work are open to students. All work happens in production teams.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Six teaching forms. Tuesdays carry the taught input; Wednesdays carry the individual and team follow-up. The Samlinger sit above the weekly rhythm.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Tuesday is the input day, Wednesday the response day. The bulk of the production happens in the team's own time between them.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course description is written as two parallel columns each week — a teaching component and a student group-work focus. This slide makes that structure explicit.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centrepiece. Four phases: Enquiry, Green-light, Test, Reflect. Four Samlinger at weeks 1, 6, 12 and 15. Exam week is week 14 (calendar week 49).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Phase 01: Enquiry — Games, systems and society. Course weeks 1–5  ·  calendar weeks 36–40.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Phase 02: Green-light — Design decisions and production start. Course weeks 6–9  ·  calendar weeks 41–44.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Phase 03: Test — Analysis, prototypes and play-testing. Course weeks 10–14  ·  calendar weeks 45–49.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Phase 04: Reflect — Peeling the onion. Course weeks 15–17  ·  calendar weeks 50–51, continuing into week 01 / 2027.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Concrete dates. The course opens on Tuesday 1 September with Samling 1; Samling 2 falls on 6–7 October.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November and December. Samling 3 on 17–18 November, exam week 30 November to 6 December, Samling 4 on 8–9 December. The year ends after week 16 on 15–16 December.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Four Samlinger. The Samling 4 description is still a draft.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Five clusters of literature. The fifth — artistic practice and aesthetics — sits behind the artistic-intentionality weeks. The list is explicitly open.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Closing summary. Open for questions on structure, teaching forms and expectations.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50E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09760" y="914400"/>
            <a:ext cx="850392" cy="850392"/>
          </a:xfrm>
          <a:prstGeom prst="ellipse">
            <a:avLst/>
          </a:prstGeom>
          <a:solidFill>
            <a:srgbClr val="4B2E9E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675620" y="1325880"/>
            <a:ext cx="466344" cy="466344"/>
          </a:xfrm>
          <a:prstGeom prst="ellipse">
            <a:avLst/>
          </a:prstGeom>
          <a:solidFill>
            <a:srgbClr val="4B2E9E">
              <a:alpha val="4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9989820" y="2039112"/>
            <a:ext cx="630936" cy="630936"/>
          </a:xfrm>
          <a:prstGeom prst="triangle">
            <a:avLst/>
          </a:prstGeom>
          <a:solidFill>
            <a:srgbClr val="4B2E9E">
              <a:alpha val="45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11155680" y="2217420"/>
            <a:ext cx="329184" cy="329184"/>
          </a:xfrm>
          <a:prstGeom prst="ellipse">
            <a:avLst/>
          </a:prstGeom>
          <a:solidFill>
            <a:srgbClr val="4B2E9E">
              <a:alpha val="45000"/>
            </a:srgbClr>
          </a:solidFill>
          <a:ln/>
        </p:spPr>
      </p:sp>
      <p:sp>
        <p:nvSpPr>
          <p:cNvPr id="6" name="Shape 4"/>
          <p:cNvSpPr/>
          <p:nvPr/>
        </p:nvSpPr>
        <p:spPr>
          <a:xfrm rot="1200000">
            <a:off x="10908792" y="338328"/>
            <a:ext cx="384048" cy="384048"/>
          </a:xfrm>
          <a:prstGeom prst="rect">
            <a:avLst/>
          </a:prstGeom>
          <a:solidFill>
            <a:srgbClr val="4B2E9E">
              <a:alpha val="45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10241280" y="4206240"/>
            <a:ext cx="623621" cy="623621"/>
          </a:xfrm>
          <a:prstGeom prst="ellipse">
            <a:avLst/>
          </a:prstGeom>
          <a:solidFill>
            <a:srgbClr val="FFB020">
              <a:alpha val="22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11096244" y="4507992"/>
            <a:ext cx="341986" cy="341986"/>
          </a:xfrm>
          <a:prstGeom prst="ellipse">
            <a:avLst/>
          </a:prstGeom>
          <a:solidFill>
            <a:srgbClr val="FFB020">
              <a:alpha val="22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10593324" y="5031029"/>
            <a:ext cx="462686" cy="462686"/>
          </a:xfrm>
          <a:prstGeom prst="triangle">
            <a:avLst/>
          </a:prstGeom>
          <a:solidFill>
            <a:srgbClr val="FFB020">
              <a:alpha val="22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11448288" y="5161788"/>
            <a:ext cx="241402" cy="241402"/>
          </a:xfrm>
          <a:prstGeom prst="ellipse">
            <a:avLst/>
          </a:prstGeom>
          <a:solidFill>
            <a:srgbClr val="FFB020">
              <a:alpha val="22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 rot="1200000">
            <a:off x="11267237" y="3783787"/>
            <a:ext cx="281635" cy="281635"/>
          </a:xfrm>
          <a:prstGeom prst="rect">
            <a:avLst/>
          </a:prstGeom>
          <a:solidFill>
            <a:srgbClr val="FFB020">
              <a:alpha val="22000"/>
            </a:srgbClr>
          </a:solidFill>
          <a:ln/>
        </p:spPr>
      </p:sp>
      <p:sp>
        <p:nvSpPr>
          <p:cNvPr id="12" name="Text 10"/>
          <p:cNvSpPr/>
          <p:nvPr/>
        </p:nvSpPr>
        <p:spPr>
          <a:xfrm>
            <a:off x="640080" y="105156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D8CF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MFA · Course overview for staff and students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40080" y="1508760"/>
            <a:ext cx="841248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Game Production</a:t>
            </a:r>
            <a:endParaRPr lang="en-US" sz="6000" dirty="0"/>
          </a:p>
        </p:txBody>
      </p:sp>
      <p:sp>
        <p:nvSpPr>
          <p:cNvPr id="14" name="Text 12"/>
          <p:cNvSpPr/>
          <p:nvPr/>
        </p:nvSpPr>
        <p:spPr>
          <a:xfrm>
            <a:off x="640080" y="297180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i="1" dirty="0">
                <a:solidFill>
                  <a:srgbClr val="FFB0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“What is unique to games and game design?”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640080" y="3794760"/>
            <a:ext cx="7680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D8CF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Exploring what games are and what games can do — game design as a means of enquiry, artistic expression and intervention into complex phenomena in society.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40080" y="4892040"/>
            <a:ext cx="2468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FB8A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16</a:t>
            </a:r>
            <a:endParaRPr lang="en-US" sz="4000" dirty="0"/>
          </a:p>
        </p:txBody>
      </p:sp>
      <p:sp>
        <p:nvSpPr>
          <p:cNvPr id="17" name="Text 15"/>
          <p:cNvSpPr/>
          <p:nvPr/>
        </p:nvSpPr>
        <p:spPr>
          <a:xfrm>
            <a:off x="640080" y="5532120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D8CF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teaching weeks,</a:t>
            </a:r>
            <a:endParaRPr lang="en-US" sz="12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D8CF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plus week 1 of 2027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3429000" y="4892040"/>
            <a:ext cx="2468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FB8A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4000" dirty="0"/>
          </a:p>
        </p:txBody>
      </p:sp>
      <p:sp>
        <p:nvSpPr>
          <p:cNvPr id="19" name="Text 17"/>
          <p:cNvSpPr/>
          <p:nvPr/>
        </p:nvSpPr>
        <p:spPr>
          <a:xfrm>
            <a:off x="3429000" y="5532120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D8CF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Samlinger</a:t>
            </a:r>
            <a:endParaRPr lang="en-US" sz="12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D8CF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(intensive gatherings)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6217920" y="4892040"/>
            <a:ext cx="2468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FB8A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4000" dirty="0"/>
          </a:p>
        </p:txBody>
      </p:sp>
      <p:sp>
        <p:nvSpPr>
          <p:cNvPr id="21" name="Text 19"/>
          <p:cNvSpPr/>
          <p:nvPr/>
        </p:nvSpPr>
        <p:spPr>
          <a:xfrm>
            <a:off x="6217920" y="5532120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D8CF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contact days</a:t>
            </a:r>
            <a:endParaRPr lang="en-US" sz="12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D8CF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week</a:t>
            </a:r>
            <a:endParaRPr lang="en-US" sz="12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6F4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50E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aim of the course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640080" y="109728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2E27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explore the capability of games and game production, and to fully explore the possibility space — using game design as a means of enquiry and of understanding complex phenomena. This is done through hands-on production in teams, targeted towards artistic expression, intervention and enquiry.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640080" y="224028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6C63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possibility space includes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40080" y="2651760"/>
            <a:ext cx="2624328" cy="2487168"/>
          </a:xfrm>
          <a:prstGeom prst="roundRect">
            <a:avLst>
              <a:gd name="adj" fmla="val 330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19050" dir="5400000">
              <a:srgbClr val="150E2E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32688" y="2944368"/>
            <a:ext cx="658368" cy="658368"/>
          </a:xfrm>
          <a:prstGeom prst="ellipse">
            <a:avLst/>
          </a:prstGeom>
          <a:solidFill>
            <a:srgbClr val="4B2E9E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8136" y="3099816"/>
            <a:ext cx="347472" cy="34747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932688" y="3703320"/>
            <a:ext cx="20391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00"/>
              </a:lnSpc>
              <a:buNone/>
            </a:pPr>
            <a:r>
              <a:rPr lang="en-US" sz="1650" b="1" dirty="0">
                <a:solidFill>
                  <a:srgbClr val="150E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Artistic games</a:t>
            </a:r>
            <a:endParaRPr lang="en-US" sz="1650" dirty="0"/>
          </a:p>
        </p:txBody>
      </p:sp>
      <p:sp>
        <p:nvSpPr>
          <p:cNvPr id="9" name="Text 6"/>
          <p:cNvSpPr/>
          <p:nvPr/>
        </p:nvSpPr>
        <p:spPr>
          <a:xfrm>
            <a:off x="932688" y="4334256"/>
            <a:ext cx="203911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6C63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Games as an artistic medium and material for expression.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3529584" y="2651760"/>
            <a:ext cx="2624328" cy="2487168"/>
          </a:xfrm>
          <a:prstGeom prst="roundRect">
            <a:avLst>
              <a:gd name="adj" fmla="val 330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19050" dir="5400000">
              <a:srgbClr val="150E2E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822192" y="2944368"/>
            <a:ext cx="658368" cy="658368"/>
          </a:xfrm>
          <a:prstGeom prst="ellipse">
            <a:avLst/>
          </a:prstGeom>
          <a:solidFill>
            <a:srgbClr val="1FB8A0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77640" y="3099816"/>
            <a:ext cx="347472" cy="347472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822192" y="3703320"/>
            <a:ext cx="20391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00"/>
              </a:lnSpc>
              <a:buNone/>
            </a:pPr>
            <a:r>
              <a:rPr lang="en-US" sz="1650" b="1" dirty="0">
                <a:solidFill>
                  <a:srgbClr val="150E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Entertainment games</a:t>
            </a:r>
            <a:endParaRPr lang="en-US" sz="1650" dirty="0"/>
          </a:p>
        </p:txBody>
      </p:sp>
      <p:sp>
        <p:nvSpPr>
          <p:cNvPr id="14" name="Text 10"/>
          <p:cNvSpPr/>
          <p:nvPr/>
        </p:nvSpPr>
        <p:spPr>
          <a:xfrm>
            <a:off x="3822192" y="4334256"/>
            <a:ext cx="203911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6C63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craft of designed play and engaging experience.</a:t>
            </a:r>
            <a:endParaRPr lang="en-US" sz="1250" dirty="0"/>
          </a:p>
        </p:txBody>
      </p:sp>
      <p:sp>
        <p:nvSpPr>
          <p:cNvPr id="15" name="Shape 11"/>
          <p:cNvSpPr/>
          <p:nvPr/>
        </p:nvSpPr>
        <p:spPr>
          <a:xfrm>
            <a:off x="6419088" y="2651760"/>
            <a:ext cx="2624328" cy="2487168"/>
          </a:xfrm>
          <a:prstGeom prst="roundRect">
            <a:avLst>
              <a:gd name="adj" fmla="val 330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19050" dir="5400000">
              <a:srgbClr val="150E2E">
                <a:alpha val="10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6711696" y="2944368"/>
            <a:ext cx="658368" cy="658368"/>
          </a:xfrm>
          <a:prstGeom prst="ellipse">
            <a:avLst/>
          </a:prstGeom>
          <a:solidFill>
            <a:srgbClr val="4B2E9E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67144" y="3099816"/>
            <a:ext cx="347472" cy="347472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6711696" y="3703320"/>
            <a:ext cx="20391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00"/>
              </a:lnSpc>
              <a:buNone/>
            </a:pPr>
            <a:r>
              <a:rPr lang="en-US" sz="1650" b="1" dirty="0">
                <a:solidFill>
                  <a:srgbClr val="150E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Serious games</a:t>
            </a:r>
            <a:endParaRPr lang="en-US" sz="1650" dirty="0"/>
          </a:p>
        </p:txBody>
      </p:sp>
      <p:sp>
        <p:nvSpPr>
          <p:cNvPr id="19" name="Text 14"/>
          <p:cNvSpPr/>
          <p:nvPr/>
        </p:nvSpPr>
        <p:spPr>
          <a:xfrm>
            <a:off x="6711696" y="4334256"/>
            <a:ext cx="203911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6C63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Modelling and examining complex systems and societal challenges.</a:t>
            </a:r>
            <a:endParaRPr lang="en-US" sz="1250" dirty="0"/>
          </a:p>
        </p:txBody>
      </p:sp>
      <p:sp>
        <p:nvSpPr>
          <p:cNvPr id="20" name="Shape 15"/>
          <p:cNvSpPr/>
          <p:nvPr/>
        </p:nvSpPr>
        <p:spPr>
          <a:xfrm>
            <a:off x="9308592" y="2651760"/>
            <a:ext cx="2624328" cy="2487168"/>
          </a:xfrm>
          <a:prstGeom prst="roundRect">
            <a:avLst>
              <a:gd name="adj" fmla="val 330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19050" dir="5400000">
              <a:srgbClr val="150E2E">
                <a:alpha val="10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9601200" y="2944368"/>
            <a:ext cx="658368" cy="658368"/>
          </a:xfrm>
          <a:prstGeom prst="ellipse">
            <a:avLst/>
          </a:prstGeom>
          <a:solidFill>
            <a:srgbClr val="1FB8A0"/>
          </a:solidFill>
          <a:ln/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56648" y="3099816"/>
            <a:ext cx="347472" cy="347472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9601200" y="3703320"/>
            <a:ext cx="20391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00"/>
              </a:lnSpc>
              <a:buNone/>
            </a:pPr>
            <a:r>
              <a:rPr lang="en-US" sz="1650" b="1" dirty="0">
                <a:solidFill>
                  <a:srgbClr val="150E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Games that make claims</a:t>
            </a:r>
            <a:endParaRPr lang="en-US" sz="1650" dirty="0"/>
          </a:p>
        </p:txBody>
      </p:sp>
      <p:sp>
        <p:nvSpPr>
          <p:cNvPr id="24" name="Text 18"/>
          <p:cNvSpPr/>
          <p:nvPr/>
        </p:nvSpPr>
        <p:spPr>
          <a:xfrm>
            <a:off x="9601200" y="4334256"/>
            <a:ext cx="203911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6C63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 that state, argue, or re-position players to new vantage points.</a:t>
            </a:r>
            <a:endParaRPr lang="en-US" sz="1250" dirty="0"/>
          </a:p>
        </p:txBody>
      </p:sp>
      <p:sp>
        <p:nvSpPr>
          <p:cNvPr id="25" name="Shape 19"/>
          <p:cNvSpPr/>
          <p:nvPr/>
        </p:nvSpPr>
        <p:spPr>
          <a:xfrm>
            <a:off x="640080" y="5349240"/>
            <a:ext cx="10881360" cy="841248"/>
          </a:xfrm>
          <a:prstGeom prst="roundRect">
            <a:avLst>
              <a:gd name="adj" fmla="val 9783"/>
            </a:avLst>
          </a:prstGeom>
          <a:solidFill>
            <a:srgbClr val="2A1A57"/>
          </a:solidFill>
          <a:ln/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24128" y="5577840"/>
            <a:ext cx="384048" cy="384048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1600200" y="5349240"/>
            <a:ext cx="96012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 work together in production teams throughout the course.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6F4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50E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Six teaching forms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640080" y="960120"/>
            <a:ext cx="10881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6C63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Input, application and feedback are delivered through six distinct formats that run in parallel across the course.</a:t>
            </a:r>
            <a:endParaRPr lang="en-US" sz="1450" dirty="0"/>
          </a:p>
        </p:txBody>
      </p:sp>
      <p:sp>
        <p:nvSpPr>
          <p:cNvPr id="4" name="Shape 2"/>
          <p:cNvSpPr/>
          <p:nvPr/>
        </p:nvSpPr>
        <p:spPr>
          <a:xfrm>
            <a:off x="640080" y="1572768"/>
            <a:ext cx="3502152" cy="2240280"/>
          </a:xfrm>
          <a:prstGeom prst="roundRect">
            <a:avLst>
              <a:gd name="adj" fmla="val 367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19050" dir="5400000">
              <a:srgbClr val="150E2E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1847088"/>
            <a:ext cx="640080" cy="640080"/>
          </a:xfrm>
          <a:prstGeom prst="ellipse">
            <a:avLst/>
          </a:prstGeom>
          <a:solidFill>
            <a:srgbClr val="FFB020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5276" y="1997964"/>
            <a:ext cx="338328" cy="33832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91640" y="1847088"/>
            <a:ext cx="21762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50E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Lectures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1691640" y="2176272"/>
            <a:ext cx="21762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9A6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Tuesdays 13–16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914400" y="2743200"/>
            <a:ext cx="295351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6C63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Theory input: game design, game studies, game theory, system dynamics and narratology.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4425696" y="1572768"/>
            <a:ext cx="3502152" cy="2240280"/>
          </a:xfrm>
          <a:prstGeom prst="roundRect">
            <a:avLst>
              <a:gd name="adj" fmla="val 367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19050" dir="5400000">
              <a:srgbClr val="150E2E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700016" y="1847088"/>
            <a:ext cx="640080" cy="640080"/>
          </a:xfrm>
          <a:prstGeom prst="ellipse">
            <a:avLst/>
          </a:prstGeom>
          <a:solidFill>
            <a:srgbClr val="FFB020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50892" y="1997964"/>
            <a:ext cx="338328" cy="33832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477256" y="1847088"/>
            <a:ext cx="21762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50E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Workshops</a:t>
            </a:r>
            <a:endParaRPr lang="en-US" sz="1800" dirty="0"/>
          </a:p>
        </p:txBody>
      </p:sp>
      <p:sp>
        <p:nvSpPr>
          <p:cNvPr id="14" name="Text 10"/>
          <p:cNvSpPr/>
          <p:nvPr/>
        </p:nvSpPr>
        <p:spPr>
          <a:xfrm>
            <a:off x="5477256" y="2176272"/>
            <a:ext cx="21762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9A6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Tuesdays 13–16</a:t>
            </a:r>
            <a:endParaRPr lang="en-US" sz="1200" dirty="0"/>
          </a:p>
        </p:txBody>
      </p:sp>
      <p:sp>
        <p:nvSpPr>
          <p:cNvPr id="15" name="Text 11"/>
          <p:cNvSpPr/>
          <p:nvPr/>
        </p:nvSpPr>
        <p:spPr>
          <a:xfrm>
            <a:off x="4700016" y="2743200"/>
            <a:ext cx="295351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6C63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Hands-on method work: causal loop diagrams, mechanics, world building and pipelines.</a:t>
            </a:r>
            <a:endParaRPr lang="en-US" sz="1250" dirty="0"/>
          </a:p>
        </p:txBody>
      </p:sp>
      <p:sp>
        <p:nvSpPr>
          <p:cNvPr id="16" name="Shape 12"/>
          <p:cNvSpPr/>
          <p:nvPr/>
        </p:nvSpPr>
        <p:spPr>
          <a:xfrm>
            <a:off x="8211312" y="1572768"/>
            <a:ext cx="3502152" cy="2240280"/>
          </a:xfrm>
          <a:prstGeom prst="roundRect">
            <a:avLst>
              <a:gd name="adj" fmla="val 367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19050" dir="5400000">
              <a:srgbClr val="150E2E">
                <a:alpha val="10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8485632" y="1847088"/>
            <a:ext cx="640080" cy="640080"/>
          </a:xfrm>
          <a:prstGeom prst="ellipse">
            <a:avLst/>
          </a:prstGeom>
          <a:solidFill>
            <a:srgbClr val="1FB8A0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36508" y="1997964"/>
            <a:ext cx="338328" cy="338328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9262872" y="1847088"/>
            <a:ext cx="21762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50E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Group supervision</a:t>
            </a:r>
            <a:endParaRPr lang="en-US" sz="1800" dirty="0"/>
          </a:p>
        </p:txBody>
      </p:sp>
      <p:sp>
        <p:nvSpPr>
          <p:cNvPr id="20" name="Text 15"/>
          <p:cNvSpPr/>
          <p:nvPr/>
        </p:nvSpPr>
        <p:spPr>
          <a:xfrm>
            <a:off x="9262872" y="2176272"/>
            <a:ext cx="21762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B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Wednesdays 9–12</a:t>
            </a:r>
            <a:endParaRPr lang="en-US" sz="1200" dirty="0"/>
          </a:p>
        </p:txBody>
      </p:sp>
      <p:sp>
        <p:nvSpPr>
          <p:cNvPr id="21" name="Text 16"/>
          <p:cNvSpPr/>
          <p:nvPr/>
        </p:nvSpPr>
        <p:spPr>
          <a:xfrm>
            <a:off x="8485632" y="2743200"/>
            <a:ext cx="295351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6C63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teams meet supervisors on their ongoing project work.</a:t>
            </a:r>
            <a:endParaRPr lang="en-US" sz="1250" dirty="0"/>
          </a:p>
        </p:txBody>
      </p:sp>
      <p:sp>
        <p:nvSpPr>
          <p:cNvPr id="22" name="Shape 17"/>
          <p:cNvSpPr/>
          <p:nvPr/>
        </p:nvSpPr>
        <p:spPr>
          <a:xfrm>
            <a:off x="640080" y="4105656"/>
            <a:ext cx="3502152" cy="2240280"/>
          </a:xfrm>
          <a:prstGeom prst="roundRect">
            <a:avLst>
              <a:gd name="adj" fmla="val 367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19050" dir="5400000">
              <a:srgbClr val="150E2E">
                <a:alpha val="10000"/>
              </a:srgbClr>
            </a:outerShdw>
          </a:effectLst>
        </p:spPr>
      </p:sp>
      <p:sp>
        <p:nvSpPr>
          <p:cNvPr id="23" name="Shape 18"/>
          <p:cNvSpPr/>
          <p:nvPr/>
        </p:nvSpPr>
        <p:spPr>
          <a:xfrm>
            <a:off x="914400" y="4379976"/>
            <a:ext cx="640080" cy="640080"/>
          </a:xfrm>
          <a:prstGeom prst="ellipse">
            <a:avLst/>
          </a:prstGeom>
          <a:solidFill>
            <a:srgbClr val="1FB8A0"/>
          </a:solidFill>
          <a:ln/>
        </p:spPr>
      </p:sp>
      <p:pic>
        <p:nvPicPr>
          <p:cNvPr id="2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65276" y="4530852"/>
            <a:ext cx="338328" cy="338328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1691640" y="4379976"/>
            <a:ext cx="21762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50E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Consultations</a:t>
            </a:r>
            <a:endParaRPr lang="en-US" sz="1800" dirty="0"/>
          </a:p>
        </p:txBody>
      </p:sp>
      <p:sp>
        <p:nvSpPr>
          <p:cNvPr id="26" name="Text 20"/>
          <p:cNvSpPr/>
          <p:nvPr/>
        </p:nvSpPr>
        <p:spPr>
          <a:xfrm>
            <a:off x="1691640" y="4709160"/>
            <a:ext cx="21762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B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Wednesdays 9–12</a:t>
            </a:r>
            <a:endParaRPr lang="en-US" sz="1200" dirty="0"/>
          </a:p>
        </p:txBody>
      </p:sp>
      <p:sp>
        <p:nvSpPr>
          <p:cNvPr id="27" name="Text 21"/>
          <p:cNvSpPr/>
          <p:nvPr/>
        </p:nvSpPr>
        <p:spPr>
          <a:xfrm>
            <a:off x="914400" y="5276088"/>
            <a:ext cx="295351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6C63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Targeted specialist input in specific areas, as needed throughout the productions.</a:t>
            </a:r>
            <a:endParaRPr lang="en-US" sz="1250" dirty="0"/>
          </a:p>
        </p:txBody>
      </p:sp>
      <p:sp>
        <p:nvSpPr>
          <p:cNvPr id="28" name="Shape 22"/>
          <p:cNvSpPr/>
          <p:nvPr/>
        </p:nvSpPr>
        <p:spPr>
          <a:xfrm>
            <a:off x="4425696" y="4105656"/>
            <a:ext cx="3502152" cy="2240280"/>
          </a:xfrm>
          <a:prstGeom prst="roundRect">
            <a:avLst>
              <a:gd name="adj" fmla="val 367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19050" dir="5400000">
              <a:srgbClr val="150E2E">
                <a:alpha val="10000"/>
              </a:srgbClr>
            </a:outerShdw>
          </a:effectLst>
        </p:spPr>
      </p:sp>
      <p:sp>
        <p:nvSpPr>
          <p:cNvPr id="29" name="Shape 23"/>
          <p:cNvSpPr/>
          <p:nvPr/>
        </p:nvSpPr>
        <p:spPr>
          <a:xfrm>
            <a:off x="4700016" y="4379976"/>
            <a:ext cx="640080" cy="640080"/>
          </a:xfrm>
          <a:prstGeom prst="ellipse">
            <a:avLst/>
          </a:prstGeom>
          <a:solidFill>
            <a:srgbClr val="1FB8A0"/>
          </a:solidFill>
          <a:ln/>
        </p:spPr>
      </p:sp>
      <p:pic>
        <p:nvPicPr>
          <p:cNvPr id="3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50892" y="4530852"/>
            <a:ext cx="338328" cy="338328"/>
          </a:xfrm>
          <a:prstGeom prst="rect">
            <a:avLst/>
          </a:prstGeom>
        </p:spPr>
      </p:pic>
      <p:sp>
        <p:nvSpPr>
          <p:cNvPr id="31" name="Text 24"/>
          <p:cNvSpPr/>
          <p:nvPr/>
        </p:nvSpPr>
        <p:spPr>
          <a:xfrm>
            <a:off x="5477256" y="4379976"/>
            <a:ext cx="21762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50E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Studio visits</a:t>
            </a:r>
            <a:endParaRPr lang="en-US" sz="1800" dirty="0"/>
          </a:p>
        </p:txBody>
      </p:sp>
      <p:sp>
        <p:nvSpPr>
          <p:cNvPr id="32" name="Text 25"/>
          <p:cNvSpPr/>
          <p:nvPr/>
        </p:nvSpPr>
        <p:spPr>
          <a:xfrm>
            <a:off x="5477256" y="4709160"/>
            <a:ext cx="21762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B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Wednesdays 9–12</a:t>
            </a:r>
            <a:endParaRPr lang="en-US" sz="1200" dirty="0"/>
          </a:p>
        </p:txBody>
      </p:sp>
      <p:sp>
        <p:nvSpPr>
          <p:cNvPr id="33" name="Text 26"/>
          <p:cNvSpPr/>
          <p:nvPr/>
        </p:nvSpPr>
        <p:spPr>
          <a:xfrm>
            <a:off x="4700016" y="5276088"/>
            <a:ext cx="295351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6C63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Incremental feedback from specialists across different areas of game design and art.</a:t>
            </a:r>
            <a:endParaRPr lang="en-US" sz="1250" dirty="0"/>
          </a:p>
        </p:txBody>
      </p:sp>
      <p:sp>
        <p:nvSpPr>
          <p:cNvPr id="34" name="Shape 27"/>
          <p:cNvSpPr/>
          <p:nvPr/>
        </p:nvSpPr>
        <p:spPr>
          <a:xfrm>
            <a:off x="8211312" y="4105656"/>
            <a:ext cx="3502152" cy="2240280"/>
          </a:xfrm>
          <a:prstGeom prst="roundRect">
            <a:avLst>
              <a:gd name="adj" fmla="val 367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19050" dir="5400000">
              <a:srgbClr val="150E2E">
                <a:alpha val="10000"/>
              </a:srgbClr>
            </a:outerShdw>
          </a:effectLst>
        </p:spPr>
      </p:sp>
      <p:sp>
        <p:nvSpPr>
          <p:cNvPr id="35" name="Shape 28"/>
          <p:cNvSpPr/>
          <p:nvPr/>
        </p:nvSpPr>
        <p:spPr>
          <a:xfrm>
            <a:off x="8485632" y="4379976"/>
            <a:ext cx="640080" cy="640080"/>
          </a:xfrm>
          <a:prstGeom prst="ellipse">
            <a:avLst/>
          </a:prstGeom>
          <a:solidFill>
            <a:srgbClr val="4B2E9E"/>
          </a:solidFill>
          <a:ln/>
        </p:spPr>
      </p:sp>
      <p:pic>
        <p:nvPicPr>
          <p:cNvPr id="36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636508" y="4530852"/>
            <a:ext cx="338328" cy="338328"/>
          </a:xfrm>
          <a:prstGeom prst="rect">
            <a:avLst/>
          </a:prstGeom>
        </p:spPr>
      </p:pic>
      <p:sp>
        <p:nvSpPr>
          <p:cNvPr id="37" name="Text 29"/>
          <p:cNvSpPr/>
          <p:nvPr/>
        </p:nvSpPr>
        <p:spPr>
          <a:xfrm>
            <a:off x="9262872" y="4379976"/>
            <a:ext cx="21762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50E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Samlinger</a:t>
            </a:r>
            <a:endParaRPr lang="en-US" sz="1800" dirty="0"/>
          </a:p>
        </p:txBody>
      </p:sp>
      <p:sp>
        <p:nvSpPr>
          <p:cNvPr id="38" name="Text 30"/>
          <p:cNvSpPr/>
          <p:nvPr/>
        </p:nvSpPr>
        <p:spPr>
          <a:xfrm>
            <a:off x="9262872" y="4709160"/>
            <a:ext cx="21762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B2E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Weeks 1, 6, 12 &amp; 15</a:t>
            </a:r>
            <a:endParaRPr lang="en-US" sz="1200" dirty="0"/>
          </a:p>
        </p:txBody>
      </p:sp>
      <p:sp>
        <p:nvSpPr>
          <p:cNvPr id="39" name="Text 31"/>
          <p:cNvSpPr/>
          <p:nvPr/>
        </p:nvSpPr>
        <p:spPr>
          <a:xfrm>
            <a:off x="8485632" y="5276088"/>
            <a:ext cx="295351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6C63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intensive gatherings that punctuate and re-frame the course.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50E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weekly rhythm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640080" y="987552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8CF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contact days a week: one for input, one for response.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5303520" cy="3429000"/>
          </a:xfrm>
          <a:prstGeom prst="roundRect">
            <a:avLst>
              <a:gd name="adj" fmla="val 2667"/>
            </a:avLst>
          </a:prstGeom>
          <a:solidFill>
            <a:srgbClr val="2A1A57"/>
          </a:solidFill>
          <a:ln/>
        </p:spPr>
      </p:sp>
      <p:sp>
        <p:nvSpPr>
          <p:cNvPr id="5" name="Shape 3"/>
          <p:cNvSpPr/>
          <p:nvPr/>
        </p:nvSpPr>
        <p:spPr>
          <a:xfrm>
            <a:off x="1005840" y="1920240"/>
            <a:ext cx="1965960" cy="457200"/>
          </a:xfrm>
          <a:prstGeom prst="roundRect">
            <a:avLst>
              <a:gd name="adj" fmla="val 12000"/>
            </a:avLst>
          </a:prstGeom>
          <a:solidFill>
            <a:srgbClr val="FFB020"/>
          </a:solidFill>
          <a:ln/>
        </p:spPr>
      </p:sp>
      <p:sp>
        <p:nvSpPr>
          <p:cNvPr id="6" name="Text 4"/>
          <p:cNvSpPr/>
          <p:nvPr/>
        </p:nvSpPr>
        <p:spPr>
          <a:xfrm>
            <a:off x="1005840" y="1920240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50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Tuesday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514600"/>
            <a:ext cx="4572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13:00 – 16:00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1207008" y="3246120"/>
            <a:ext cx="45720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D8CF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Lectures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D8CF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Workshops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005840" y="4315968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i="1" dirty="0">
                <a:solidFill>
                  <a:srgbClr val="BCB0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theoretical and methodological input for the whole cohort.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217920" y="1600200"/>
            <a:ext cx="5303520" cy="3429000"/>
          </a:xfrm>
          <a:prstGeom prst="roundRect">
            <a:avLst>
              <a:gd name="adj" fmla="val 2667"/>
            </a:avLst>
          </a:prstGeom>
          <a:solidFill>
            <a:srgbClr val="2A1A57"/>
          </a:solidFill>
          <a:ln/>
        </p:spPr>
      </p:sp>
      <p:sp>
        <p:nvSpPr>
          <p:cNvPr id="11" name="Shape 9"/>
          <p:cNvSpPr/>
          <p:nvPr/>
        </p:nvSpPr>
        <p:spPr>
          <a:xfrm>
            <a:off x="6583680" y="1920240"/>
            <a:ext cx="1965960" cy="457200"/>
          </a:xfrm>
          <a:prstGeom prst="roundRect">
            <a:avLst>
              <a:gd name="adj" fmla="val 12000"/>
            </a:avLst>
          </a:prstGeom>
          <a:solidFill>
            <a:srgbClr val="1FB8A0"/>
          </a:solidFill>
          <a:ln/>
        </p:spPr>
      </p:sp>
      <p:sp>
        <p:nvSpPr>
          <p:cNvPr id="12" name="Text 10"/>
          <p:cNvSpPr/>
          <p:nvPr/>
        </p:nvSpPr>
        <p:spPr>
          <a:xfrm>
            <a:off x="6583680" y="1920240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Wednesday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583680" y="2514600"/>
            <a:ext cx="4572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09:00 – 12:00</a:t>
            </a:r>
            <a:endParaRPr lang="en-US" sz="3400" dirty="0"/>
          </a:p>
        </p:txBody>
      </p:sp>
      <p:sp>
        <p:nvSpPr>
          <p:cNvPr id="14" name="Text 12"/>
          <p:cNvSpPr/>
          <p:nvPr/>
        </p:nvSpPr>
        <p:spPr>
          <a:xfrm>
            <a:off x="6784848" y="3246120"/>
            <a:ext cx="45720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D8CF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Consultations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D8CF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Supervisions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D8CF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Studio visits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6583680" y="4315968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i="1" dirty="0">
                <a:solidFill>
                  <a:srgbClr val="BCB0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Team-by-team response, specialist advice and incremental feedback.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40080" y="5349240"/>
            <a:ext cx="10881360" cy="868680"/>
          </a:xfrm>
          <a:prstGeom prst="roundRect">
            <a:avLst>
              <a:gd name="adj" fmla="val 9474"/>
            </a:avLst>
          </a:prstGeom>
          <a:solidFill>
            <a:srgbClr val="2A1A57"/>
          </a:solidFill>
          <a:ln/>
        </p:spPr>
      </p:sp>
      <p:pic>
        <p:nvPicPr>
          <p:cNvPr id="1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4128" y="5596128"/>
            <a:ext cx="384048" cy="384048"/>
          </a:xfrm>
          <a:prstGeom prst="rect">
            <a:avLst/>
          </a:prstGeom>
        </p:spPr>
      </p:pic>
      <p:sp>
        <p:nvSpPr>
          <p:cNvPr id="18" name="Text 15"/>
          <p:cNvSpPr/>
          <p:nvPr/>
        </p:nvSpPr>
        <p:spPr>
          <a:xfrm>
            <a:off x="1600200" y="5349240"/>
            <a:ext cx="9601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Between the contact days: team production work — research, world building, prototyping, play-testing.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6F4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50E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Two tracks, running in parallel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640080" y="960120"/>
            <a:ext cx="10881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6C63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week pairs a teaching component with a matching focus for the production teams. What is taught on Tuesday is put to work in the project.</a:t>
            </a:r>
            <a:endParaRPr lang="en-US" sz="145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9509760" cy="1143000"/>
          </a:xfrm>
          <a:prstGeom prst="roundRect">
            <a:avLst>
              <a:gd name="adj" fmla="val 496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19050" dir="5400000">
              <a:srgbClr val="150E2E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41248" y="1815084"/>
            <a:ext cx="713232" cy="713232"/>
          </a:xfrm>
          <a:prstGeom prst="ellipse">
            <a:avLst/>
          </a:prstGeom>
          <a:solidFill>
            <a:srgbClr val="FFB020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4984" y="1988820"/>
            <a:ext cx="365760" cy="3657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737360" y="1819656"/>
            <a:ext cx="6949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50E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Teaching component</a:t>
            </a:r>
            <a:endParaRPr lang="en-US" sz="1900" dirty="0"/>
          </a:p>
        </p:txBody>
      </p:sp>
      <p:sp>
        <p:nvSpPr>
          <p:cNvPr id="8" name="Text 5"/>
          <p:cNvSpPr/>
          <p:nvPr/>
        </p:nvSpPr>
        <p:spPr>
          <a:xfrm>
            <a:off x="1737360" y="2203704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C63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Concepts, theory and method — delivered to the whole cohort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10287000" y="1783080"/>
            <a:ext cx="1234440" cy="777240"/>
          </a:xfrm>
          <a:prstGeom prst="chevron">
            <a:avLst/>
          </a:prstGeom>
          <a:solidFill>
            <a:srgbClr val="FFB020"/>
          </a:solidFill>
          <a:ln/>
        </p:spPr>
      </p:sp>
      <p:sp>
        <p:nvSpPr>
          <p:cNvPr id="10" name="Text 7"/>
          <p:cNvSpPr/>
          <p:nvPr/>
        </p:nvSpPr>
        <p:spPr>
          <a:xfrm>
            <a:off x="10287000" y="1783080"/>
            <a:ext cx="1097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50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150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week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640080" y="3017520"/>
            <a:ext cx="9509760" cy="1143000"/>
          </a:xfrm>
          <a:prstGeom prst="roundRect">
            <a:avLst>
              <a:gd name="adj" fmla="val 496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19050" dir="5400000">
              <a:srgbClr val="150E2E">
                <a:alpha val="1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841248" y="3232404"/>
            <a:ext cx="713232" cy="713232"/>
          </a:xfrm>
          <a:prstGeom prst="ellipse">
            <a:avLst/>
          </a:prstGeom>
          <a:solidFill>
            <a:srgbClr val="1FB8A0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4984" y="3406140"/>
            <a:ext cx="365760" cy="36576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1737360" y="3236976"/>
            <a:ext cx="6949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50E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Student group-work focus</a:t>
            </a:r>
            <a:endParaRPr lang="en-US" sz="1900" dirty="0"/>
          </a:p>
        </p:txBody>
      </p:sp>
      <p:sp>
        <p:nvSpPr>
          <p:cNvPr id="15" name="Text 11"/>
          <p:cNvSpPr/>
          <p:nvPr/>
        </p:nvSpPr>
        <p:spPr>
          <a:xfrm>
            <a:off x="1737360" y="3621024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C63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material applied inside each team's own production</a:t>
            </a:r>
            <a:endParaRPr lang="en-US" sz="1300" dirty="0"/>
          </a:p>
        </p:txBody>
      </p:sp>
      <p:sp>
        <p:nvSpPr>
          <p:cNvPr id="16" name="Shape 12"/>
          <p:cNvSpPr/>
          <p:nvPr/>
        </p:nvSpPr>
        <p:spPr>
          <a:xfrm>
            <a:off x="10287000" y="3200400"/>
            <a:ext cx="1234440" cy="777240"/>
          </a:xfrm>
          <a:prstGeom prst="chevron">
            <a:avLst/>
          </a:prstGeom>
          <a:solidFill>
            <a:srgbClr val="1FB8A0"/>
          </a:solidFill>
          <a:ln/>
        </p:spPr>
      </p:sp>
      <p:sp>
        <p:nvSpPr>
          <p:cNvPr id="17" name="Text 13"/>
          <p:cNvSpPr/>
          <p:nvPr/>
        </p:nvSpPr>
        <p:spPr>
          <a:xfrm>
            <a:off x="10287000" y="3200400"/>
            <a:ext cx="1097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week</a:t>
            </a:r>
            <a:endParaRPr lang="en-US" sz="1000" dirty="0"/>
          </a:p>
        </p:txBody>
      </p:sp>
      <p:sp>
        <p:nvSpPr>
          <p:cNvPr id="18" name="Shape 14"/>
          <p:cNvSpPr/>
          <p:nvPr/>
        </p:nvSpPr>
        <p:spPr>
          <a:xfrm>
            <a:off x="2377440" y="2779776"/>
            <a:ext cx="0" cy="201168"/>
          </a:xfrm>
          <a:prstGeom prst="line">
            <a:avLst/>
          </a:prstGeom>
          <a:noFill/>
          <a:ln w="19050">
            <a:solidFill>
              <a:srgbClr val="4B2E9E"/>
            </a:solidFill>
            <a:prstDash val="dash"/>
            <a:headEnd type="triangle"/>
            <a:tailEnd type="triangle"/>
          </a:ln>
        </p:spPr>
      </p:sp>
      <p:sp>
        <p:nvSpPr>
          <p:cNvPr id="19" name="Shape 15"/>
          <p:cNvSpPr/>
          <p:nvPr/>
        </p:nvSpPr>
        <p:spPr>
          <a:xfrm>
            <a:off x="4937760" y="2779776"/>
            <a:ext cx="0" cy="201168"/>
          </a:xfrm>
          <a:prstGeom prst="line">
            <a:avLst/>
          </a:prstGeom>
          <a:noFill/>
          <a:ln w="19050">
            <a:solidFill>
              <a:srgbClr val="4B2E9E"/>
            </a:solidFill>
            <a:prstDash val="dash"/>
            <a:headEnd type="triangle"/>
            <a:tailEnd type="triangle"/>
          </a:ln>
        </p:spPr>
      </p:sp>
      <p:sp>
        <p:nvSpPr>
          <p:cNvPr id="20" name="Shape 16"/>
          <p:cNvSpPr/>
          <p:nvPr/>
        </p:nvSpPr>
        <p:spPr>
          <a:xfrm>
            <a:off x="7498080" y="2779776"/>
            <a:ext cx="0" cy="201168"/>
          </a:xfrm>
          <a:prstGeom prst="line">
            <a:avLst/>
          </a:prstGeom>
          <a:noFill/>
          <a:ln w="19050">
            <a:solidFill>
              <a:srgbClr val="4B2E9E"/>
            </a:solidFill>
            <a:prstDash val="dash"/>
            <a:headEnd type="triangle"/>
            <a:tailEnd type="triangle"/>
          </a:ln>
        </p:spPr>
      </p:sp>
      <p:sp>
        <p:nvSpPr>
          <p:cNvPr id="21" name="Shape 17"/>
          <p:cNvSpPr/>
          <p:nvPr/>
        </p:nvSpPr>
        <p:spPr>
          <a:xfrm>
            <a:off x="640080" y="4572000"/>
            <a:ext cx="3502152" cy="1691640"/>
          </a:xfrm>
          <a:prstGeom prst="roundRect">
            <a:avLst>
              <a:gd name="adj" fmla="val 486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19050" dir="5400000">
              <a:srgbClr val="150E2E">
                <a:alpha val="10000"/>
              </a:srgbClr>
            </a:outerShdw>
          </a:effectLst>
        </p:spPr>
      </p:sp>
      <p:pic>
        <p:nvPicPr>
          <p:cNvPr id="2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4846320"/>
            <a:ext cx="329184" cy="329184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1353312" y="4818888"/>
            <a:ext cx="25877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50E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Production teams</a:t>
            </a:r>
            <a:endParaRPr lang="en-US" sz="1600" dirty="0"/>
          </a:p>
        </p:txBody>
      </p:sp>
      <p:sp>
        <p:nvSpPr>
          <p:cNvPr id="24" name="Text 19"/>
          <p:cNvSpPr/>
          <p:nvPr/>
        </p:nvSpPr>
        <p:spPr>
          <a:xfrm>
            <a:off x="914400" y="5321808"/>
            <a:ext cx="295351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6C63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 work together in teams for the whole course — planning, building and presenting one production.</a:t>
            </a:r>
            <a:endParaRPr lang="en-US" sz="1200" dirty="0"/>
          </a:p>
        </p:txBody>
      </p:sp>
      <p:sp>
        <p:nvSpPr>
          <p:cNvPr id="25" name="Shape 20"/>
          <p:cNvSpPr/>
          <p:nvPr/>
        </p:nvSpPr>
        <p:spPr>
          <a:xfrm>
            <a:off x="4425696" y="4572000"/>
            <a:ext cx="3502152" cy="1691640"/>
          </a:xfrm>
          <a:prstGeom prst="roundRect">
            <a:avLst>
              <a:gd name="adj" fmla="val 486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19050" dir="5400000">
              <a:srgbClr val="150E2E">
                <a:alpha val="10000"/>
              </a:srgbClr>
            </a:outerShdw>
          </a:effectLst>
        </p:spPr>
      </p:sp>
      <p:pic>
        <p:nvPicPr>
          <p:cNvPr id="2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00016" y="4846320"/>
            <a:ext cx="329184" cy="329184"/>
          </a:xfrm>
          <a:prstGeom prst="rect">
            <a:avLst/>
          </a:prstGeom>
        </p:spPr>
      </p:pic>
      <p:sp>
        <p:nvSpPr>
          <p:cNvPr id="27" name="Text 21"/>
          <p:cNvSpPr/>
          <p:nvPr/>
        </p:nvSpPr>
        <p:spPr>
          <a:xfrm>
            <a:off x="5138928" y="4818888"/>
            <a:ext cx="25877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50E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Peer-to-peer review</a:t>
            </a:r>
            <a:endParaRPr lang="en-US" sz="1600" dirty="0"/>
          </a:p>
        </p:txBody>
      </p:sp>
      <p:sp>
        <p:nvSpPr>
          <p:cNvPr id="28" name="Text 22"/>
          <p:cNvSpPr/>
          <p:nvPr/>
        </p:nvSpPr>
        <p:spPr>
          <a:xfrm>
            <a:off x="4700016" y="5321808"/>
            <a:ext cx="295351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6C63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10: teams analyse and review each other's games, using shared analytical vocabulary.</a:t>
            </a:r>
            <a:endParaRPr lang="en-US" sz="1200" dirty="0"/>
          </a:p>
        </p:txBody>
      </p:sp>
      <p:sp>
        <p:nvSpPr>
          <p:cNvPr id="29" name="Shape 23"/>
          <p:cNvSpPr/>
          <p:nvPr/>
        </p:nvSpPr>
        <p:spPr>
          <a:xfrm>
            <a:off x="8211312" y="4572000"/>
            <a:ext cx="3502152" cy="1691640"/>
          </a:xfrm>
          <a:prstGeom prst="roundRect">
            <a:avLst>
              <a:gd name="adj" fmla="val 486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19050" dir="5400000">
              <a:srgbClr val="150E2E">
                <a:alpha val="10000"/>
              </a:srgbClr>
            </a:outerShdw>
          </a:effectLst>
        </p:spPr>
      </p:sp>
      <p:pic>
        <p:nvPicPr>
          <p:cNvPr id="3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85632" y="4846320"/>
            <a:ext cx="329184" cy="329184"/>
          </a:xfrm>
          <a:prstGeom prst="rect">
            <a:avLst/>
          </a:prstGeom>
        </p:spPr>
      </p:pic>
      <p:sp>
        <p:nvSpPr>
          <p:cNvPr id="31" name="Text 24"/>
          <p:cNvSpPr/>
          <p:nvPr/>
        </p:nvSpPr>
        <p:spPr>
          <a:xfrm>
            <a:off x="8924544" y="4818888"/>
            <a:ext cx="25877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50E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Play-testing</a:t>
            </a:r>
            <a:endParaRPr lang="en-US" sz="1600" dirty="0"/>
          </a:p>
        </p:txBody>
      </p:sp>
      <p:sp>
        <p:nvSpPr>
          <p:cNvPr id="32" name="Text 25"/>
          <p:cNvSpPr/>
          <p:nvPr/>
        </p:nvSpPr>
        <p:spPr>
          <a:xfrm>
            <a:off x="8485632" y="5321808"/>
            <a:ext cx="295351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6C63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Weeks 13–14: research methods, play-throughs and structured testing with participants.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50E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47472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course at a glance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640080" y="914400"/>
            <a:ext cx="10881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D8CF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 weeks 1–16 correspond to calendar weeks 36–51 of 2026; course week 17 is calendar week 01 of 2027.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698440" y="1417320"/>
            <a:ext cx="438912" cy="438912"/>
          </a:xfrm>
          <a:prstGeom prst="ellipse">
            <a:avLst/>
          </a:prstGeom>
          <a:solidFill>
            <a:srgbClr val="FFB020"/>
          </a:solidFill>
          <a:ln/>
        </p:spPr>
      </p:sp>
      <p:sp>
        <p:nvSpPr>
          <p:cNvPr id="5" name="Text 3"/>
          <p:cNvSpPr/>
          <p:nvPr/>
        </p:nvSpPr>
        <p:spPr>
          <a:xfrm>
            <a:off x="698440" y="141732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50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S1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917896" y="1856232"/>
            <a:ext cx="0" cy="182880"/>
          </a:xfrm>
          <a:prstGeom prst="line">
            <a:avLst/>
          </a:prstGeom>
          <a:noFill/>
          <a:ln w="15875">
            <a:solidFill>
              <a:srgbClr val="FFB02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933803" y="1417320"/>
            <a:ext cx="438912" cy="438912"/>
          </a:xfrm>
          <a:prstGeom prst="ellipse">
            <a:avLst/>
          </a:prstGeom>
          <a:solidFill>
            <a:srgbClr val="FFB020"/>
          </a:solidFill>
          <a:ln/>
        </p:spPr>
      </p:sp>
      <p:sp>
        <p:nvSpPr>
          <p:cNvPr id="8" name="Text 6"/>
          <p:cNvSpPr/>
          <p:nvPr/>
        </p:nvSpPr>
        <p:spPr>
          <a:xfrm>
            <a:off x="3933803" y="141732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50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S2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153259" y="1856232"/>
            <a:ext cx="0" cy="182880"/>
          </a:xfrm>
          <a:prstGeom prst="line">
            <a:avLst/>
          </a:prstGeom>
          <a:noFill/>
          <a:ln w="15875">
            <a:solidFill>
              <a:srgbClr val="FFB02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816237" y="1417320"/>
            <a:ext cx="438912" cy="438912"/>
          </a:xfrm>
          <a:prstGeom prst="ellipse">
            <a:avLst/>
          </a:prstGeom>
          <a:solidFill>
            <a:srgbClr val="FFB020"/>
          </a:solidFill>
          <a:ln/>
        </p:spPr>
      </p:sp>
      <p:sp>
        <p:nvSpPr>
          <p:cNvPr id="11" name="Text 9"/>
          <p:cNvSpPr/>
          <p:nvPr/>
        </p:nvSpPr>
        <p:spPr>
          <a:xfrm>
            <a:off x="7816237" y="141732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50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S3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035693" y="1856232"/>
            <a:ext cx="0" cy="182880"/>
          </a:xfrm>
          <a:prstGeom prst="line">
            <a:avLst/>
          </a:prstGeom>
          <a:noFill/>
          <a:ln w="15875">
            <a:solidFill>
              <a:srgbClr val="FFB02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9757455" y="1417320"/>
            <a:ext cx="438912" cy="438912"/>
          </a:xfrm>
          <a:prstGeom prst="ellipse">
            <a:avLst/>
          </a:prstGeom>
          <a:solidFill>
            <a:srgbClr val="FFB020"/>
          </a:solidFill>
          <a:ln/>
        </p:spPr>
      </p:sp>
      <p:sp>
        <p:nvSpPr>
          <p:cNvPr id="14" name="Text 12"/>
          <p:cNvSpPr/>
          <p:nvPr/>
        </p:nvSpPr>
        <p:spPr>
          <a:xfrm>
            <a:off x="9757455" y="141732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50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S4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9976911" y="1856232"/>
            <a:ext cx="0" cy="182880"/>
          </a:xfrm>
          <a:prstGeom prst="line">
            <a:avLst/>
          </a:prstGeom>
          <a:noFill/>
          <a:ln w="15875">
            <a:solidFill>
              <a:srgbClr val="FFB02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777702" y="1481328"/>
            <a:ext cx="11042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1FB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9329838" y="1783080"/>
            <a:ext cx="0" cy="256032"/>
          </a:xfrm>
          <a:prstGeom prst="line">
            <a:avLst/>
          </a:prstGeom>
          <a:noFill/>
          <a:ln w="15875">
            <a:solidFill>
              <a:srgbClr val="1FB8A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26364" y="2084832"/>
            <a:ext cx="583064" cy="420624"/>
          </a:xfrm>
          <a:prstGeom prst="roundRect">
            <a:avLst>
              <a:gd name="adj" fmla="val 10870"/>
            </a:avLst>
          </a:prstGeom>
          <a:solidFill>
            <a:srgbClr val="FFB020"/>
          </a:solidFill>
          <a:ln/>
        </p:spPr>
      </p:sp>
      <p:sp>
        <p:nvSpPr>
          <p:cNvPr id="19" name="Text 17"/>
          <p:cNvSpPr/>
          <p:nvPr/>
        </p:nvSpPr>
        <p:spPr>
          <a:xfrm>
            <a:off x="626364" y="2084832"/>
            <a:ext cx="58306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50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1273436" y="2084832"/>
            <a:ext cx="583064" cy="420624"/>
          </a:xfrm>
          <a:prstGeom prst="roundRect">
            <a:avLst>
              <a:gd name="adj" fmla="val 10870"/>
            </a:avLst>
          </a:prstGeom>
          <a:solidFill>
            <a:srgbClr val="2A1A57"/>
          </a:solidFill>
          <a:ln/>
        </p:spPr>
      </p:sp>
      <p:sp>
        <p:nvSpPr>
          <p:cNvPr id="21" name="Text 19"/>
          <p:cNvSpPr/>
          <p:nvPr/>
        </p:nvSpPr>
        <p:spPr>
          <a:xfrm>
            <a:off x="1273436" y="2084832"/>
            <a:ext cx="58306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D8CF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1920509" y="2084832"/>
            <a:ext cx="583064" cy="420624"/>
          </a:xfrm>
          <a:prstGeom prst="roundRect">
            <a:avLst>
              <a:gd name="adj" fmla="val 10870"/>
            </a:avLst>
          </a:prstGeom>
          <a:solidFill>
            <a:srgbClr val="2A1A57"/>
          </a:solidFill>
          <a:ln/>
        </p:spPr>
      </p:sp>
      <p:sp>
        <p:nvSpPr>
          <p:cNvPr id="23" name="Text 21"/>
          <p:cNvSpPr/>
          <p:nvPr/>
        </p:nvSpPr>
        <p:spPr>
          <a:xfrm>
            <a:off x="1920509" y="2084832"/>
            <a:ext cx="58306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D8CF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2567581" y="2084832"/>
            <a:ext cx="583064" cy="420624"/>
          </a:xfrm>
          <a:prstGeom prst="roundRect">
            <a:avLst>
              <a:gd name="adj" fmla="val 10870"/>
            </a:avLst>
          </a:prstGeom>
          <a:solidFill>
            <a:srgbClr val="2A1A57"/>
          </a:solidFill>
          <a:ln/>
        </p:spPr>
      </p:sp>
      <p:sp>
        <p:nvSpPr>
          <p:cNvPr id="25" name="Text 23"/>
          <p:cNvSpPr/>
          <p:nvPr/>
        </p:nvSpPr>
        <p:spPr>
          <a:xfrm>
            <a:off x="2567581" y="2084832"/>
            <a:ext cx="58306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D8CF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3214654" y="2084832"/>
            <a:ext cx="583064" cy="420624"/>
          </a:xfrm>
          <a:prstGeom prst="roundRect">
            <a:avLst>
              <a:gd name="adj" fmla="val 10870"/>
            </a:avLst>
          </a:prstGeom>
          <a:solidFill>
            <a:srgbClr val="2A1A57"/>
          </a:solidFill>
          <a:ln/>
        </p:spPr>
      </p:sp>
      <p:sp>
        <p:nvSpPr>
          <p:cNvPr id="27" name="Text 25"/>
          <p:cNvSpPr/>
          <p:nvPr/>
        </p:nvSpPr>
        <p:spPr>
          <a:xfrm>
            <a:off x="3214654" y="2084832"/>
            <a:ext cx="58306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D8CF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3861726" y="2084832"/>
            <a:ext cx="583064" cy="420624"/>
          </a:xfrm>
          <a:prstGeom prst="roundRect">
            <a:avLst>
              <a:gd name="adj" fmla="val 10870"/>
            </a:avLst>
          </a:prstGeom>
          <a:solidFill>
            <a:srgbClr val="FFB020"/>
          </a:solidFill>
          <a:ln/>
        </p:spPr>
      </p:sp>
      <p:sp>
        <p:nvSpPr>
          <p:cNvPr id="29" name="Text 27"/>
          <p:cNvSpPr/>
          <p:nvPr/>
        </p:nvSpPr>
        <p:spPr>
          <a:xfrm>
            <a:off x="3861726" y="2084832"/>
            <a:ext cx="58306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50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4508799" y="2084832"/>
            <a:ext cx="583064" cy="420624"/>
          </a:xfrm>
          <a:prstGeom prst="roundRect">
            <a:avLst>
              <a:gd name="adj" fmla="val 10870"/>
            </a:avLst>
          </a:prstGeom>
          <a:solidFill>
            <a:srgbClr val="2A1A57"/>
          </a:solidFill>
          <a:ln/>
        </p:spPr>
      </p:sp>
      <p:sp>
        <p:nvSpPr>
          <p:cNvPr id="31" name="Text 29"/>
          <p:cNvSpPr/>
          <p:nvPr/>
        </p:nvSpPr>
        <p:spPr>
          <a:xfrm>
            <a:off x="4508799" y="2084832"/>
            <a:ext cx="58306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D8CF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5155871" y="2084832"/>
            <a:ext cx="583064" cy="420624"/>
          </a:xfrm>
          <a:prstGeom prst="roundRect">
            <a:avLst>
              <a:gd name="adj" fmla="val 10870"/>
            </a:avLst>
          </a:prstGeom>
          <a:solidFill>
            <a:srgbClr val="2A1A57"/>
          </a:solidFill>
          <a:ln/>
        </p:spPr>
      </p:sp>
      <p:sp>
        <p:nvSpPr>
          <p:cNvPr id="33" name="Text 31"/>
          <p:cNvSpPr/>
          <p:nvPr/>
        </p:nvSpPr>
        <p:spPr>
          <a:xfrm>
            <a:off x="5155871" y="2084832"/>
            <a:ext cx="58306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D8CF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5802944" y="2084832"/>
            <a:ext cx="583064" cy="420624"/>
          </a:xfrm>
          <a:prstGeom prst="roundRect">
            <a:avLst>
              <a:gd name="adj" fmla="val 10870"/>
            </a:avLst>
          </a:prstGeom>
          <a:solidFill>
            <a:srgbClr val="2A1A57"/>
          </a:solidFill>
          <a:ln/>
        </p:spPr>
      </p:sp>
      <p:sp>
        <p:nvSpPr>
          <p:cNvPr id="35" name="Text 33"/>
          <p:cNvSpPr/>
          <p:nvPr/>
        </p:nvSpPr>
        <p:spPr>
          <a:xfrm>
            <a:off x="5802944" y="2084832"/>
            <a:ext cx="58306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D8CF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150" dirty="0"/>
          </a:p>
        </p:txBody>
      </p:sp>
      <p:sp>
        <p:nvSpPr>
          <p:cNvPr id="36" name="Shape 34"/>
          <p:cNvSpPr/>
          <p:nvPr/>
        </p:nvSpPr>
        <p:spPr>
          <a:xfrm>
            <a:off x="6450016" y="2084832"/>
            <a:ext cx="583064" cy="420624"/>
          </a:xfrm>
          <a:prstGeom prst="roundRect">
            <a:avLst>
              <a:gd name="adj" fmla="val 10870"/>
            </a:avLst>
          </a:prstGeom>
          <a:solidFill>
            <a:srgbClr val="2A1A57"/>
          </a:solidFill>
          <a:ln/>
        </p:spPr>
      </p:sp>
      <p:sp>
        <p:nvSpPr>
          <p:cNvPr id="37" name="Text 35"/>
          <p:cNvSpPr/>
          <p:nvPr/>
        </p:nvSpPr>
        <p:spPr>
          <a:xfrm>
            <a:off x="6450016" y="2084832"/>
            <a:ext cx="58306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D8CF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150" dirty="0"/>
          </a:p>
        </p:txBody>
      </p:sp>
      <p:sp>
        <p:nvSpPr>
          <p:cNvPr id="38" name="Shape 36"/>
          <p:cNvSpPr/>
          <p:nvPr/>
        </p:nvSpPr>
        <p:spPr>
          <a:xfrm>
            <a:off x="7097089" y="2084832"/>
            <a:ext cx="583064" cy="420624"/>
          </a:xfrm>
          <a:prstGeom prst="roundRect">
            <a:avLst>
              <a:gd name="adj" fmla="val 10870"/>
            </a:avLst>
          </a:prstGeom>
          <a:solidFill>
            <a:srgbClr val="2A1A57"/>
          </a:solidFill>
          <a:ln/>
        </p:spPr>
      </p:sp>
      <p:sp>
        <p:nvSpPr>
          <p:cNvPr id="39" name="Text 37"/>
          <p:cNvSpPr/>
          <p:nvPr/>
        </p:nvSpPr>
        <p:spPr>
          <a:xfrm>
            <a:off x="7097089" y="2084832"/>
            <a:ext cx="58306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D8CF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150" dirty="0"/>
          </a:p>
        </p:txBody>
      </p:sp>
      <p:sp>
        <p:nvSpPr>
          <p:cNvPr id="40" name="Shape 38"/>
          <p:cNvSpPr/>
          <p:nvPr/>
        </p:nvSpPr>
        <p:spPr>
          <a:xfrm>
            <a:off x="7744161" y="2084832"/>
            <a:ext cx="583064" cy="420624"/>
          </a:xfrm>
          <a:prstGeom prst="roundRect">
            <a:avLst>
              <a:gd name="adj" fmla="val 10870"/>
            </a:avLst>
          </a:prstGeom>
          <a:solidFill>
            <a:srgbClr val="FFB020"/>
          </a:solidFill>
          <a:ln/>
        </p:spPr>
      </p:sp>
      <p:sp>
        <p:nvSpPr>
          <p:cNvPr id="41" name="Text 39"/>
          <p:cNvSpPr/>
          <p:nvPr/>
        </p:nvSpPr>
        <p:spPr>
          <a:xfrm>
            <a:off x="7744161" y="2084832"/>
            <a:ext cx="58306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50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150" dirty="0"/>
          </a:p>
        </p:txBody>
      </p:sp>
      <p:sp>
        <p:nvSpPr>
          <p:cNvPr id="42" name="Shape 40"/>
          <p:cNvSpPr/>
          <p:nvPr/>
        </p:nvSpPr>
        <p:spPr>
          <a:xfrm>
            <a:off x="8391234" y="2084832"/>
            <a:ext cx="583064" cy="420624"/>
          </a:xfrm>
          <a:prstGeom prst="roundRect">
            <a:avLst>
              <a:gd name="adj" fmla="val 10870"/>
            </a:avLst>
          </a:prstGeom>
          <a:solidFill>
            <a:srgbClr val="2A1A57"/>
          </a:solidFill>
          <a:ln/>
        </p:spPr>
      </p:sp>
      <p:sp>
        <p:nvSpPr>
          <p:cNvPr id="43" name="Text 41"/>
          <p:cNvSpPr/>
          <p:nvPr/>
        </p:nvSpPr>
        <p:spPr>
          <a:xfrm>
            <a:off x="8391234" y="2084832"/>
            <a:ext cx="58306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D8CF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150" dirty="0"/>
          </a:p>
        </p:txBody>
      </p:sp>
      <p:sp>
        <p:nvSpPr>
          <p:cNvPr id="44" name="Shape 42"/>
          <p:cNvSpPr/>
          <p:nvPr/>
        </p:nvSpPr>
        <p:spPr>
          <a:xfrm>
            <a:off x="9038306" y="2084832"/>
            <a:ext cx="583064" cy="420624"/>
          </a:xfrm>
          <a:prstGeom prst="roundRect">
            <a:avLst>
              <a:gd name="adj" fmla="val 10870"/>
            </a:avLst>
          </a:prstGeom>
          <a:solidFill>
            <a:srgbClr val="1FB8A0"/>
          </a:solidFill>
          <a:ln/>
        </p:spPr>
      </p:sp>
      <p:sp>
        <p:nvSpPr>
          <p:cNvPr id="45" name="Text 43"/>
          <p:cNvSpPr/>
          <p:nvPr/>
        </p:nvSpPr>
        <p:spPr>
          <a:xfrm>
            <a:off x="9038306" y="2084832"/>
            <a:ext cx="58306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50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150" dirty="0"/>
          </a:p>
        </p:txBody>
      </p:sp>
      <p:sp>
        <p:nvSpPr>
          <p:cNvPr id="46" name="Shape 44"/>
          <p:cNvSpPr/>
          <p:nvPr/>
        </p:nvSpPr>
        <p:spPr>
          <a:xfrm>
            <a:off x="9685379" y="2084832"/>
            <a:ext cx="583064" cy="420624"/>
          </a:xfrm>
          <a:prstGeom prst="roundRect">
            <a:avLst>
              <a:gd name="adj" fmla="val 10870"/>
            </a:avLst>
          </a:prstGeom>
          <a:solidFill>
            <a:srgbClr val="FFB020"/>
          </a:solidFill>
          <a:ln/>
        </p:spPr>
      </p:sp>
      <p:sp>
        <p:nvSpPr>
          <p:cNvPr id="47" name="Text 45"/>
          <p:cNvSpPr/>
          <p:nvPr/>
        </p:nvSpPr>
        <p:spPr>
          <a:xfrm>
            <a:off x="9685379" y="2084832"/>
            <a:ext cx="58306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50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150" dirty="0"/>
          </a:p>
        </p:txBody>
      </p:sp>
      <p:sp>
        <p:nvSpPr>
          <p:cNvPr id="48" name="Shape 46"/>
          <p:cNvSpPr/>
          <p:nvPr/>
        </p:nvSpPr>
        <p:spPr>
          <a:xfrm>
            <a:off x="10332451" y="2084832"/>
            <a:ext cx="583064" cy="420624"/>
          </a:xfrm>
          <a:prstGeom prst="roundRect">
            <a:avLst>
              <a:gd name="adj" fmla="val 10870"/>
            </a:avLst>
          </a:prstGeom>
          <a:solidFill>
            <a:srgbClr val="2A1A57"/>
          </a:solidFill>
          <a:ln/>
        </p:spPr>
      </p:sp>
      <p:sp>
        <p:nvSpPr>
          <p:cNvPr id="49" name="Text 47"/>
          <p:cNvSpPr/>
          <p:nvPr/>
        </p:nvSpPr>
        <p:spPr>
          <a:xfrm>
            <a:off x="10332451" y="2084832"/>
            <a:ext cx="58306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D8CF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150" dirty="0"/>
          </a:p>
        </p:txBody>
      </p:sp>
      <p:sp>
        <p:nvSpPr>
          <p:cNvPr id="50" name="Shape 48"/>
          <p:cNvSpPr/>
          <p:nvPr/>
        </p:nvSpPr>
        <p:spPr>
          <a:xfrm>
            <a:off x="10979524" y="2084832"/>
            <a:ext cx="583064" cy="420624"/>
          </a:xfrm>
          <a:prstGeom prst="roundRect">
            <a:avLst>
              <a:gd name="adj" fmla="val 10870"/>
            </a:avLst>
          </a:prstGeom>
          <a:solidFill>
            <a:srgbClr val="2A1A57"/>
          </a:solidFill>
          <a:ln/>
        </p:spPr>
      </p:sp>
      <p:sp>
        <p:nvSpPr>
          <p:cNvPr id="51" name="Text 49"/>
          <p:cNvSpPr/>
          <p:nvPr/>
        </p:nvSpPr>
        <p:spPr>
          <a:xfrm>
            <a:off x="10979524" y="2084832"/>
            <a:ext cx="58306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D8CF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1150" dirty="0"/>
          </a:p>
        </p:txBody>
      </p:sp>
      <p:sp>
        <p:nvSpPr>
          <p:cNvPr id="52" name="Text 50"/>
          <p:cNvSpPr/>
          <p:nvPr/>
        </p:nvSpPr>
        <p:spPr>
          <a:xfrm>
            <a:off x="594360" y="2560320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20" kern="0" dirty="0">
                <a:solidFill>
                  <a:srgbClr val="6C63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 WEEK</a:t>
            </a:r>
            <a:endParaRPr lang="en-US" sz="900" dirty="0"/>
          </a:p>
        </p:txBody>
      </p:sp>
      <p:sp>
        <p:nvSpPr>
          <p:cNvPr id="53" name="Shape 51"/>
          <p:cNvSpPr/>
          <p:nvPr/>
        </p:nvSpPr>
        <p:spPr>
          <a:xfrm>
            <a:off x="640080" y="2926080"/>
            <a:ext cx="3143922" cy="658368"/>
          </a:xfrm>
          <a:prstGeom prst="roundRect">
            <a:avLst>
              <a:gd name="adj" fmla="val 9722"/>
            </a:avLst>
          </a:prstGeom>
          <a:solidFill>
            <a:srgbClr val="4B2E9E"/>
          </a:solidFill>
          <a:ln/>
        </p:spPr>
      </p:sp>
      <p:sp>
        <p:nvSpPr>
          <p:cNvPr id="54" name="Text 52"/>
          <p:cNvSpPr/>
          <p:nvPr/>
        </p:nvSpPr>
        <p:spPr>
          <a:xfrm>
            <a:off x="640080" y="2926080"/>
            <a:ext cx="314392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1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ENQUIRY</a:t>
            </a:r>
            <a:endParaRPr lang="en-US" sz="1400" dirty="0"/>
          </a:p>
        </p:txBody>
      </p:sp>
      <p:sp>
        <p:nvSpPr>
          <p:cNvPr id="55" name="Shape 53"/>
          <p:cNvSpPr/>
          <p:nvPr/>
        </p:nvSpPr>
        <p:spPr>
          <a:xfrm>
            <a:off x="640080" y="3767328"/>
            <a:ext cx="3143922" cy="2286000"/>
          </a:xfrm>
          <a:prstGeom prst="roundRect">
            <a:avLst>
              <a:gd name="adj" fmla="val 3200"/>
            </a:avLst>
          </a:prstGeom>
          <a:solidFill>
            <a:srgbClr val="2A1A57"/>
          </a:solidFill>
          <a:ln/>
        </p:spPr>
      </p:sp>
      <p:sp>
        <p:nvSpPr>
          <p:cNvPr id="56" name="Text 54"/>
          <p:cNvSpPr/>
          <p:nvPr/>
        </p:nvSpPr>
        <p:spPr>
          <a:xfrm>
            <a:off x="841248" y="3950208"/>
            <a:ext cx="274158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500" b="1" dirty="0">
                <a:solidFill>
                  <a:srgbClr val="A98EF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Games, systems and society</a:t>
            </a:r>
            <a:endParaRPr lang="en-US" sz="1500" dirty="0"/>
          </a:p>
        </p:txBody>
      </p:sp>
      <p:sp>
        <p:nvSpPr>
          <p:cNvPr id="57" name="Text 55"/>
          <p:cNvSpPr/>
          <p:nvPr/>
        </p:nvSpPr>
        <p:spPr>
          <a:xfrm>
            <a:off x="841248" y="4626864"/>
            <a:ext cx="2741586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50"/>
              </a:lnSpc>
              <a:buNone/>
            </a:pPr>
            <a:r>
              <a:rPr lang="en-US" sz="1150" dirty="0">
                <a:solidFill>
                  <a:srgbClr val="D8CF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Game design, game studies and system dynamics. Narrative structure, causal loop diagrams and the societal challenge each team will work with.</a:t>
            </a:r>
            <a:endParaRPr lang="en-US" sz="1150" dirty="0"/>
          </a:p>
        </p:txBody>
      </p:sp>
      <p:sp>
        <p:nvSpPr>
          <p:cNvPr id="58" name="Shape 56"/>
          <p:cNvSpPr/>
          <p:nvPr/>
        </p:nvSpPr>
        <p:spPr>
          <a:xfrm>
            <a:off x="3875442" y="2926080"/>
            <a:ext cx="2496850" cy="658368"/>
          </a:xfrm>
          <a:prstGeom prst="roundRect">
            <a:avLst>
              <a:gd name="adj" fmla="val 9722"/>
            </a:avLst>
          </a:prstGeom>
          <a:solidFill>
            <a:srgbClr val="3D6BE0"/>
          </a:solidFill>
          <a:ln/>
        </p:spPr>
      </p:sp>
      <p:sp>
        <p:nvSpPr>
          <p:cNvPr id="59" name="Text 57"/>
          <p:cNvSpPr/>
          <p:nvPr/>
        </p:nvSpPr>
        <p:spPr>
          <a:xfrm>
            <a:off x="3875442" y="2926080"/>
            <a:ext cx="249685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1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GREEN-LIGHT</a:t>
            </a:r>
            <a:endParaRPr lang="en-US" sz="1400" dirty="0"/>
          </a:p>
        </p:txBody>
      </p:sp>
      <p:sp>
        <p:nvSpPr>
          <p:cNvPr id="60" name="Shape 58"/>
          <p:cNvSpPr/>
          <p:nvPr/>
        </p:nvSpPr>
        <p:spPr>
          <a:xfrm>
            <a:off x="3875442" y="3767328"/>
            <a:ext cx="2496850" cy="2286000"/>
          </a:xfrm>
          <a:prstGeom prst="roundRect">
            <a:avLst>
              <a:gd name="adj" fmla="val 3200"/>
            </a:avLst>
          </a:prstGeom>
          <a:solidFill>
            <a:srgbClr val="2A1A57"/>
          </a:solidFill>
          <a:ln/>
        </p:spPr>
      </p:sp>
      <p:sp>
        <p:nvSpPr>
          <p:cNvPr id="61" name="Text 59"/>
          <p:cNvSpPr/>
          <p:nvPr/>
        </p:nvSpPr>
        <p:spPr>
          <a:xfrm>
            <a:off x="4076610" y="3950208"/>
            <a:ext cx="209451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500" b="1" dirty="0">
                <a:solidFill>
                  <a:srgbClr val="9DBA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Design and production start</a:t>
            </a:r>
            <a:endParaRPr lang="en-US" sz="1500" dirty="0"/>
          </a:p>
        </p:txBody>
      </p:sp>
      <p:sp>
        <p:nvSpPr>
          <p:cNvPr id="62" name="Text 60"/>
          <p:cNvSpPr/>
          <p:nvPr/>
        </p:nvSpPr>
        <p:spPr>
          <a:xfrm>
            <a:off x="4076610" y="4626864"/>
            <a:ext cx="2094514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50"/>
              </a:lnSpc>
              <a:buNone/>
            </a:pPr>
            <a:r>
              <a:rPr lang="en-US" sz="1150" dirty="0">
                <a:solidFill>
                  <a:srgbClr val="D8CF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pitch and green-lighting. World building, pipelines and tools. The “gears of the game”: rules, mechanics, affordances and artistic intentionality.</a:t>
            </a:r>
            <a:endParaRPr lang="en-US" sz="1150" dirty="0"/>
          </a:p>
        </p:txBody>
      </p:sp>
      <p:sp>
        <p:nvSpPr>
          <p:cNvPr id="63" name="Shape 61"/>
          <p:cNvSpPr/>
          <p:nvPr/>
        </p:nvSpPr>
        <p:spPr>
          <a:xfrm>
            <a:off x="6463732" y="2926080"/>
            <a:ext cx="3143922" cy="658368"/>
          </a:xfrm>
          <a:prstGeom prst="roundRect">
            <a:avLst>
              <a:gd name="adj" fmla="val 9722"/>
            </a:avLst>
          </a:prstGeom>
          <a:solidFill>
            <a:srgbClr val="1FB8A0"/>
          </a:solidFill>
          <a:ln/>
        </p:spPr>
      </p:sp>
      <p:sp>
        <p:nvSpPr>
          <p:cNvPr id="64" name="Text 62"/>
          <p:cNvSpPr/>
          <p:nvPr/>
        </p:nvSpPr>
        <p:spPr>
          <a:xfrm>
            <a:off x="6463732" y="2926080"/>
            <a:ext cx="314392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1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</a:t>
            </a:r>
            <a:endParaRPr lang="en-US" sz="1400" dirty="0"/>
          </a:p>
        </p:txBody>
      </p:sp>
      <p:sp>
        <p:nvSpPr>
          <p:cNvPr id="65" name="Shape 63"/>
          <p:cNvSpPr/>
          <p:nvPr/>
        </p:nvSpPr>
        <p:spPr>
          <a:xfrm>
            <a:off x="6463732" y="3767328"/>
            <a:ext cx="3143922" cy="2286000"/>
          </a:xfrm>
          <a:prstGeom prst="roundRect">
            <a:avLst>
              <a:gd name="adj" fmla="val 3200"/>
            </a:avLst>
          </a:prstGeom>
          <a:solidFill>
            <a:srgbClr val="2A1A57"/>
          </a:solidFill>
          <a:ln/>
        </p:spPr>
      </p:sp>
      <p:sp>
        <p:nvSpPr>
          <p:cNvPr id="66" name="Text 64"/>
          <p:cNvSpPr/>
          <p:nvPr/>
        </p:nvSpPr>
        <p:spPr>
          <a:xfrm>
            <a:off x="6664900" y="3950208"/>
            <a:ext cx="274158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500" b="1" dirty="0">
                <a:solidFill>
                  <a:srgbClr val="1FB8A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Analysis, prototypes, play-testing</a:t>
            </a:r>
            <a:endParaRPr lang="en-US" sz="1500" dirty="0"/>
          </a:p>
        </p:txBody>
      </p:sp>
      <p:sp>
        <p:nvSpPr>
          <p:cNvPr id="67" name="Text 65"/>
          <p:cNvSpPr/>
          <p:nvPr/>
        </p:nvSpPr>
        <p:spPr>
          <a:xfrm>
            <a:off x="6664900" y="4626864"/>
            <a:ext cx="2741586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50"/>
              </a:lnSpc>
              <a:buNone/>
            </a:pPr>
            <a:r>
              <a:rPr lang="en-US" sz="1150" dirty="0">
                <a:solidFill>
                  <a:srgbClr val="D8CF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Game analysis and peer-to-peer review. Prototypes and the communication of the gears. Research methods, play-throughs and testing. Exam in week 14.</a:t>
            </a:r>
            <a:endParaRPr lang="en-US" sz="1150" dirty="0"/>
          </a:p>
        </p:txBody>
      </p:sp>
      <p:sp>
        <p:nvSpPr>
          <p:cNvPr id="68" name="Shape 66"/>
          <p:cNvSpPr/>
          <p:nvPr/>
        </p:nvSpPr>
        <p:spPr>
          <a:xfrm>
            <a:off x="9699095" y="2926080"/>
            <a:ext cx="1849777" cy="658368"/>
          </a:xfrm>
          <a:prstGeom prst="roundRect">
            <a:avLst>
              <a:gd name="adj" fmla="val 9722"/>
            </a:avLst>
          </a:prstGeom>
          <a:solidFill>
            <a:srgbClr val="FFB020"/>
          </a:solidFill>
          <a:ln/>
        </p:spPr>
      </p:sp>
      <p:sp>
        <p:nvSpPr>
          <p:cNvPr id="69" name="Text 67"/>
          <p:cNvSpPr/>
          <p:nvPr/>
        </p:nvSpPr>
        <p:spPr>
          <a:xfrm>
            <a:off x="9699095" y="2926080"/>
            <a:ext cx="1849777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150" kern="0" dirty="0">
                <a:solidFill>
                  <a:srgbClr val="150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REFLECT</a:t>
            </a:r>
            <a:endParaRPr lang="en-US" sz="1400" dirty="0"/>
          </a:p>
        </p:txBody>
      </p:sp>
      <p:sp>
        <p:nvSpPr>
          <p:cNvPr id="70" name="Shape 68"/>
          <p:cNvSpPr/>
          <p:nvPr/>
        </p:nvSpPr>
        <p:spPr>
          <a:xfrm>
            <a:off x="9699095" y="3767328"/>
            <a:ext cx="1849777" cy="2286000"/>
          </a:xfrm>
          <a:prstGeom prst="roundRect">
            <a:avLst>
              <a:gd name="adj" fmla="val 3955"/>
            </a:avLst>
          </a:prstGeom>
          <a:solidFill>
            <a:srgbClr val="2A1A57"/>
          </a:solidFill>
          <a:ln/>
        </p:spPr>
      </p:sp>
      <p:sp>
        <p:nvSpPr>
          <p:cNvPr id="71" name="Text 69"/>
          <p:cNvSpPr/>
          <p:nvPr/>
        </p:nvSpPr>
        <p:spPr>
          <a:xfrm>
            <a:off x="9900263" y="3950208"/>
            <a:ext cx="1447441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500" b="1" dirty="0">
                <a:solidFill>
                  <a:srgbClr val="FFB0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Peeling the onion</a:t>
            </a:r>
            <a:endParaRPr lang="en-US" sz="1500" dirty="0"/>
          </a:p>
        </p:txBody>
      </p:sp>
      <p:sp>
        <p:nvSpPr>
          <p:cNvPr id="72" name="Text 70"/>
          <p:cNvSpPr/>
          <p:nvPr/>
        </p:nvSpPr>
        <p:spPr>
          <a:xfrm>
            <a:off x="9900263" y="4626864"/>
            <a:ext cx="1447441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50"/>
              </a:lnSpc>
              <a:buNone/>
            </a:pPr>
            <a:r>
              <a:rPr lang="en-US" sz="1150" dirty="0">
                <a:solidFill>
                  <a:srgbClr val="D8CF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Samling 4 on play and the structure of games, then reflection on the layers of production and the resulting experience.</a:t>
            </a:r>
            <a:endParaRPr lang="en-US" sz="1150" dirty="0"/>
          </a:p>
        </p:txBody>
      </p:sp>
      <p:sp>
        <p:nvSpPr>
          <p:cNvPr id="73" name="Shape 71"/>
          <p:cNvSpPr/>
          <p:nvPr/>
        </p:nvSpPr>
        <p:spPr>
          <a:xfrm>
            <a:off x="594360" y="6263640"/>
            <a:ext cx="182880" cy="182880"/>
          </a:xfrm>
          <a:prstGeom prst="ellipse">
            <a:avLst/>
          </a:prstGeom>
          <a:solidFill>
            <a:srgbClr val="FFB020"/>
          </a:solidFill>
          <a:ln/>
        </p:spPr>
      </p:sp>
      <p:sp>
        <p:nvSpPr>
          <p:cNvPr id="74" name="Text 72"/>
          <p:cNvSpPr/>
          <p:nvPr/>
        </p:nvSpPr>
        <p:spPr>
          <a:xfrm>
            <a:off x="868680" y="6199632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8CF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Samling (intensive gathering)</a:t>
            </a:r>
            <a:endParaRPr lang="en-US" sz="1100" dirty="0"/>
          </a:p>
        </p:txBody>
      </p:sp>
      <p:sp>
        <p:nvSpPr>
          <p:cNvPr id="75" name="Shape 73"/>
          <p:cNvSpPr/>
          <p:nvPr/>
        </p:nvSpPr>
        <p:spPr>
          <a:xfrm>
            <a:off x="3703320" y="6263640"/>
            <a:ext cx="182880" cy="182880"/>
          </a:xfrm>
          <a:prstGeom prst="ellipse">
            <a:avLst/>
          </a:prstGeom>
          <a:solidFill>
            <a:srgbClr val="1FB8A0"/>
          </a:solidFill>
          <a:ln/>
        </p:spPr>
      </p:sp>
      <p:sp>
        <p:nvSpPr>
          <p:cNvPr id="76" name="Text 74"/>
          <p:cNvSpPr/>
          <p:nvPr/>
        </p:nvSpPr>
        <p:spPr>
          <a:xfrm>
            <a:off x="3977640" y="6199632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8CF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 week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6F4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11480"/>
            <a:ext cx="868680" cy="868680"/>
          </a:xfrm>
          <a:prstGeom prst="roundRect">
            <a:avLst>
              <a:gd name="adj" fmla="val 9474"/>
            </a:avLst>
          </a:prstGeom>
          <a:solidFill>
            <a:srgbClr val="4B2E9E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411480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737360" y="457200"/>
            <a:ext cx="10058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50E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ENQUIRY · Games, systems and society</a:t>
            </a:r>
            <a:endParaRPr lang="en-US" sz="3100" dirty="0"/>
          </a:p>
        </p:txBody>
      </p:sp>
      <p:sp>
        <p:nvSpPr>
          <p:cNvPr id="5" name="Text 3"/>
          <p:cNvSpPr/>
          <p:nvPr/>
        </p:nvSpPr>
        <p:spPr>
          <a:xfrm>
            <a:off x="1737360" y="96012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C63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 weeks 1–5  ·  calendar weeks 36–40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40080" y="148132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20" kern="0" dirty="0">
                <a:solidFill>
                  <a:srgbClr val="6C63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2075688" y="1481328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20" kern="0" dirty="0">
                <a:solidFill>
                  <a:srgbClr val="9A6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TEACHING COMPONENT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6647688" y="1481328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20" kern="0" dirty="0">
                <a:solidFill>
                  <a:srgbClr val="0F7A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GROUP-WORK FOCUS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640080" y="1810512"/>
            <a:ext cx="1097280" cy="780898"/>
          </a:xfrm>
          <a:prstGeom prst="roundRect">
            <a:avLst>
              <a:gd name="adj" fmla="val 9368"/>
            </a:avLst>
          </a:prstGeom>
          <a:solidFill>
            <a:srgbClr val="FFB020"/>
          </a:solidFill>
          <a:ln/>
          <a:effectLst>
            <a:outerShdw sx="100000" sy="100000" kx="0" ky="0" algn="bl" rotWithShape="0" blurRad="127000" dist="19050" dir="5400000">
              <a:srgbClr val="150E2E">
                <a:alpha val="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40080" y="1810512"/>
            <a:ext cx="1097280" cy="7808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2000"/>
              </a:lnSpc>
              <a:buNone/>
            </a:pPr>
            <a:r>
              <a:rPr lang="en-US" sz="2000" b="1" dirty="0">
                <a:solidFill>
                  <a:srgbClr val="150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  <a:p>
            <a:pPr algn="ctr" indent="0" marL="0">
              <a:lnSpc>
                <a:spcPts val="2000"/>
              </a:lnSpc>
              <a:buNone/>
            </a:pPr>
            <a:r>
              <a:rPr lang="en-US" sz="950" dirty="0">
                <a:solidFill>
                  <a:srgbClr val="6A4C0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36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1874520" y="1810512"/>
            <a:ext cx="4434840" cy="780898"/>
          </a:xfrm>
          <a:prstGeom prst="roundRect">
            <a:avLst>
              <a:gd name="adj" fmla="val 936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19050" dir="5400000">
              <a:srgbClr val="150E2E">
                <a:alpha val="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075688" y="2132381"/>
            <a:ext cx="137160" cy="137160"/>
          </a:xfrm>
          <a:prstGeom prst="ellipse">
            <a:avLst/>
          </a:prstGeom>
          <a:solidFill>
            <a:srgbClr val="FFB020"/>
          </a:solidFill>
          <a:ln/>
        </p:spPr>
      </p:sp>
      <p:sp>
        <p:nvSpPr>
          <p:cNvPr id="13" name="Text 11"/>
          <p:cNvSpPr/>
          <p:nvPr/>
        </p:nvSpPr>
        <p:spPr>
          <a:xfrm>
            <a:off x="2331720" y="1883664"/>
            <a:ext cx="3840480" cy="6345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400" b="1" dirty="0">
                <a:solidFill>
                  <a:srgbClr val="150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SAMLING 1 — Introduction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6446520" y="1810512"/>
            <a:ext cx="4434840" cy="780898"/>
          </a:xfrm>
          <a:prstGeom prst="roundRect">
            <a:avLst>
              <a:gd name="adj" fmla="val 936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19050" dir="5400000">
              <a:srgbClr val="150E2E">
                <a:alpha val="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647688" y="2132381"/>
            <a:ext cx="137160" cy="137160"/>
          </a:xfrm>
          <a:prstGeom prst="ellipse">
            <a:avLst/>
          </a:prstGeom>
          <a:solidFill>
            <a:srgbClr val="1FB8A0"/>
          </a:solidFill>
          <a:ln/>
        </p:spPr>
      </p:sp>
      <p:sp>
        <p:nvSpPr>
          <p:cNvPr id="16" name="Text 14"/>
          <p:cNvSpPr/>
          <p:nvPr/>
        </p:nvSpPr>
        <p:spPr>
          <a:xfrm>
            <a:off x="6903720" y="1883664"/>
            <a:ext cx="3840480" cy="6345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400" b="1" dirty="0">
                <a:solidFill>
                  <a:srgbClr val="150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SAMLING 1 — Introduction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640080" y="2719426"/>
            <a:ext cx="1097280" cy="780898"/>
          </a:xfrm>
          <a:prstGeom prst="roundRect">
            <a:avLst>
              <a:gd name="adj" fmla="val 936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19050" dir="5400000">
              <a:srgbClr val="150E2E">
                <a:alpha val="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640080" y="2719426"/>
            <a:ext cx="1097280" cy="7808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2000"/>
              </a:lnSpc>
              <a:buNone/>
            </a:pPr>
            <a:r>
              <a:rPr lang="en-US" sz="2000" b="1" dirty="0">
                <a:solidFill>
                  <a:srgbClr val="4B2E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  <a:p>
            <a:pPr algn="ctr" indent="0" marL="0">
              <a:lnSpc>
                <a:spcPts val="2000"/>
              </a:lnSpc>
              <a:buNone/>
            </a:pPr>
            <a:r>
              <a:rPr lang="en-US" sz="950" dirty="0">
                <a:solidFill>
                  <a:srgbClr val="6C63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37</a:t>
            </a:r>
            <a:endParaRPr lang="en-US" sz="2000" dirty="0"/>
          </a:p>
        </p:txBody>
      </p:sp>
      <p:sp>
        <p:nvSpPr>
          <p:cNvPr id="19" name="Shape 17"/>
          <p:cNvSpPr/>
          <p:nvPr/>
        </p:nvSpPr>
        <p:spPr>
          <a:xfrm>
            <a:off x="1874520" y="2719426"/>
            <a:ext cx="4434840" cy="780898"/>
          </a:xfrm>
          <a:prstGeom prst="roundRect">
            <a:avLst>
              <a:gd name="adj" fmla="val 936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19050" dir="5400000">
              <a:srgbClr val="150E2E">
                <a:alpha val="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2075688" y="3041294"/>
            <a:ext cx="137160" cy="137160"/>
          </a:xfrm>
          <a:prstGeom prst="ellipse">
            <a:avLst/>
          </a:prstGeom>
          <a:solidFill>
            <a:srgbClr val="FFB020"/>
          </a:solidFill>
          <a:ln/>
        </p:spPr>
      </p:sp>
      <p:sp>
        <p:nvSpPr>
          <p:cNvPr id="21" name="Text 19"/>
          <p:cNvSpPr/>
          <p:nvPr/>
        </p:nvSpPr>
        <p:spPr>
          <a:xfrm>
            <a:off x="2331720" y="2792578"/>
            <a:ext cx="3840480" cy="6345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2E27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to game design, game studies, game theory and system dynamics.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6446520" y="2719426"/>
            <a:ext cx="4434840" cy="780898"/>
          </a:xfrm>
          <a:prstGeom prst="roundRect">
            <a:avLst>
              <a:gd name="adj" fmla="val 936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19050" dir="5400000">
              <a:srgbClr val="150E2E">
                <a:alpha val="8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6647688" y="3041294"/>
            <a:ext cx="137160" cy="137160"/>
          </a:xfrm>
          <a:prstGeom prst="ellipse">
            <a:avLst/>
          </a:prstGeom>
          <a:solidFill>
            <a:srgbClr val="1FB8A0"/>
          </a:solidFill>
          <a:ln/>
        </p:spPr>
      </p:sp>
      <p:sp>
        <p:nvSpPr>
          <p:cNvPr id="24" name="Text 22"/>
          <p:cNvSpPr/>
          <p:nvPr/>
        </p:nvSpPr>
        <p:spPr>
          <a:xfrm>
            <a:off x="6903720" y="2792578"/>
            <a:ext cx="3840480" cy="6345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2E27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Exploring themes and societal challenges that can be represented, examined or modelled with game design or other participatory media.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640080" y="3628339"/>
            <a:ext cx="1097280" cy="780898"/>
          </a:xfrm>
          <a:prstGeom prst="roundRect">
            <a:avLst>
              <a:gd name="adj" fmla="val 936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19050" dir="5400000">
              <a:srgbClr val="150E2E">
                <a:alpha val="8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640080" y="3628339"/>
            <a:ext cx="1097280" cy="7808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2000"/>
              </a:lnSpc>
              <a:buNone/>
            </a:pPr>
            <a:r>
              <a:rPr lang="en-US" sz="2000" b="1" dirty="0">
                <a:solidFill>
                  <a:srgbClr val="4B2E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  <a:p>
            <a:pPr algn="ctr" indent="0" marL="0">
              <a:lnSpc>
                <a:spcPts val="2000"/>
              </a:lnSpc>
              <a:buNone/>
            </a:pPr>
            <a:r>
              <a:rPr lang="en-US" sz="950" dirty="0">
                <a:solidFill>
                  <a:srgbClr val="6C63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38</a:t>
            </a:r>
            <a:endParaRPr lang="en-US" sz="2000" dirty="0"/>
          </a:p>
        </p:txBody>
      </p:sp>
      <p:sp>
        <p:nvSpPr>
          <p:cNvPr id="27" name="Shape 25"/>
          <p:cNvSpPr/>
          <p:nvPr/>
        </p:nvSpPr>
        <p:spPr>
          <a:xfrm>
            <a:off x="1874520" y="3628339"/>
            <a:ext cx="4434840" cy="780898"/>
          </a:xfrm>
          <a:prstGeom prst="roundRect">
            <a:avLst>
              <a:gd name="adj" fmla="val 936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19050" dir="5400000">
              <a:srgbClr val="150E2E">
                <a:alpha val="8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2075688" y="3950208"/>
            <a:ext cx="137160" cy="137160"/>
          </a:xfrm>
          <a:prstGeom prst="ellipse">
            <a:avLst/>
          </a:prstGeom>
          <a:solidFill>
            <a:srgbClr val="FFB020"/>
          </a:solidFill>
          <a:ln/>
        </p:spPr>
      </p:sp>
      <p:sp>
        <p:nvSpPr>
          <p:cNvPr id="29" name="Text 27"/>
          <p:cNvSpPr/>
          <p:nvPr/>
        </p:nvSpPr>
        <p:spPr>
          <a:xfrm>
            <a:off x="2331720" y="3701491"/>
            <a:ext cx="3840480" cy="6345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2E27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Experience through narrative structure. Narratology as experience design: multilayered, sequential and spatial arrangement. Myths, patterns and formats.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6446520" y="3628339"/>
            <a:ext cx="4434840" cy="780898"/>
          </a:xfrm>
          <a:prstGeom prst="roundRect">
            <a:avLst>
              <a:gd name="adj" fmla="val 936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19050" dir="5400000">
              <a:srgbClr val="150E2E">
                <a:alpha val="8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6647688" y="3950208"/>
            <a:ext cx="137160" cy="137160"/>
          </a:xfrm>
          <a:prstGeom prst="ellipse">
            <a:avLst/>
          </a:prstGeom>
          <a:solidFill>
            <a:srgbClr val="1FB8A0"/>
          </a:solidFill>
          <a:ln/>
        </p:spPr>
      </p:sp>
      <p:sp>
        <p:nvSpPr>
          <p:cNvPr id="32" name="Text 30"/>
          <p:cNvSpPr/>
          <p:nvPr/>
        </p:nvSpPr>
        <p:spPr>
          <a:xfrm>
            <a:off x="6903720" y="3701491"/>
            <a:ext cx="3840480" cy="6345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2E27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Societal challenge review, representation and enactment. Big stories across time and culture.</a:t>
            </a:r>
            <a:endParaRPr lang="en-US" sz="1150" dirty="0"/>
          </a:p>
        </p:txBody>
      </p:sp>
      <p:sp>
        <p:nvSpPr>
          <p:cNvPr id="33" name="Shape 31"/>
          <p:cNvSpPr/>
          <p:nvPr/>
        </p:nvSpPr>
        <p:spPr>
          <a:xfrm>
            <a:off x="640080" y="4537253"/>
            <a:ext cx="1097280" cy="780898"/>
          </a:xfrm>
          <a:prstGeom prst="roundRect">
            <a:avLst>
              <a:gd name="adj" fmla="val 936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19050" dir="5400000">
              <a:srgbClr val="150E2E">
                <a:alpha val="8000"/>
              </a:srgbClr>
            </a:outerShdw>
          </a:effectLst>
        </p:spPr>
      </p:sp>
      <p:sp>
        <p:nvSpPr>
          <p:cNvPr id="34" name="Text 32"/>
          <p:cNvSpPr/>
          <p:nvPr/>
        </p:nvSpPr>
        <p:spPr>
          <a:xfrm>
            <a:off x="640080" y="4537253"/>
            <a:ext cx="1097280" cy="7808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2000"/>
              </a:lnSpc>
              <a:buNone/>
            </a:pPr>
            <a:r>
              <a:rPr lang="en-US" sz="2000" b="1" dirty="0">
                <a:solidFill>
                  <a:srgbClr val="4B2E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000" dirty="0"/>
          </a:p>
          <a:p>
            <a:pPr algn="ctr" indent="0" marL="0">
              <a:lnSpc>
                <a:spcPts val="2000"/>
              </a:lnSpc>
              <a:buNone/>
            </a:pPr>
            <a:r>
              <a:rPr lang="en-US" sz="950" dirty="0">
                <a:solidFill>
                  <a:srgbClr val="6C63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39</a:t>
            </a:r>
            <a:endParaRPr lang="en-US" sz="2000" dirty="0"/>
          </a:p>
        </p:txBody>
      </p:sp>
      <p:sp>
        <p:nvSpPr>
          <p:cNvPr id="35" name="Shape 33"/>
          <p:cNvSpPr/>
          <p:nvPr/>
        </p:nvSpPr>
        <p:spPr>
          <a:xfrm>
            <a:off x="1874520" y="4537253"/>
            <a:ext cx="4434840" cy="780898"/>
          </a:xfrm>
          <a:prstGeom prst="roundRect">
            <a:avLst>
              <a:gd name="adj" fmla="val 936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19050" dir="5400000">
              <a:srgbClr val="150E2E">
                <a:alpha val="8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2075688" y="4859122"/>
            <a:ext cx="137160" cy="137160"/>
          </a:xfrm>
          <a:prstGeom prst="ellipse">
            <a:avLst/>
          </a:prstGeom>
          <a:solidFill>
            <a:srgbClr val="FFB020"/>
          </a:solidFill>
          <a:ln/>
        </p:spPr>
      </p:sp>
      <p:sp>
        <p:nvSpPr>
          <p:cNvPr id="37" name="Text 35"/>
          <p:cNvSpPr/>
          <p:nvPr/>
        </p:nvSpPr>
        <p:spPr>
          <a:xfrm>
            <a:off x="2331720" y="4610405"/>
            <a:ext cx="3840480" cy="6345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2E27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thinking and system design. Causality of action; systems as gestalts of underlying patterns with multiple agentic actors pursuing multiple “win states”.</a:t>
            </a:r>
            <a:endParaRPr lang="en-US" sz="1150" dirty="0"/>
          </a:p>
        </p:txBody>
      </p:sp>
      <p:sp>
        <p:nvSpPr>
          <p:cNvPr id="38" name="Shape 36"/>
          <p:cNvSpPr/>
          <p:nvPr/>
        </p:nvSpPr>
        <p:spPr>
          <a:xfrm>
            <a:off x="6446520" y="4537253"/>
            <a:ext cx="4434840" cy="780898"/>
          </a:xfrm>
          <a:prstGeom prst="roundRect">
            <a:avLst>
              <a:gd name="adj" fmla="val 936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19050" dir="5400000">
              <a:srgbClr val="150E2E">
                <a:alpha val="8000"/>
              </a:srgbClr>
            </a:outerShdw>
          </a:effectLst>
        </p:spPr>
      </p:sp>
      <p:sp>
        <p:nvSpPr>
          <p:cNvPr id="39" name="Shape 37"/>
          <p:cNvSpPr/>
          <p:nvPr/>
        </p:nvSpPr>
        <p:spPr>
          <a:xfrm>
            <a:off x="6647688" y="4859122"/>
            <a:ext cx="137160" cy="137160"/>
          </a:xfrm>
          <a:prstGeom prst="ellipse">
            <a:avLst/>
          </a:prstGeom>
          <a:solidFill>
            <a:srgbClr val="1FB8A0"/>
          </a:solidFill>
          <a:ln/>
        </p:spPr>
      </p:sp>
      <p:sp>
        <p:nvSpPr>
          <p:cNvPr id="40" name="Text 38"/>
          <p:cNvSpPr/>
          <p:nvPr/>
        </p:nvSpPr>
        <p:spPr>
          <a:xfrm>
            <a:off x="6903720" y="4610405"/>
            <a:ext cx="3840480" cy="6345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2E27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Causal loop diagrams (CLDs): restructuring simple game ideas into CLDs for review, de-construction and re-construction.</a:t>
            </a:r>
            <a:endParaRPr lang="en-US" sz="1150" dirty="0"/>
          </a:p>
        </p:txBody>
      </p:sp>
      <p:sp>
        <p:nvSpPr>
          <p:cNvPr id="41" name="Shape 39"/>
          <p:cNvSpPr/>
          <p:nvPr/>
        </p:nvSpPr>
        <p:spPr>
          <a:xfrm>
            <a:off x="640080" y="5446166"/>
            <a:ext cx="1097280" cy="780898"/>
          </a:xfrm>
          <a:prstGeom prst="roundRect">
            <a:avLst>
              <a:gd name="adj" fmla="val 936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19050" dir="5400000">
              <a:srgbClr val="150E2E">
                <a:alpha val="8000"/>
              </a:srgbClr>
            </a:outerShdw>
          </a:effectLst>
        </p:spPr>
      </p:sp>
      <p:sp>
        <p:nvSpPr>
          <p:cNvPr id="42" name="Text 40"/>
          <p:cNvSpPr/>
          <p:nvPr/>
        </p:nvSpPr>
        <p:spPr>
          <a:xfrm>
            <a:off x="640080" y="5446166"/>
            <a:ext cx="1097280" cy="7808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2000"/>
              </a:lnSpc>
              <a:buNone/>
            </a:pPr>
            <a:r>
              <a:rPr lang="en-US" sz="2000" b="1" dirty="0">
                <a:solidFill>
                  <a:srgbClr val="4B2E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000" dirty="0"/>
          </a:p>
          <a:p>
            <a:pPr algn="ctr" indent="0" marL="0">
              <a:lnSpc>
                <a:spcPts val="2000"/>
              </a:lnSpc>
              <a:buNone/>
            </a:pPr>
            <a:r>
              <a:rPr lang="en-US" sz="950" dirty="0">
                <a:solidFill>
                  <a:srgbClr val="6C63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40</a:t>
            </a:r>
            <a:endParaRPr lang="en-US" sz="2000" dirty="0"/>
          </a:p>
        </p:txBody>
      </p:sp>
      <p:sp>
        <p:nvSpPr>
          <p:cNvPr id="43" name="Shape 41"/>
          <p:cNvSpPr/>
          <p:nvPr/>
        </p:nvSpPr>
        <p:spPr>
          <a:xfrm>
            <a:off x="1874520" y="5446166"/>
            <a:ext cx="4434840" cy="780898"/>
          </a:xfrm>
          <a:prstGeom prst="roundRect">
            <a:avLst>
              <a:gd name="adj" fmla="val 936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19050" dir="5400000">
              <a:srgbClr val="150E2E">
                <a:alpha val="8000"/>
              </a:srgbClr>
            </a:outerShdw>
          </a:effectLst>
        </p:spPr>
      </p:sp>
      <p:sp>
        <p:nvSpPr>
          <p:cNvPr id="44" name="Shape 42"/>
          <p:cNvSpPr/>
          <p:nvPr/>
        </p:nvSpPr>
        <p:spPr>
          <a:xfrm>
            <a:off x="2075688" y="5768035"/>
            <a:ext cx="137160" cy="137160"/>
          </a:xfrm>
          <a:prstGeom prst="ellipse">
            <a:avLst/>
          </a:prstGeom>
          <a:solidFill>
            <a:srgbClr val="FFB020"/>
          </a:solidFill>
          <a:ln/>
        </p:spPr>
      </p:sp>
      <p:sp>
        <p:nvSpPr>
          <p:cNvPr id="45" name="Text 43"/>
          <p:cNvSpPr/>
          <p:nvPr/>
        </p:nvSpPr>
        <p:spPr>
          <a:xfrm>
            <a:off x="2331720" y="5519318"/>
            <a:ext cx="3840480" cy="6345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2E27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dynamics operating in society. “Tragedy of the commons”; systemic versus agentic win-states.</a:t>
            </a:r>
            <a:endParaRPr lang="en-US" sz="1150" dirty="0"/>
          </a:p>
        </p:txBody>
      </p:sp>
      <p:sp>
        <p:nvSpPr>
          <p:cNvPr id="46" name="Shape 44"/>
          <p:cNvSpPr/>
          <p:nvPr/>
        </p:nvSpPr>
        <p:spPr>
          <a:xfrm>
            <a:off x="6446520" y="5446166"/>
            <a:ext cx="4434840" cy="780898"/>
          </a:xfrm>
          <a:prstGeom prst="roundRect">
            <a:avLst>
              <a:gd name="adj" fmla="val 936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19050" dir="5400000">
              <a:srgbClr val="150E2E">
                <a:alpha val="8000"/>
              </a:srgbClr>
            </a:outerShdw>
          </a:effectLst>
        </p:spPr>
      </p:sp>
      <p:sp>
        <p:nvSpPr>
          <p:cNvPr id="47" name="Shape 45"/>
          <p:cNvSpPr/>
          <p:nvPr/>
        </p:nvSpPr>
        <p:spPr>
          <a:xfrm>
            <a:off x="6647688" y="5768035"/>
            <a:ext cx="137160" cy="137160"/>
          </a:xfrm>
          <a:prstGeom prst="ellipse">
            <a:avLst/>
          </a:prstGeom>
          <a:solidFill>
            <a:srgbClr val="1FB8A0"/>
          </a:solidFill>
          <a:ln/>
        </p:spPr>
      </p:sp>
      <p:sp>
        <p:nvSpPr>
          <p:cNvPr id="48" name="Text 46"/>
          <p:cNvSpPr/>
          <p:nvPr/>
        </p:nvSpPr>
        <p:spPr>
          <a:xfrm>
            <a:off x="6903720" y="5519318"/>
            <a:ext cx="3840480" cy="6345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2E27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Societal patterns and challenges combined with “big stories”. Re-examining win states over the short and long term, in and beyond the game. Story as mirroring structure.</a:t>
            </a:r>
            <a:endParaRPr lang="en-US" sz="11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6F4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11480"/>
            <a:ext cx="868680" cy="868680"/>
          </a:xfrm>
          <a:prstGeom prst="roundRect">
            <a:avLst>
              <a:gd name="adj" fmla="val 9474"/>
            </a:avLst>
          </a:prstGeom>
          <a:solidFill>
            <a:srgbClr val="3D6BE0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411480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737360" y="457200"/>
            <a:ext cx="10058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50E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GREEN-LIGHT · Design decisions and production start</a:t>
            </a:r>
            <a:endParaRPr lang="en-US" sz="3100" dirty="0"/>
          </a:p>
        </p:txBody>
      </p:sp>
      <p:sp>
        <p:nvSpPr>
          <p:cNvPr id="5" name="Text 3"/>
          <p:cNvSpPr/>
          <p:nvPr/>
        </p:nvSpPr>
        <p:spPr>
          <a:xfrm>
            <a:off x="1737360" y="96012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C63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 weeks 6–9  ·  calendar weeks 41–44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40080" y="148132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20" kern="0" dirty="0">
                <a:solidFill>
                  <a:srgbClr val="6C63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2075688" y="1481328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20" kern="0" dirty="0">
                <a:solidFill>
                  <a:srgbClr val="9A6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TEACHING COMPONENT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6647688" y="1481328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20" kern="0" dirty="0">
                <a:solidFill>
                  <a:srgbClr val="0F7A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GROUP-WORK FOCUS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640080" y="1810512"/>
            <a:ext cx="1097280" cy="1008126"/>
          </a:xfrm>
          <a:prstGeom prst="roundRect">
            <a:avLst>
              <a:gd name="adj" fmla="val 7256"/>
            </a:avLst>
          </a:prstGeom>
          <a:solidFill>
            <a:srgbClr val="FFB020"/>
          </a:solidFill>
          <a:ln/>
          <a:effectLst>
            <a:outerShdw sx="100000" sy="100000" kx="0" ky="0" algn="bl" rotWithShape="0" blurRad="127000" dist="19050" dir="5400000">
              <a:srgbClr val="150E2E">
                <a:alpha val="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40080" y="1810512"/>
            <a:ext cx="1097280" cy="10081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2000"/>
              </a:lnSpc>
              <a:buNone/>
            </a:pPr>
            <a:r>
              <a:rPr lang="en-US" sz="2000" b="1" dirty="0">
                <a:solidFill>
                  <a:srgbClr val="150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2000" dirty="0"/>
          </a:p>
          <a:p>
            <a:pPr algn="ctr" indent="0" marL="0">
              <a:lnSpc>
                <a:spcPts val="2000"/>
              </a:lnSpc>
              <a:buNone/>
            </a:pPr>
            <a:r>
              <a:rPr lang="en-US" sz="950" dirty="0">
                <a:solidFill>
                  <a:srgbClr val="6A4C0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41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1874520" y="1810512"/>
            <a:ext cx="4434840" cy="1008126"/>
          </a:xfrm>
          <a:prstGeom prst="roundRect">
            <a:avLst>
              <a:gd name="adj" fmla="val 725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19050" dir="5400000">
              <a:srgbClr val="150E2E">
                <a:alpha val="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075688" y="2245995"/>
            <a:ext cx="137160" cy="137160"/>
          </a:xfrm>
          <a:prstGeom prst="ellipse">
            <a:avLst/>
          </a:prstGeom>
          <a:solidFill>
            <a:srgbClr val="FFB020"/>
          </a:solidFill>
          <a:ln/>
        </p:spPr>
      </p:sp>
      <p:sp>
        <p:nvSpPr>
          <p:cNvPr id="13" name="Text 11"/>
          <p:cNvSpPr/>
          <p:nvPr/>
        </p:nvSpPr>
        <p:spPr>
          <a:xfrm>
            <a:off x="2331720" y="1883664"/>
            <a:ext cx="3840480" cy="8618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400" b="1" dirty="0">
                <a:solidFill>
                  <a:srgbClr val="150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SAMLING 2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6446520" y="1810512"/>
            <a:ext cx="4434840" cy="1008126"/>
          </a:xfrm>
          <a:prstGeom prst="roundRect">
            <a:avLst>
              <a:gd name="adj" fmla="val 725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19050" dir="5400000">
              <a:srgbClr val="150E2E">
                <a:alpha val="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647688" y="2245995"/>
            <a:ext cx="137160" cy="137160"/>
          </a:xfrm>
          <a:prstGeom prst="ellipse">
            <a:avLst/>
          </a:prstGeom>
          <a:solidFill>
            <a:srgbClr val="1FB8A0"/>
          </a:solidFill>
          <a:ln/>
        </p:spPr>
      </p:sp>
      <p:sp>
        <p:nvSpPr>
          <p:cNvPr id="16" name="Text 14"/>
          <p:cNvSpPr/>
          <p:nvPr/>
        </p:nvSpPr>
        <p:spPr>
          <a:xfrm>
            <a:off x="6903720" y="1883664"/>
            <a:ext cx="3840480" cy="8618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400" b="1" dirty="0">
                <a:solidFill>
                  <a:srgbClr val="150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SAMLING 2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640080" y="2946654"/>
            <a:ext cx="1097280" cy="1008126"/>
          </a:xfrm>
          <a:prstGeom prst="roundRect">
            <a:avLst>
              <a:gd name="adj" fmla="val 725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19050" dir="5400000">
              <a:srgbClr val="150E2E">
                <a:alpha val="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640080" y="2946654"/>
            <a:ext cx="1097280" cy="10081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2000"/>
              </a:lnSpc>
              <a:buNone/>
            </a:pPr>
            <a:r>
              <a:rPr lang="en-US" sz="2000" b="1" dirty="0">
                <a:solidFill>
                  <a:srgbClr val="3D6B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2000" dirty="0"/>
          </a:p>
          <a:p>
            <a:pPr algn="ctr" indent="0" marL="0">
              <a:lnSpc>
                <a:spcPts val="2000"/>
              </a:lnSpc>
              <a:buNone/>
            </a:pPr>
            <a:r>
              <a:rPr lang="en-US" sz="950" dirty="0">
                <a:solidFill>
                  <a:srgbClr val="6C63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42</a:t>
            </a:r>
            <a:endParaRPr lang="en-US" sz="2000" dirty="0"/>
          </a:p>
        </p:txBody>
      </p:sp>
      <p:sp>
        <p:nvSpPr>
          <p:cNvPr id="19" name="Shape 17"/>
          <p:cNvSpPr/>
          <p:nvPr/>
        </p:nvSpPr>
        <p:spPr>
          <a:xfrm>
            <a:off x="1874520" y="2946654"/>
            <a:ext cx="4434840" cy="1008126"/>
          </a:xfrm>
          <a:prstGeom prst="roundRect">
            <a:avLst>
              <a:gd name="adj" fmla="val 725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19050" dir="5400000">
              <a:srgbClr val="150E2E">
                <a:alpha val="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2075688" y="3382137"/>
            <a:ext cx="137160" cy="137160"/>
          </a:xfrm>
          <a:prstGeom prst="ellipse">
            <a:avLst/>
          </a:prstGeom>
          <a:solidFill>
            <a:srgbClr val="FFB020"/>
          </a:solidFill>
          <a:ln/>
        </p:spPr>
      </p:sp>
      <p:sp>
        <p:nvSpPr>
          <p:cNvPr id="21" name="Text 19"/>
          <p:cNvSpPr/>
          <p:nvPr/>
        </p:nvSpPr>
        <p:spPr>
          <a:xfrm>
            <a:off x="2331720" y="3019806"/>
            <a:ext cx="3840480" cy="8618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2E27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World building and game production. Methods and pipelines: GitHub, Unreal, Unity.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6446520" y="2946654"/>
            <a:ext cx="4434840" cy="1008126"/>
          </a:xfrm>
          <a:prstGeom prst="roundRect">
            <a:avLst>
              <a:gd name="adj" fmla="val 725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19050" dir="5400000">
              <a:srgbClr val="150E2E">
                <a:alpha val="8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6647688" y="3382137"/>
            <a:ext cx="137160" cy="137160"/>
          </a:xfrm>
          <a:prstGeom prst="ellipse">
            <a:avLst/>
          </a:prstGeom>
          <a:solidFill>
            <a:srgbClr val="1FB8A0"/>
          </a:solidFill>
          <a:ln/>
        </p:spPr>
      </p:sp>
      <p:sp>
        <p:nvSpPr>
          <p:cNvPr id="24" name="Text 22"/>
          <p:cNvSpPr/>
          <p:nvPr/>
        </p:nvSpPr>
        <p:spPr>
          <a:xfrm>
            <a:off x="6903720" y="3019806"/>
            <a:ext cx="3840480" cy="8618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2E27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planning and project pitch (green-lighting).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640080" y="4082796"/>
            <a:ext cx="1097280" cy="1008126"/>
          </a:xfrm>
          <a:prstGeom prst="roundRect">
            <a:avLst>
              <a:gd name="adj" fmla="val 725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19050" dir="5400000">
              <a:srgbClr val="150E2E">
                <a:alpha val="8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640080" y="4082796"/>
            <a:ext cx="1097280" cy="10081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2000"/>
              </a:lnSpc>
              <a:buNone/>
            </a:pPr>
            <a:r>
              <a:rPr lang="en-US" sz="2000" b="1" dirty="0">
                <a:solidFill>
                  <a:srgbClr val="3D6B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2000" dirty="0"/>
          </a:p>
          <a:p>
            <a:pPr algn="ctr" indent="0" marL="0">
              <a:lnSpc>
                <a:spcPts val="2000"/>
              </a:lnSpc>
              <a:buNone/>
            </a:pPr>
            <a:r>
              <a:rPr lang="en-US" sz="950" dirty="0">
                <a:solidFill>
                  <a:srgbClr val="6C63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43</a:t>
            </a:r>
            <a:endParaRPr lang="en-US" sz="2000" dirty="0"/>
          </a:p>
        </p:txBody>
      </p:sp>
      <p:sp>
        <p:nvSpPr>
          <p:cNvPr id="27" name="Shape 25"/>
          <p:cNvSpPr/>
          <p:nvPr/>
        </p:nvSpPr>
        <p:spPr>
          <a:xfrm>
            <a:off x="1874520" y="4082796"/>
            <a:ext cx="4434840" cy="1008126"/>
          </a:xfrm>
          <a:prstGeom prst="roundRect">
            <a:avLst>
              <a:gd name="adj" fmla="val 725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19050" dir="5400000">
              <a:srgbClr val="150E2E">
                <a:alpha val="8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2075688" y="4518279"/>
            <a:ext cx="137160" cy="137160"/>
          </a:xfrm>
          <a:prstGeom prst="ellipse">
            <a:avLst/>
          </a:prstGeom>
          <a:solidFill>
            <a:srgbClr val="FFB020"/>
          </a:solidFill>
          <a:ln/>
        </p:spPr>
      </p:sp>
      <p:sp>
        <p:nvSpPr>
          <p:cNvPr id="29" name="Text 27"/>
          <p:cNvSpPr/>
          <p:nvPr/>
        </p:nvSpPr>
        <p:spPr>
          <a:xfrm>
            <a:off x="2331720" y="4155948"/>
            <a:ext cx="3840480" cy="8618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2E27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Rules, mechanics and affordances — the gears of a game and the creation of an agentic experience. The working components of game play and of participatory art forms that structure the actions of others.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6446520" y="4082796"/>
            <a:ext cx="4434840" cy="1008126"/>
          </a:xfrm>
          <a:prstGeom prst="roundRect">
            <a:avLst>
              <a:gd name="adj" fmla="val 725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19050" dir="5400000">
              <a:srgbClr val="150E2E">
                <a:alpha val="8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6647688" y="4518279"/>
            <a:ext cx="137160" cy="137160"/>
          </a:xfrm>
          <a:prstGeom prst="ellipse">
            <a:avLst/>
          </a:prstGeom>
          <a:solidFill>
            <a:srgbClr val="1FB8A0"/>
          </a:solidFill>
          <a:ln/>
        </p:spPr>
      </p:sp>
      <p:sp>
        <p:nvSpPr>
          <p:cNvPr id="32" name="Text 30"/>
          <p:cNvSpPr/>
          <p:nvPr/>
        </p:nvSpPr>
        <p:spPr>
          <a:xfrm>
            <a:off x="6903720" y="4155948"/>
            <a:ext cx="3840480" cy="8618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2E27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Refining the “gears of the game”: rules, mechanics and affordances tuned to the desired experiential outcomes for their players and participants.</a:t>
            </a:r>
            <a:endParaRPr lang="en-US" sz="1150" dirty="0"/>
          </a:p>
        </p:txBody>
      </p:sp>
      <p:sp>
        <p:nvSpPr>
          <p:cNvPr id="33" name="Shape 31"/>
          <p:cNvSpPr/>
          <p:nvPr/>
        </p:nvSpPr>
        <p:spPr>
          <a:xfrm>
            <a:off x="640080" y="5218938"/>
            <a:ext cx="1097280" cy="1008126"/>
          </a:xfrm>
          <a:prstGeom prst="roundRect">
            <a:avLst>
              <a:gd name="adj" fmla="val 725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19050" dir="5400000">
              <a:srgbClr val="150E2E">
                <a:alpha val="8000"/>
              </a:srgbClr>
            </a:outerShdw>
          </a:effectLst>
        </p:spPr>
      </p:sp>
      <p:sp>
        <p:nvSpPr>
          <p:cNvPr id="34" name="Text 32"/>
          <p:cNvSpPr/>
          <p:nvPr/>
        </p:nvSpPr>
        <p:spPr>
          <a:xfrm>
            <a:off x="640080" y="5218938"/>
            <a:ext cx="1097280" cy="10081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2000"/>
              </a:lnSpc>
              <a:buNone/>
            </a:pPr>
            <a:r>
              <a:rPr lang="en-US" sz="2000" b="1" dirty="0">
                <a:solidFill>
                  <a:srgbClr val="3D6B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2000" dirty="0"/>
          </a:p>
          <a:p>
            <a:pPr algn="ctr" indent="0" marL="0">
              <a:lnSpc>
                <a:spcPts val="2000"/>
              </a:lnSpc>
              <a:buNone/>
            </a:pPr>
            <a:r>
              <a:rPr lang="en-US" sz="950" dirty="0">
                <a:solidFill>
                  <a:srgbClr val="6C63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44</a:t>
            </a:r>
            <a:endParaRPr lang="en-US" sz="2000" dirty="0"/>
          </a:p>
        </p:txBody>
      </p:sp>
      <p:sp>
        <p:nvSpPr>
          <p:cNvPr id="35" name="Shape 33"/>
          <p:cNvSpPr/>
          <p:nvPr/>
        </p:nvSpPr>
        <p:spPr>
          <a:xfrm>
            <a:off x="1874520" y="5218938"/>
            <a:ext cx="4434840" cy="1008126"/>
          </a:xfrm>
          <a:prstGeom prst="roundRect">
            <a:avLst>
              <a:gd name="adj" fmla="val 725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19050" dir="5400000">
              <a:srgbClr val="150E2E">
                <a:alpha val="8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2075688" y="5654421"/>
            <a:ext cx="137160" cy="137160"/>
          </a:xfrm>
          <a:prstGeom prst="ellipse">
            <a:avLst/>
          </a:prstGeom>
          <a:solidFill>
            <a:srgbClr val="FFB020"/>
          </a:solidFill>
          <a:ln/>
        </p:spPr>
      </p:sp>
      <p:sp>
        <p:nvSpPr>
          <p:cNvPr id="37" name="Text 35"/>
          <p:cNvSpPr/>
          <p:nvPr/>
        </p:nvSpPr>
        <p:spPr>
          <a:xfrm>
            <a:off x="2331720" y="5292090"/>
            <a:ext cx="3840480" cy="8618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2E27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Artistic intentionality. Managing hierarchies of importance in relation to artistic goals, visions and intentions; defining the desired experience for the player.</a:t>
            </a:r>
            <a:endParaRPr lang="en-US" sz="1150" dirty="0"/>
          </a:p>
        </p:txBody>
      </p:sp>
      <p:sp>
        <p:nvSpPr>
          <p:cNvPr id="38" name="Shape 36"/>
          <p:cNvSpPr/>
          <p:nvPr/>
        </p:nvSpPr>
        <p:spPr>
          <a:xfrm>
            <a:off x="6446520" y="5218938"/>
            <a:ext cx="4434840" cy="1008126"/>
          </a:xfrm>
          <a:prstGeom prst="roundRect">
            <a:avLst>
              <a:gd name="adj" fmla="val 725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19050" dir="5400000">
              <a:srgbClr val="150E2E">
                <a:alpha val="8000"/>
              </a:srgbClr>
            </a:outerShdw>
          </a:effectLst>
        </p:spPr>
      </p:sp>
      <p:sp>
        <p:nvSpPr>
          <p:cNvPr id="39" name="Shape 37"/>
          <p:cNvSpPr/>
          <p:nvPr/>
        </p:nvSpPr>
        <p:spPr>
          <a:xfrm>
            <a:off x="6647688" y="5654421"/>
            <a:ext cx="137160" cy="137160"/>
          </a:xfrm>
          <a:prstGeom prst="ellipse">
            <a:avLst/>
          </a:prstGeom>
          <a:solidFill>
            <a:srgbClr val="1FB8A0"/>
          </a:solidFill>
          <a:ln/>
        </p:spPr>
      </p:sp>
      <p:sp>
        <p:nvSpPr>
          <p:cNvPr id="40" name="Text 38"/>
          <p:cNvSpPr/>
          <p:nvPr/>
        </p:nvSpPr>
        <p:spPr>
          <a:xfrm>
            <a:off x="6903720" y="5292090"/>
            <a:ext cx="3840480" cy="8618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2E27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Game play, rules, mechanics and affordances as experiential structures. Artistic intention in relation to context and participant experience.</a:t>
            </a:r>
            <a:endParaRPr lang="en-US" sz="11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6F4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11480"/>
            <a:ext cx="868680" cy="868680"/>
          </a:xfrm>
          <a:prstGeom prst="roundRect">
            <a:avLst>
              <a:gd name="adj" fmla="val 9474"/>
            </a:avLst>
          </a:prstGeom>
          <a:solidFill>
            <a:srgbClr val="1FB8A0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411480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737360" y="457200"/>
            <a:ext cx="10058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50E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TEST · Analysis, prototypes and play-testing</a:t>
            </a:r>
            <a:endParaRPr lang="en-US" sz="3100" dirty="0"/>
          </a:p>
        </p:txBody>
      </p:sp>
      <p:sp>
        <p:nvSpPr>
          <p:cNvPr id="5" name="Text 3"/>
          <p:cNvSpPr/>
          <p:nvPr/>
        </p:nvSpPr>
        <p:spPr>
          <a:xfrm>
            <a:off x="1737360" y="96012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C63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 weeks 10–14  ·  calendar weeks 45–49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40080" y="148132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20" kern="0" dirty="0">
                <a:solidFill>
                  <a:srgbClr val="6C63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2075688" y="1481328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20" kern="0" dirty="0">
                <a:solidFill>
                  <a:srgbClr val="9A6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TEACHING COMPONENT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6647688" y="1481328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20" kern="0" dirty="0">
                <a:solidFill>
                  <a:srgbClr val="0F7A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GROUP-WORK FOCUS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640080" y="1810512"/>
            <a:ext cx="1097280" cy="780898"/>
          </a:xfrm>
          <a:prstGeom prst="roundRect">
            <a:avLst>
              <a:gd name="adj" fmla="val 936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19050" dir="5400000">
              <a:srgbClr val="150E2E">
                <a:alpha val="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40080" y="1810512"/>
            <a:ext cx="1097280" cy="7808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2000"/>
              </a:lnSpc>
              <a:buNone/>
            </a:pPr>
            <a:r>
              <a:rPr lang="en-US" sz="2000" b="1" dirty="0">
                <a:solidFill>
                  <a:srgbClr val="1FB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2000" dirty="0"/>
          </a:p>
          <a:p>
            <a:pPr algn="ctr" indent="0" marL="0">
              <a:lnSpc>
                <a:spcPts val="2000"/>
              </a:lnSpc>
              <a:buNone/>
            </a:pPr>
            <a:r>
              <a:rPr lang="en-US" sz="950" dirty="0">
                <a:solidFill>
                  <a:srgbClr val="6C63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45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1874520" y="1810512"/>
            <a:ext cx="4434840" cy="780898"/>
          </a:xfrm>
          <a:prstGeom prst="roundRect">
            <a:avLst>
              <a:gd name="adj" fmla="val 936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19050" dir="5400000">
              <a:srgbClr val="150E2E">
                <a:alpha val="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075688" y="2132381"/>
            <a:ext cx="137160" cy="137160"/>
          </a:xfrm>
          <a:prstGeom prst="ellipse">
            <a:avLst/>
          </a:prstGeom>
          <a:solidFill>
            <a:srgbClr val="FFB020"/>
          </a:solidFill>
          <a:ln/>
        </p:spPr>
      </p:sp>
      <p:sp>
        <p:nvSpPr>
          <p:cNvPr id="13" name="Text 11"/>
          <p:cNvSpPr/>
          <p:nvPr/>
        </p:nvSpPr>
        <p:spPr>
          <a:xfrm>
            <a:off x="2331720" y="1883664"/>
            <a:ext cx="3840480" cy="6345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2E27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Game analysis.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6446520" y="1810512"/>
            <a:ext cx="4434840" cy="780898"/>
          </a:xfrm>
          <a:prstGeom prst="roundRect">
            <a:avLst>
              <a:gd name="adj" fmla="val 936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19050" dir="5400000">
              <a:srgbClr val="150E2E">
                <a:alpha val="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647688" y="2132381"/>
            <a:ext cx="137160" cy="137160"/>
          </a:xfrm>
          <a:prstGeom prst="ellipse">
            <a:avLst/>
          </a:prstGeom>
          <a:solidFill>
            <a:srgbClr val="1FB8A0"/>
          </a:solidFill>
          <a:ln/>
        </p:spPr>
      </p:sp>
      <p:sp>
        <p:nvSpPr>
          <p:cNvPr id="16" name="Text 14"/>
          <p:cNvSpPr/>
          <p:nvPr/>
        </p:nvSpPr>
        <p:spPr>
          <a:xfrm>
            <a:off x="6903720" y="1883664"/>
            <a:ext cx="3840480" cy="6345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2E27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Game reviews: game analysis, peer to peer.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640080" y="2719426"/>
            <a:ext cx="1097280" cy="780898"/>
          </a:xfrm>
          <a:prstGeom prst="roundRect">
            <a:avLst>
              <a:gd name="adj" fmla="val 936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19050" dir="5400000">
              <a:srgbClr val="150E2E">
                <a:alpha val="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640080" y="2719426"/>
            <a:ext cx="1097280" cy="7808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2000"/>
              </a:lnSpc>
              <a:buNone/>
            </a:pPr>
            <a:r>
              <a:rPr lang="en-US" sz="2000" b="1" dirty="0">
                <a:solidFill>
                  <a:srgbClr val="1FB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2000" dirty="0"/>
          </a:p>
          <a:p>
            <a:pPr algn="ctr" indent="0" marL="0">
              <a:lnSpc>
                <a:spcPts val="2000"/>
              </a:lnSpc>
              <a:buNone/>
            </a:pPr>
            <a:r>
              <a:rPr lang="en-US" sz="950" dirty="0">
                <a:solidFill>
                  <a:srgbClr val="6C63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46</a:t>
            </a:r>
            <a:endParaRPr lang="en-US" sz="2000" dirty="0"/>
          </a:p>
        </p:txBody>
      </p:sp>
      <p:sp>
        <p:nvSpPr>
          <p:cNvPr id="19" name="Shape 17"/>
          <p:cNvSpPr/>
          <p:nvPr/>
        </p:nvSpPr>
        <p:spPr>
          <a:xfrm>
            <a:off x="1874520" y="2719426"/>
            <a:ext cx="4434840" cy="780898"/>
          </a:xfrm>
          <a:prstGeom prst="roundRect">
            <a:avLst>
              <a:gd name="adj" fmla="val 936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19050" dir="5400000">
              <a:srgbClr val="150E2E">
                <a:alpha val="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2075688" y="3041294"/>
            <a:ext cx="137160" cy="137160"/>
          </a:xfrm>
          <a:prstGeom prst="ellipse">
            <a:avLst/>
          </a:prstGeom>
          <a:solidFill>
            <a:srgbClr val="FFB020"/>
          </a:solidFill>
          <a:ln/>
        </p:spPr>
      </p:sp>
      <p:sp>
        <p:nvSpPr>
          <p:cNvPr id="21" name="Text 19"/>
          <p:cNvSpPr/>
          <p:nvPr/>
        </p:nvSpPr>
        <p:spPr>
          <a:xfrm>
            <a:off x="2331720" y="2792578"/>
            <a:ext cx="3840480" cy="6345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2E27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of student works; continuation of weeks 4, 8 and 9.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6446520" y="2719426"/>
            <a:ext cx="4434840" cy="780898"/>
          </a:xfrm>
          <a:prstGeom prst="roundRect">
            <a:avLst>
              <a:gd name="adj" fmla="val 936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19050" dir="5400000">
              <a:srgbClr val="150E2E">
                <a:alpha val="8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6647688" y="3041294"/>
            <a:ext cx="137160" cy="137160"/>
          </a:xfrm>
          <a:prstGeom prst="ellipse">
            <a:avLst/>
          </a:prstGeom>
          <a:solidFill>
            <a:srgbClr val="1FB8A0"/>
          </a:solidFill>
          <a:ln/>
        </p:spPr>
      </p:sp>
      <p:sp>
        <p:nvSpPr>
          <p:cNvPr id="24" name="Text 22"/>
          <p:cNvSpPr/>
          <p:nvPr/>
        </p:nvSpPr>
        <p:spPr>
          <a:xfrm>
            <a:off x="6903720" y="2792578"/>
            <a:ext cx="3840480" cy="6345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2E27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Prototypes and the communication of the “gears of the game”.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640080" y="3628339"/>
            <a:ext cx="1097280" cy="780898"/>
          </a:xfrm>
          <a:prstGeom prst="roundRect">
            <a:avLst>
              <a:gd name="adj" fmla="val 9368"/>
            </a:avLst>
          </a:prstGeom>
          <a:solidFill>
            <a:srgbClr val="FFB020"/>
          </a:solidFill>
          <a:ln/>
          <a:effectLst>
            <a:outerShdw sx="100000" sy="100000" kx="0" ky="0" algn="bl" rotWithShape="0" blurRad="127000" dist="19050" dir="5400000">
              <a:srgbClr val="150E2E">
                <a:alpha val="8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640080" y="3628339"/>
            <a:ext cx="1097280" cy="7808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2000"/>
              </a:lnSpc>
              <a:buNone/>
            </a:pPr>
            <a:r>
              <a:rPr lang="en-US" sz="2000" b="1" dirty="0">
                <a:solidFill>
                  <a:srgbClr val="150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2000" dirty="0"/>
          </a:p>
          <a:p>
            <a:pPr algn="ctr" indent="0" marL="0">
              <a:lnSpc>
                <a:spcPts val="2000"/>
              </a:lnSpc>
              <a:buNone/>
            </a:pPr>
            <a:r>
              <a:rPr lang="en-US" sz="950" dirty="0">
                <a:solidFill>
                  <a:srgbClr val="6A4C0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47</a:t>
            </a:r>
            <a:endParaRPr lang="en-US" sz="2000" dirty="0"/>
          </a:p>
        </p:txBody>
      </p:sp>
      <p:sp>
        <p:nvSpPr>
          <p:cNvPr id="27" name="Shape 25"/>
          <p:cNvSpPr/>
          <p:nvPr/>
        </p:nvSpPr>
        <p:spPr>
          <a:xfrm>
            <a:off x="1874520" y="3628339"/>
            <a:ext cx="4434840" cy="780898"/>
          </a:xfrm>
          <a:prstGeom prst="roundRect">
            <a:avLst>
              <a:gd name="adj" fmla="val 936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19050" dir="5400000">
              <a:srgbClr val="150E2E">
                <a:alpha val="8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2075688" y="3950208"/>
            <a:ext cx="137160" cy="137160"/>
          </a:xfrm>
          <a:prstGeom prst="ellipse">
            <a:avLst/>
          </a:prstGeom>
          <a:solidFill>
            <a:srgbClr val="FFB020"/>
          </a:solidFill>
          <a:ln/>
        </p:spPr>
      </p:sp>
      <p:sp>
        <p:nvSpPr>
          <p:cNvPr id="29" name="Text 27"/>
          <p:cNvSpPr/>
          <p:nvPr/>
        </p:nvSpPr>
        <p:spPr>
          <a:xfrm>
            <a:off x="2331720" y="3701491"/>
            <a:ext cx="3840480" cy="6345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400" b="1" dirty="0">
                <a:solidFill>
                  <a:srgbClr val="150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SAMLING 3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6446520" y="3628339"/>
            <a:ext cx="4434840" cy="780898"/>
          </a:xfrm>
          <a:prstGeom prst="roundRect">
            <a:avLst>
              <a:gd name="adj" fmla="val 936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19050" dir="5400000">
              <a:srgbClr val="150E2E">
                <a:alpha val="8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6647688" y="3950208"/>
            <a:ext cx="137160" cy="137160"/>
          </a:xfrm>
          <a:prstGeom prst="ellipse">
            <a:avLst/>
          </a:prstGeom>
          <a:solidFill>
            <a:srgbClr val="1FB8A0"/>
          </a:solidFill>
          <a:ln/>
        </p:spPr>
      </p:sp>
      <p:sp>
        <p:nvSpPr>
          <p:cNvPr id="32" name="Text 30"/>
          <p:cNvSpPr/>
          <p:nvPr/>
        </p:nvSpPr>
        <p:spPr>
          <a:xfrm>
            <a:off x="6903720" y="3701491"/>
            <a:ext cx="3840480" cy="6345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400" b="1" dirty="0">
                <a:solidFill>
                  <a:srgbClr val="150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SAMLING 3</a:t>
            </a:r>
            <a:endParaRPr lang="en-US" sz="1400" dirty="0"/>
          </a:p>
        </p:txBody>
      </p:sp>
      <p:sp>
        <p:nvSpPr>
          <p:cNvPr id="33" name="Shape 31"/>
          <p:cNvSpPr/>
          <p:nvPr/>
        </p:nvSpPr>
        <p:spPr>
          <a:xfrm>
            <a:off x="640080" y="4537253"/>
            <a:ext cx="1097280" cy="780898"/>
          </a:xfrm>
          <a:prstGeom prst="roundRect">
            <a:avLst>
              <a:gd name="adj" fmla="val 936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19050" dir="5400000">
              <a:srgbClr val="150E2E">
                <a:alpha val="8000"/>
              </a:srgbClr>
            </a:outerShdw>
          </a:effectLst>
        </p:spPr>
      </p:sp>
      <p:sp>
        <p:nvSpPr>
          <p:cNvPr id="34" name="Text 32"/>
          <p:cNvSpPr/>
          <p:nvPr/>
        </p:nvSpPr>
        <p:spPr>
          <a:xfrm>
            <a:off x="640080" y="4537253"/>
            <a:ext cx="1097280" cy="7808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2000"/>
              </a:lnSpc>
              <a:buNone/>
            </a:pPr>
            <a:r>
              <a:rPr lang="en-US" sz="2000" b="1" dirty="0">
                <a:solidFill>
                  <a:srgbClr val="1FB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2000" dirty="0"/>
          </a:p>
          <a:p>
            <a:pPr algn="ctr" indent="0" marL="0">
              <a:lnSpc>
                <a:spcPts val="2000"/>
              </a:lnSpc>
              <a:buNone/>
            </a:pPr>
            <a:r>
              <a:rPr lang="en-US" sz="950" dirty="0">
                <a:solidFill>
                  <a:srgbClr val="6C63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48</a:t>
            </a:r>
            <a:endParaRPr lang="en-US" sz="2000" dirty="0"/>
          </a:p>
        </p:txBody>
      </p:sp>
      <p:sp>
        <p:nvSpPr>
          <p:cNvPr id="35" name="Shape 33"/>
          <p:cNvSpPr/>
          <p:nvPr/>
        </p:nvSpPr>
        <p:spPr>
          <a:xfrm>
            <a:off x="1874520" y="4537253"/>
            <a:ext cx="4434840" cy="780898"/>
          </a:xfrm>
          <a:prstGeom prst="roundRect">
            <a:avLst>
              <a:gd name="adj" fmla="val 936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19050" dir="5400000">
              <a:srgbClr val="150E2E">
                <a:alpha val="8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2075688" y="4859122"/>
            <a:ext cx="137160" cy="137160"/>
          </a:xfrm>
          <a:prstGeom prst="ellipse">
            <a:avLst/>
          </a:prstGeom>
          <a:solidFill>
            <a:srgbClr val="FFB020"/>
          </a:solidFill>
          <a:ln/>
        </p:spPr>
      </p:sp>
      <p:sp>
        <p:nvSpPr>
          <p:cNvPr id="37" name="Text 35"/>
          <p:cNvSpPr/>
          <p:nvPr/>
        </p:nvSpPr>
        <p:spPr>
          <a:xfrm>
            <a:off x="2331720" y="4610405"/>
            <a:ext cx="3840480" cy="6345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2E27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methods and play-testing I. Play-throughs and testing I.</a:t>
            </a:r>
            <a:endParaRPr lang="en-US" sz="1150" dirty="0"/>
          </a:p>
        </p:txBody>
      </p:sp>
      <p:sp>
        <p:nvSpPr>
          <p:cNvPr id="38" name="Shape 36"/>
          <p:cNvSpPr/>
          <p:nvPr/>
        </p:nvSpPr>
        <p:spPr>
          <a:xfrm>
            <a:off x="6446520" y="4537253"/>
            <a:ext cx="4434840" cy="780898"/>
          </a:xfrm>
          <a:prstGeom prst="roundRect">
            <a:avLst>
              <a:gd name="adj" fmla="val 9368"/>
            </a:avLst>
          </a:prstGeom>
          <a:solidFill>
            <a:srgbClr val="EAE6F4"/>
          </a:solidFill>
          <a:ln/>
        </p:spPr>
      </p:sp>
      <p:sp>
        <p:nvSpPr>
          <p:cNvPr id="39" name="Text 37"/>
          <p:cNvSpPr/>
          <p:nvPr/>
        </p:nvSpPr>
        <p:spPr>
          <a:xfrm>
            <a:off x="6720840" y="4610405"/>
            <a:ext cx="3840480" cy="6345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i="1" dirty="0">
                <a:solidFill>
                  <a:srgbClr val="6C63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not specified in the course description —</a:t>
            </a:r>
            <a:endParaRPr lang="en-US" sz="1050" dirty="0"/>
          </a:p>
        </p:txBody>
      </p:sp>
      <p:sp>
        <p:nvSpPr>
          <p:cNvPr id="40" name="Shape 38"/>
          <p:cNvSpPr/>
          <p:nvPr/>
        </p:nvSpPr>
        <p:spPr>
          <a:xfrm>
            <a:off x="640080" y="5446166"/>
            <a:ext cx="1097280" cy="780898"/>
          </a:xfrm>
          <a:prstGeom prst="roundRect">
            <a:avLst>
              <a:gd name="adj" fmla="val 9368"/>
            </a:avLst>
          </a:prstGeom>
          <a:solidFill>
            <a:srgbClr val="1FB8A0"/>
          </a:solidFill>
          <a:ln/>
          <a:effectLst>
            <a:outerShdw sx="100000" sy="100000" kx="0" ky="0" algn="bl" rotWithShape="0" blurRad="127000" dist="19050" dir="5400000">
              <a:srgbClr val="150E2E">
                <a:alpha val="8000"/>
              </a:srgbClr>
            </a:outerShdw>
          </a:effectLst>
        </p:spPr>
      </p:sp>
      <p:sp>
        <p:nvSpPr>
          <p:cNvPr id="41" name="Text 39"/>
          <p:cNvSpPr/>
          <p:nvPr/>
        </p:nvSpPr>
        <p:spPr>
          <a:xfrm>
            <a:off x="640080" y="5446166"/>
            <a:ext cx="1097280" cy="7808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200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2000" dirty="0"/>
          </a:p>
          <a:p>
            <a:pPr algn="ctr" indent="0" marL="0">
              <a:lnSpc>
                <a:spcPts val="2000"/>
              </a:lnSpc>
              <a:buNone/>
            </a:pPr>
            <a:r>
              <a:rPr lang="en-US" sz="950" b="1" dirty="0">
                <a:solidFill>
                  <a:srgbClr val="D6F5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49 · EXAM</a:t>
            </a:r>
            <a:endParaRPr lang="en-US" sz="2000" dirty="0"/>
          </a:p>
        </p:txBody>
      </p:sp>
      <p:sp>
        <p:nvSpPr>
          <p:cNvPr id="42" name="Shape 40"/>
          <p:cNvSpPr/>
          <p:nvPr/>
        </p:nvSpPr>
        <p:spPr>
          <a:xfrm>
            <a:off x="1874520" y="5446166"/>
            <a:ext cx="4434840" cy="780898"/>
          </a:xfrm>
          <a:prstGeom prst="roundRect">
            <a:avLst>
              <a:gd name="adj" fmla="val 936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19050" dir="5400000">
              <a:srgbClr val="150E2E">
                <a:alpha val="8000"/>
              </a:srgbClr>
            </a:outerShdw>
          </a:effectLst>
        </p:spPr>
      </p:sp>
      <p:sp>
        <p:nvSpPr>
          <p:cNvPr id="43" name="Shape 41"/>
          <p:cNvSpPr/>
          <p:nvPr/>
        </p:nvSpPr>
        <p:spPr>
          <a:xfrm>
            <a:off x="2075688" y="5768035"/>
            <a:ext cx="137160" cy="137160"/>
          </a:xfrm>
          <a:prstGeom prst="ellipse">
            <a:avLst/>
          </a:prstGeom>
          <a:solidFill>
            <a:srgbClr val="FFB020"/>
          </a:solidFill>
          <a:ln/>
        </p:spPr>
      </p:sp>
      <p:sp>
        <p:nvSpPr>
          <p:cNvPr id="44" name="Text 42"/>
          <p:cNvSpPr/>
          <p:nvPr/>
        </p:nvSpPr>
        <p:spPr>
          <a:xfrm>
            <a:off x="2331720" y="5519318"/>
            <a:ext cx="3840480" cy="6345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2E27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methods and play-testing II. Play-throughs and testing II.</a:t>
            </a:r>
            <a:endParaRPr lang="en-US" sz="1150" dirty="0"/>
          </a:p>
        </p:txBody>
      </p:sp>
      <p:sp>
        <p:nvSpPr>
          <p:cNvPr id="45" name="Shape 43"/>
          <p:cNvSpPr/>
          <p:nvPr/>
        </p:nvSpPr>
        <p:spPr>
          <a:xfrm>
            <a:off x="6446520" y="5446166"/>
            <a:ext cx="4434840" cy="780898"/>
          </a:xfrm>
          <a:prstGeom prst="roundRect">
            <a:avLst>
              <a:gd name="adj" fmla="val 9368"/>
            </a:avLst>
          </a:prstGeom>
          <a:solidFill>
            <a:srgbClr val="EAE6F4"/>
          </a:solidFill>
          <a:ln/>
        </p:spPr>
      </p:sp>
      <p:sp>
        <p:nvSpPr>
          <p:cNvPr id="46" name="Text 44"/>
          <p:cNvSpPr/>
          <p:nvPr/>
        </p:nvSpPr>
        <p:spPr>
          <a:xfrm>
            <a:off x="6720840" y="5519318"/>
            <a:ext cx="3840480" cy="6345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i="1" dirty="0">
                <a:solidFill>
                  <a:srgbClr val="6C63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not specified in the course description —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6F4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11480"/>
            <a:ext cx="868680" cy="868680"/>
          </a:xfrm>
          <a:prstGeom prst="roundRect">
            <a:avLst>
              <a:gd name="adj" fmla="val 9474"/>
            </a:avLst>
          </a:prstGeom>
          <a:solidFill>
            <a:srgbClr val="FFB020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411480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50E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737360" y="457200"/>
            <a:ext cx="10058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50E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REFLECT · Peeling the onion</a:t>
            </a:r>
            <a:endParaRPr lang="en-US" sz="3100" dirty="0"/>
          </a:p>
        </p:txBody>
      </p:sp>
      <p:sp>
        <p:nvSpPr>
          <p:cNvPr id="5" name="Text 3"/>
          <p:cNvSpPr/>
          <p:nvPr/>
        </p:nvSpPr>
        <p:spPr>
          <a:xfrm>
            <a:off x="1737360" y="96012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C63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 weeks 15–17  ·  calendar weeks 50–51, continuing into week 01 / 2027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40080" y="148132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20" kern="0" dirty="0">
                <a:solidFill>
                  <a:srgbClr val="6C63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2075688" y="1481328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20" kern="0" dirty="0">
                <a:solidFill>
                  <a:srgbClr val="9A6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TEACHING COMPONENT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6647688" y="1481328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20" kern="0" dirty="0">
                <a:solidFill>
                  <a:srgbClr val="0F7A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GROUP-WORK FOCUS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640080" y="1810512"/>
            <a:ext cx="1097280" cy="960120"/>
          </a:xfrm>
          <a:prstGeom prst="roundRect">
            <a:avLst>
              <a:gd name="adj" fmla="val 7619"/>
            </a:avLst>
          </a:prstGeom>
          <a:solidFill>
            <a:srgbClr val="FFB020"/>
          </a:solidFill>
          <a:ln/>
          <a:effectLst>
            <a:outerShdw sx="100000" sy="100000" kx="0" ky="0" algn="bl" rotWithShape="0" blurRad="127000" dist="19050" dir="5400000">
              <a:srgbClr val="150E2E">
                <a:alpha val="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40080" y="1810512"/>
            <a:ext cx="10972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2000"/>
              </a:lnSpc>
              <a:buNone/>
            </a:pPr>
            <a:r>
              <a:rPr lang="en-US" sz="2000" b="1" dirty="0">
                <a:solidFill>
                  <a:srgbClr val="150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2000" dirty="0"/>
          </a:p>
          <a:p>
            <a:pPr algn="ctr" indent="0" marL="0">
              <a:lnSpc>
                <a:spcPts val="2000"/>
              </a:lnSpc>
              <a:buNone/>
            </a:pPr>
            <a:r>
              <a:rPr lang="en-US" sz="950" dirty="0">
                <a:solidFill>
                  <a:srgbClr val="6A4C0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50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1874520" y="1810512"/>
            <a:ext cx="443484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19050" dir="5400000">
              <a:srgbClr val="150E2E">
                <a:alpha val="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075688" y="2221992"/>
            <a:ext cx="137160" cy="137160"/>
          </a:xfrm>
          <a:prstGeom prst="ellipse">
            <a:avLst/>
          </a:prstGeom>
          <a:solidFill>
            <a:srgbClr val="FFB020"/>
          </a:solidFill>
          <a:ln/>
        </p:spPr>
      </p:sp>
      <p:sp>
        <p:nvSpPr>
          <p:cNvPr id="13" name="Text 11"/>
          <p:cNvSpPr/>
          <p:nvPr/>
        </p:nvSpPr>
        <p:spPr>
          <a:xfrm>
            <a:off x="2331720" y="1883664"/>
            <a:ext cx="3840480" cy="8138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400" b="1" dirty="0">
                <a:solidFill>
                  <a:srgbClr val="150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SAMLING 4 — “The phenomena of play and the structure of games”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6446520" y="1810512"/>
            <a:ext cx="443484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19050" dir="5400000">
              <a:srgbClr val="150E2E">
                <a:alpha val="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647688" y="2221992"/>
            <a:ext cx="137160" cy="137160"/>
          </a:xfrm>
          <a:prstGeom prst="ellipse">
            <a:avLst/>
          </a:prstGeom>
          <a:solidFill>
            <a:srgbClr val="1FB8A0"/>
          </a:solidFill>
          <a:ln/>
        </p:spPr>
      </p:sp>
      <p:sp>
        <p:nvSpPr>
          <p:cNvPr id="16" name="Text 14"/>
          <p:cNvSpPr/>
          <p:nvPr/>
        </p:nvSpPr>
        <p:spPr>
          <a:xfrm>
            <a:off x="6903720" y="1883664"/>
            <a:ext cx="3840480" cy="8138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400" b="1" dirty="0">
                <a:solidFill>
                  <a:srgbClr val="150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SAMLING 4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640080" y="2898648"/>
            <a:ext cx="109728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19050" dir="5400000">
              <a:srgbClr val="150E2E">
                <a:alpha val="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640080" y="2898648"/>
            <a:ext cx="10972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2000"/>
              </a:lnSpc>
              <a:buNone/>
            </a:pPr>
            <a:r>
              <a:rPr lang="en-US" sz="2000" b="1" dirty="0">
                <a:solidFill>
                  <a:srgbClr val="9A6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2000" dirty="0"/>
          </a:p>
          <a:p>
            <a:pPr algn="ctr" indent="0" marL="0">
              <a:lnSpc>
                <a:spcPts val="2000"/>
              </a:lnSpc>
              <a:buNone/>
            </a:pPr>
            <a:r>
              <a:rPr lang="en-US" sz="950" dirty="0">
                <a:solidFill>
                  <a:srgbClr val="6C63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51</a:t>
            </a:r>
            <a:endParaRPr lang="en-US" sz="2000" dirty="0"/>
          </a:p>
        </p:txBody>
      </p:sp>
      <p:sp>
        <p:nvSpPr>
          <p:cNvPr id="19" name="Shape 17"/>
          <p:cNvSpPr/>
          <p:nvPr/>
        </p:nvSpPr>
        <p:spPr>
          <a:xfrm>
            <a:off x="1874520" y="2898648"/>
            <a:ext cx="443484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19050" dir="5400000">
              <a:srgbClr val="150E2E">
                <a:alpha val="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2075688" y="3310128"/>
            <a:ext cx="137160" cy="137160"/>
          </a:xfrm>
          <a:prstGeom prst="ellipse">
            <a:avLst/>
          </a:prstGeom>
          <a:solidFill>
            <a:srgbClr val="FFB020"/>
          </a:solidFill>
          <a:ln/>
        </p:spPr>
      </p:sp>
      <p:sp>
        <p:nvSpPr>
          <p:cNvPr id="21" name="Text 19"/>
          <p:cNvSpPr/>
          <p:nvPr/>
        </p:nvSpPr>
        <p:spPr>
          <a:xfrm>
            <a:off x="2331720" y="2971800"/>
            <a:ext cx="3840480" cy="8138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2E27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“Peeling the onion”: reflecting on the multiple layers of production and experience.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6446520" y="2898648"/>
            <a:ext cx="443484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19050" dir="5400000">
              <a:srgbClr val="150E2E">
                <a:alpha val="8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6647688" y="3310128"/>
            <a:ext cx="137160" cy="137160"/>
          </a:xfrm>
          <a:prstGeom prst="ellipse">
            <a:avLst/>
          </a:prstGeom>
          <a:solidFill>
            <a:srgbClr val="1FB8A0"/>
          </a:solidFill>
          <a:ln/>
        </p:spPr>
      </p:sp>
      <p:sp>
        <p:nvSpPr>
          <p:cNvPr id="24" name="Text 22"/>
          <p:cNvSpPr/>
          <p:nvPr/>
        </p:nvSpPr>
        <p:spPr>
          <a:xfrm>
            <a:off x="6903720" y="2971800"/>
            <a:ext cx="3840480" cy="8138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2E27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Reflection on the correlations between the layers of production and the resulting experience, in relation to artistic intentions.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640080" y="3986784"/>
            <a:ext cx="109728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19050" dir="5400000">
              <a:srgbClr val="150E2E">
                <a:alpha val="8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640080" y="3986784"/>
            <a:ext cx="10972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2000"/>
              </a:lnSpc>
              <a:buNone/>
            </a:pPr>
            <a:r>
              <a:rPr lang="en-US" sz="2000" b="1" dirty="0">
                <a:solidFill>
                  <a:srgbClr val="9A6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2000" dirty="0"/>
          </a:p>
          <a:p>
            <a:pPr algn="ctr" indent="0" marL="0">
              <a:lnSpc>
                <a:spcPts val="2000"/>
              </a:lnSpc>
              <a:buNone/>
            </a:pPr>
            <a:r>
              <a:rPr lang="en-US" sz="950" dirty="0">
                <a:solidFill>
                  <a:srgbClr val="6C63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01/2027</a:t>
            </a:r>
            <a:endParaRPr lang="en-US" sz="2000" dirty="0"/>
          </a:p>
        </p:txBody>
      </p:sp>
      <p:sp>
        <p:nvSpPr>
          <p:cNvPr id="27" name="Shape 25"/>
          <p:cNvSpPr/>
          <p:nvPr/>
        </p:nvSpPr>
        <p:spPr>
          <a:xfrm>
            <a:off x="1874520" y="3986784"/>
            <a:ext cx="443484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19050" dir="5400000">
              <a:srgbClr val="150E2E">
                <a:alpha val="8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2075688" y="4398264"/>
            <a:ext cx="137160" cy="137160"/>
          </a:xfrm>
          <a:prstGeom prst="ellipse">
            <a:avLst/>
          </a:prstGeom>
          <a:solidFill>
            <a:srgbClr val="FFB020"/>
          </a:solidFill>
          <a:ln/>
        </p:spPr>
      </p:sp>
      <p:sp>
        <p:nvSpPr>
          <p:cNvPr id="29" name="Text 27"/>
          <p:cNvSpPr/>
          <p:nvPr/>
        </p:nvSpPr>
        <p:spPr>
          <a:xfrm>
            <a:off x="2331720" y="4059936"/>
            <a:ext cx="3840480" cy="8138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2E27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Continued: “peeling the onion”. How to tell a story / forge / enact / transfer / structure. Review of the “gears of the game”.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6446520" y="3986784"/>
            <a:ext cx="4434840" cy="960120"/>
          </a:xfrm>
          <a:prstGeom prst="roundRect">
            <a:avLst>
              <a:gd name="adj" fmla="val 7619"/>
            </a:avLst>
          </a:prstGeom>
          <a:solidFill>
            <a:srgbClr val="EAE6F4"/>
          </a:solidFill>
          <a:ln/>
        </p:spPr>
      </p:sp>
      <p:sp>
        <p:nvSpPr>
          <p:cNvPr id="31" name="Text 29"/>
          <p:cNvSpPr/>
          <p:nvPr/>
        </p:nvSpPr>
        <p:spPr>
          <a:xfrm>
            <a:off x="6720840" y="4059936"/>
            <a:ext cx="3840480" cy="8138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i="1" dirty="0">
                <a:solidFill>
                  <a:srgbClr val="6C63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not specified in the course description —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640080" y="5321808"/>
            <a:ext cx="10881360" cy="868680"/>
          </a:xfrm>
          <a:prstGeom prst="roundRect">
            <a:avLst>
              <a:gd name="adj" fmla="val 9474"/>
            </a:avLst>
          </a:prstGeom>
          <a:solidFill>
            <a:srgbClr val="150E2E"/>
          </a:solidFill>
          <a:ln/>
        </p:spPr>
      </p:sp>
      <p:pic>
        <p:nvPicPr>
          <p:cNvPr id="3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4128" y="5568696"/>
            <a:ext cx="365760" cy="365760"/>
          </a:xfrm>
          <a:prstGeom prst="rect">
            <a:avLst/>
          </a:prstGeom>
        </p:spPr>
      </p:pic>
      <p:sp>
        <p:nvSpPr>
          <p:cNvPr id="34" name="Text 31"/>
          <p:cNvSpPr/>
          <p:nvPr/>
        </p:nvSpPr>
        <p:spPr>
          <a:xfrm>
            <a:off x="1600200" y="5321808"/>
            <a:ext cx="9601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Weeks 15–16 close 2026; teaching resumes in week 1 of 2027 to complete the reflection.</a:t>
            </a:r>
            <a:endParaRPr lang="en-US" sz="14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6F4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10058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50E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Calendar · September – October 2026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896112"/>
            <a:ext cx="10881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C63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teaching day from the start of the course. Tuesdays 13–16, Wednesdays 9–12.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640080" y="137160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50E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September 2026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1298448" y="1828800"/>
            <a:ext cx="67012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spc="40" kern="0" dirty="0">
                <a:solidFill>
                  <a:srgbClr val="6C63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1968573" y="1828800"/>
            <a:ext cx="67012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spc="40" kern="0" dirty="0">
                <a:solidFill>
                  <a:srgbClr val="6C63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TUE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2638697" y="1828800"/>
            <a:ext cx="67012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spc="40" kern="0" dirty="0">
                <a:solidFill>
                  <a:srgbClr val="6C63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WED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3308822" y="1828800"/>
            <a:ext cx="67012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spc="40" kern="0" dirty="0">
                <a:solidFill>
                  <a:srgbClr val="6C63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THU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3978946" y="1828800"/>
            <a:ext cx="67012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spc="40" kern="0" dirty="0">
                <a:solidFill>
                  <a:srgbClr val="6C63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FRI</a:t>
            </a:r>
            <a:endParaRPr lang="en-US" sz="750" dirty="0"/>
          </a:p>
        </p:txBody>
      </p:sp>
      <p:sp>
        <p:nvSpPr>
          <p:cNvPr id="10" name="Text 8"/>
          <p:cNvSpPr/>
          <p:nvPr/>
        </p:nvSpPr>
        <p:spPr>
          <a:xfrm>
            <a:off x="4649071" y="1828800"/>
            <a:ext cx="67012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spc="40" kern="0" dirty="0">
                <a:solidFill>
                  <a:srgbClr val="A79F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5319195" y="1828800"/>
            <a:ext cx="67012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spc="40" kern="0" dirty="0">
                <a:solidFill>
                  <a:srgbClr val="A79F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SUN</a:t>
            </a:r>
            <a:endParaRPr lang="en-US" sz="750" dirty="0"/>
          </a:p>
        </p:txBody>
      </p:sp>
      <p:sp>
        <p:nvSpPr>
          <p:cNvPr id="12" name="Text 10"/>
          <p:cNvSpPr/>
          <p:nvPr/>
        </p:nvSpPr>
        <p:spPr>
          <a:xfrm>
            <a:off x="640080" y="2103120"/>
            <a:ext cx="566928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ts val="1100"/>
              </a:lnSpc>
              <a:buNone/>
            </a:pPr>
            <a:r>
              <a:rPr lang="en-US" sz="950" b="1" dirty="0">
                <a:solidFill>
                  <a:srgbClr val="4B2E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36</a:t>
            </a:r>
            <a:endParaRPr lang="en-US" sz="950" dirty="0"/>
          </a:p>
          <a:p>
            <a:pPr algn="r" indent="0" marL="0">
              <a:lnSpc>
                <a:spcPts val="1100"/>
              </a:lnSpc>
              <a:buNone/>
            </a:pPr>
            <a:r>
              <a:rPr lang="en-US" sz="650" dirty="0">
                <a:solidFill>
                  <a:srgbClr val="6C63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 1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1996005" y="2103120"/>
            <a:ext cx="615261" cy="585216"/>
          </a:xfrm>
          <a:prstGeom prst="roundRect">
            <a:avLst>
              <a:gd name="adj" fmla="val 7813"/>
            </a:avLst>
          </a:prstGeom>
          <a:solidFill>
            <a:srgbClr val="FFB020"/>
          </a:solidFill>
          <a:ln/>
        </p:spPr>
      </p:sp>
      <p:sp>
        <p:nvSpPr>
          <p:cNvPr id="14" name="Text 12"/>
          <p:cNvSpPr/>
          <p:nvPr/>
        </p:nvSpPr>
        <p:spPr>
          <a:xfrm>
            <a:off x="2050869" y="2121408"/>
            <a:ext cx="505533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50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2041725" y="2304288"/>
            <a:ext cx="52382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800"/>
              </a:lnSpc>
              <a:buNone/>
            </a:pPr>
            <a:r>
              <a:rPr lang="en-US" sz="650" b="1" dirty="0">
                <a:solidFill>
                  <a:srgbClr val="150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Samling 1 · Introduction</a:t>
            </a:r>
            <a:endParaRPr lang="en-US" sz="650" dirty="0"/>
          </a:p>
        </p:txBody>
      </p:sp>
      <p:sp>
        <p:nvSpPr>
          <p:cNvPr id="16" name="Shape 14"/>
          <p:cNvSpPr/>
          <p:nvPr/>
        </p:nvSpPr>
        <p:spPr>
          <a:xfrm>
            <a:off x="2666129" y="2103120"/>
            <a:ext cx="615261" cy="585216"/>
          </a:xfrm>
          <a:prstGeom prst="roundRect">
            <a:avLst>
              <a:gd name="adj" fmla="val 7813"/>
            </a:avLst>
          </a:prstGeom>
          <a:solidFill>
            <a:srgbClr val="FFB020"/>
          </a:solidFill>
          <a:ln/>
        </p:spPr>
      </p:sp>
      <p:sp>
        <p:nvSpPr>
          <p:cNvPr id="17" name="Text 15"/>
          <p:cNvSpPr/>
          <p:nvPr/>
        </p:nvSpPr>
        <p:spPr>
          <a:xfrm>
            <a:off x="2720993" y="2121408"/>
            <a:ext cx="505533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50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2711849" y="2304288"/>
            <a:ext cx="52382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800"/>
              </a:lnSpc>
              <a:buNone/>
            </a:pPr>
            <a:r>
              <a:rPr lang="en-US" sz="650" b="1" dirty="0">
                <a:solidFill>
                  <a:srgbClr val="150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Samling 1 · Introduction</a:t>
            </a:r>
            <a:endParaRPr lang="en-US" sz="650" dirty="0"/>
          </a:p>
        </p:txBody>
      </p:sp>
      <p:sp>
        <p:nvSpPr>
          <p:cNvPr id="19" name="Shape 17"/>
          <p:cNvSpPr/>
          <p:nvPr/>
        </p:nvSpPr>
        <p:spPr>
          <a:xfrm>
            <a:off x="3336254" y="2103120"/>
            <a:ext cx="615261" cy="585216"/>
          </a:xfrm>
          <a:prstGeom prst="roundRect">
            <a:avLst>
              <a:gd name="adj" fmla="val 781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19050" dir="5400000">
              <a:srgbClr val="150E2E">
                <a:alpha val="6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391118" y="2121408"/>
            <a:ext cx="505533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E27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4006378" y="2103120"/>
            <a:ext cx="615261" cy="585216"/>
          </a:xfrm>
          <a:prstGeom prst="roundRect">
            <a:avLst>
              <a:gd name="adj" fmla="val 781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19050" dir="5400000">
              <a:srgbClr val="150E2E">
                <a:alpha val="6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4061242" y="2121408"/>
            <a:ext cx="505533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E27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4676503" y="2103120"/>
            <a:ext cx="615261" cy="585216"/>
          </a:xfrm>
          <a:prstGeom prst="roundRect">
            <a:avLst>
              <a:gd name="adj" fmla="val 781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19050" dir="5400000">
              <a:srgbClr val="150E2E">
                <a:alpha val="6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4731367" y="2121408"/>
            <a:ext cx="505533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E27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5346627" y="2103120"/>
            <a:ext cx="615261" cy="585216"/>
          </a:xfrm>
          <a:prstGeom prst="roundRect">
            <a:avLst>
              <a:gd name="adj" fmla="val 781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19050" dir="5400000">
              <a:srgbClr val="150E2E">
                <a:alpha val="6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5401491" y="2121408"/>
            <a:ext cx="505533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E27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640080" y="2761488"/>
            <a:ext cx="566928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ts val="1100"/>
              </a:lnSpc>
              <a:buNone/>
            </a:pPr>
            <a:r>
              <a:rPr lang="en-US" sz="950" b="1" dirty="0">
                <a:solidFill>
                  <a:srgbClr val="4B2E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37</a:t>
            </a:r>
            <a:endParaRPr lang="en-US" sz="950" dirty="0"/>
          </a:p>
          <a:p>
            <a:pPr algn="r" indent="0" marL="0">
              <a:lnSpc>
                <a:spcPts val="1100"/>
              </a:lnSpc>
              <a:buNone/>
            </a:pPr>
            <a:r>
              <a:rPr lang="en-US" sz="650" dirty="0">
                <a:solidFill>
                  <a:srgbClr val="6C63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 2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1325880" y="2761488"/>
            <a:ext cx="615261" cy="585216"/>
          </a:xfrm>
          <a:prstGeom prst="roundRect">
            <a:avLst>
              <a:gd name="adj" fmla="val 781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19050" dir="5400000">
              <a:srgbClr val="150E2E">
                <a:alpha val="6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1380744" y="2779776"/>
            <a:ext cx="505533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E27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1996005" y="2761488"/>
            <a:ext cx="615261" cy="585216"/>
          </a:xfrm>
          <a:prstGeom prst="roundRect">
            <a:avLst>
              <a:gd name="adj" fmla="val 7813"/>
            </a:avLst>
          </a:prstGeom>
          <a:solidFill>
            <a:srgbClr val="FFEFD1"/>
          </a:solidFill>
          <a:ln/>
        </p:spPr>
      </p:sp>
      <p:sp>
        <p:nvSpPr>
          <p:cNvPr id="31" name="Text 29"/>
          <p:cNvSpPr/>
          <p:nvPr/>
        </p:nvSpPr>
        <p:spPr>
          <a:xfrm>
            <a:off x="2050869" y="2779776"/>
            <a:ext cx="505533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8A5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2041725" y="2962656"/>
            <a:ext cx="52382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800"/>
              </a:lnSpc>
              <a:buNone/>
            </a:pPr>
            <a:r>
              <a:rPr lang="en-US" sz="650" dirty="0">
                <a:solidFill>
                  <a:srgbClr val="8A5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Game design &amp; game studies</a:t>
            </a:r>
            <a:endParaRPr lang="en-US" sz="650" dirty="0"/>
          </a:p>
        </p:txBody>
      </p:sp>
      <p:sp>
        <p:nvSpPr>
          <p:cNvPr id="33" name="Shape 31"/>
          <p:cNvSpPr/>
          <p:nvPr/>
        </p:nvSpPr>
        <p:spPr>
          <a:xfrm>
            <a:off x="2666129" y="2761488"/>
            <a:ext cx="615261" cy="585216"/>
          </a:xfrm>
          <a:prstGeom prst="roundRect">
            <a:avLst>
              <a:gd name="adj" fmla="val 7813"/>
            </a:avLst>
          </a:prstGeom>
          <a:solidFill>
            <a:srgbClr val="D6F2EC"/>
          </a:solidFill>
          <a:ln/>
        </p:spPr>
      </p:sp>
      <p:sp>
        <p:nvSpPr>
          <p:cNvPr id="34" name="Text 32"/>
          <p:cNvSpPr/>
          <p:nvPr/>
        </p:nvSpPr>
        <p:spPr>
          <a:xfrm>
            <a:off x="2720993" y="2779776"/>
            <a:ext cx="505533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E6E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2711849" y="2962656"/>
            <a:ext cx="52382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800"/>
              </a:lnSpc>
              <a:buNone/>
            </a:pPr>
            <a:r>
              <a:rPr lang="en-US" sz="650" dirty="0">
                <a:solidFill>
                  <a:srgbClr val="0E6E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Themes &amp; societal challenges</a:t>
            </a:r>
            <a:endParaRPr lang="en-US" sz="650" dirty="0"/>
          </a:p>
        </p:txBody>
      </p:sp>
      <p:sp>
        <p:nvSpPr>
          <p:cNvPr id="36" name="Shape 34"/>
          <p:cNvSpPr/>
          <p:nvPr/>
        </p:nvSpPr>
        <p:spPr>
          <a:xfrm>
            <a:off x="3336254" y="2761488"/>
            <a:ext cx="615261" cy="585216"/>
          </a:xfrm>
          <a:prstGeom prst="roundRect">
            <a:avLst>
              <a:gd name="adj" fmla="val 781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19050" dir="5400000">
              <a:srgbClr val="150E2E">
                <a:alpha val="6000"/>
              </a:srgbClr>
            </a:outerShdw>
          </a:effectLst>
        </p:spPr>
      </p:sp>
      <p:sp>
        <p:nvSpPr>
          <p:cNvPr id="37" name="Text 35"/>
          <p:cNvSpPr/>
          <p:nvPr/>
        </p:nvSpPr>
        <p:spPr>
          <a:xfrm>
            <a:off x="3391118" y="2779776"/>
            <a:ext cx="505533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E27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4006378" y="2761488"/>
            <a:ext cx="615261" cy="585216"/>
          </a:xfrm>
          <a:prstGeom prst="roundRect">
            <a:avLst>
              <a:gd name="adj" fmla="val 781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19050" dir="5400000">
              <a:srgbClr val="150E2E">
                <a:alpha val="6000"/>
              </a:srgbClr>
            </a:outerShdw>
          </a:effectLst>
        </p:spPr>
      </p:sp>
      <p:sp>
        <p:nvSpPr>
          <p:cNvPr id="39" name="Text 37"/>
          <p:cNvSpPr/>
          <p:nvPr/>
        </p:nvSpPr>
        <p:spPr>
          <a:xfrm>
            <a:off x="4061242" y="2779776"/>
            <a:ext cx="505533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E27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4676503" y="2761488"/>
            <a:ext cx="615261" cy="585216"/>
          </a:xfrm>
          <a:prstGeom prst="roundRect">
            <a:avLst>
              <a:gd name="adj" fmla="val 781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19050" dir="5400000">
              <a:srgbClr val="150E2E">
                <a:alpha val="6000"/>
              </a:srgbClr>
            </a:outerShdw>
          </a:effectLst>
        </p:spPr>
      </p:sp>
      <p:sp>
        <p:nvSpPr>
          <p:cNvPr id="41" name="Text 39"/>
          <p:cNvSpPr/>
          <p:nvPr/>
        </p:nvSpPr>
        <p:spPr>
          <a:xfrm>
            <a:off x="4731367" y="2779776"/>
            <a:ext cx="505533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E27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5346627" y="2761488"/>
            <a:ext cx="615261" cy="585216"/>
          </a:xfrm>
          <a:prstGeom prst="roundRect">
            <a:avLst>
              <a:gd name="adj" fmla="val 781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19050" dir="5400000">
              <a:srgbClr val="150E2E">
                <a:alpha val="6000"/>
              </a:srgbClr>
            </a:outerShdw>
          </a:effectLst>
        </p:spPr>
      </p:sp>
      <p:sp>
        <p:nvSpPr>
          <p:cNvPr id="43" name="Text 41"/>
          <p:cNvSpPr/>
          <p:nvPr/>
        </p:nvSpPr>
        <p:spPr>
          <a:xfrm>
            <a:off x="5401491" y="2779776"/>
            <a:ext cx="505533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E27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640080" y="3419856"/>
            <a:ext cx="566928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ts val="1100"/>
              </a:lnSpc>
              <a:buNone/>
            </a:pPr>
            <a:r>
              <a:rPr lang="en-US" sz="950" b="1" dirty="0">
                <a:solidFill>
                  <a:srgbClr val="4B2E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38</a:t>
            </a:r>
            <a:endParaRPr lang="en-US" sz="950" dirty="0"/>
          </a:p>
          <a:p>
            <a:pPr algn="r" indent="0" marL="0">
              <a:lnSpc>
                <a:spcPts val="1100"/>
              </a:lnSpc>
              <a:buNone/>
            </a:pPr>
            <a:r>
              <a:rPr lang="en-US" sz="650" dirty="0">
                <a:solidFill>
                  <a:srgbClr val="6C63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 3</a:t>
            </a:r>
            <a:endParaRPr lang="en-US" sz="950" dirty="0"/>
          </a:p>
        </p:txBody>
      </p:sp>
      <p:sp>
        <p:nvSpPr>
          <p:cNvPr id="45" name="Shape 43"/>
          <p:cNvSpPr/>
          <p:nvPr/>
        </p:nvSpPr>
        <p:spPr>
          <a:xfrm>
            <a:off x="1325880" y="3419856"/>
            <a:ext cx="615261" cy="585216"/>
          </a:xfrm>
          <a:prstGeom prst="roundRect">
            <a:avLst>
              <a:gd name="adj" fmla="val 781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19050" dir="5400000">
              <a:srgbClr val="150E2E">
                <a:alpha val="6000"/>
              </a:srgbClr>
            </a:outerShdw>
          </a:effectLst>
        </p:spPr>
      </p:sp>
      <p:sp>
        <p:nvSpPr>
          <p:cNvPr id="46" name="Text 44"/>
          <p:cNvSpPr/>
          <p:nvPr/>
        </p:nvSpPr>
        <p:spPr>
          <a:xfrm>
            <a:off x="1380744" y="3438144"/>
            <a:ext cx="505533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E27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1996005" y="3419856"/>
            <a:ext cx="615261" cy="585216"/>
          </a:xfrm>
          <a:prstGeom prst="roundRect">
            <a:avLst>
              <a:gd name="adj" fmla="val 7813"/>
            </a:avLst>
          </a:prstGeom>
          <a:solidFill>
            <a:srgbClr val="FFEFD1"/>
          </a:solidFill>
          <a:ln/>
        </p:spPr>
      </p:sp>
      <p:sp>
        <p:nvSpPr>
          <p:cNvPr id="48" name="Text 46"/>
          <p:cNvSpPr/>
          <p:nvPr/>
        </p:nvSpPr>
        <p:spPr>
          <a:xfrm>
            <a:off x="2050869" y="3438144"/>
            <a:ext cx="505533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8A5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2041725" y="3621024"/>
            <a:ext cx="52382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800"/>
              </a:lnSpc>
              <a:buNone/>
            </a:pPr>
            <a:r>
              <a:rPr lang="en-US" sz="650" dirty="0">
                <a:solidFill>
                  <a:srgbClr val="8A5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Narrative structure</a:t>
            </a:r>
            <a:endParaRPr lang="en-US" sz="650" dirty="0"/>
          </a:p>
        </p:txBody>
      </p:sp>
      <p:sp>
        <p:nvSpPr>
          <p:cNvPr id="50" name="Shape 48"/>
          <p:cNvSpPr/>
          <p:nvPr/>
        </p:nvSpPr>
        <p:spPr>
          <a:xfrm>
            <a:off x="2666129" y="3419856"/>
            <a:ext cx="615261" cy="585216"/>
          </a:xfrm>
          <a:prstGeom prst="roundRect">
            <a:avLst>
              <a:gd name="adj" fmla="val 7813"/>
            </a:avLst>
          </a:prstGeom>
          <a:solidFill>
            <a:srgbClr val="D6F2EC"/>
          </a:solidFill>
          <a:ln/>
        </p:spPr>
      </p:sp>
      <p:sp>
        <p:nvSpPr>
          <p:cNvPr id="51" name="Text 49"/>
          <p:cNvSpPr/>
          <p:nvPr/>
        </p:nvSpPr>
        <p:spPr>
          <a:xfrm>
            <a:off x="2720993" y="3438144"/>
            <a:ext cx="505533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E6E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00" dirty="0"/>
          </a:p>
        </p:txBody>
      </p:sp>
      <p:sp>
        <p:nvSpPr>
          <p:cNvPr id="52" name="Text 50"/>
          <p:cNvSpPr/>
          <p:nvPr/>
        </p:nvSpPr>
        <p:spPr>
          <a:xfrm>
            <a:off x="2711849" y="3621024"/>
            <a:ext cx="52382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800"/>
              </a:lnSpc>
              <a:buNone/>
            </a:pPr>
            <a:r>
              <a:rPr lang="en-US" sz="650" dirty="0">
                <a:solidFill>
                  <a:srgbClr val="0E6E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 review · big stories</a:t>
            </a:r>
            <a:endParaRPr lang="en-US" sz="650" dirty="0"/>
          </a:p>
        </p:txBody>
      </p:sp>
      <p:sp>
        <p:nvSpPr>
          <p:cNvPr id="53" name="Shape 51"/>
          <p:cNvSpPr/>
          <p:nvPr/>
        </p:nvSpPr>
        <p:spPr>
          <a:xfrm>
            <a:off x="3336254" y="3419856"/>
            <a:ext cx="615261" cy="585216"/>
          </a:xfrm>
          <a:prstGeom prst="roundRect">
            <a:avLst>
              <a:gd name="adj" fmla="val 781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19050" dir="5400000">
              <a:srgbClr val="150E2E">
                <a:alpha val="6000"/>
              </a:srgbClr>
            </a:outerShdw>
          </a:effectLst>
        </p:spPr>
      </p:sp>
      <p:sp>
        <p:nvSpPr>
          <p:cNvPr id="54" name="Text 52"/>
          <p:cNvSpPr/>
          <p:nvPr/>
        </p:nvSpPr>
        <p:spPr>
          <a:xfrm>
            <a:off x="3391118" y="3438144"/>
            <a:ext cx="505533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E27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900" dirty="0"/>
          </a:p>
        </p:txBody>
      </p:sp>
      <p:sp>
        <p:nvSpPr>
          <p:cNvPr id="55" name="Shape 53"/>
          <p:cNvSpPr/>
          <p:nvPr/>
        </p:nvSpPr>
        <p:spPr>
          <a:xfrm>
            <a:off x="4006378" y="3419856"/>
            <a:ext cx="615261" cy="585216"/>
          </a:xfrm>
          <a:prstGeom prst="roundRect">
            <a:avLst>
              <a:gd name="adj" fmla="val 781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19050" dir="5400000">
              <a:srgbClr val="150E2E">
                <a:alpha val="6000"/>
              </a:srgbClr>
            </a:outerShdw>
          </a:effectLst>
        </p:spPr>
      </p:sp>
      <p:sp>
        <p:nvSpPr>
          <p:cNvPr id="56" name="Text 54"/>
          <p:cNvSpPr/>
          <p:nvPr/>
        </p:nvSpPr>
        <p:spPr>
          <a:xfrm>
            <a:off x="4061242" y="3438144"/>
            <a:ext cx="505533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E27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900" dirty="0"/>
          </a:p>
        </p:txBody>
      </p:sp>
      <p:sp>
        <p:nvSpPr>
          <p:cNvPr id="57" name="Shape 55"/>
          <p:cNvSpPr/>
          <p:nvPr/>
        </p:nvSpPr>
        <p:spPr>
          <a:xfrm>
            <a:off x="4676503" y="3419856"/>
            <a:ext cx="615261" cy="585216"/>
          </a:xfrm>
          <a:prstGeom prst="roundRect">
            <a:avLst>
              <a:gd name="adj" fmla="val 781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19050" dir="5400000">
              <a:srgbClr val="150E2E">
                <a:alpha val="6000"/>
              </a:srgbClr>
            </a:outerShdw>
          </a:effectLst>
        </p:spPr>
      </p:sp>
      <p:sp>
        <p:nvSpPr>
          <p:cNvPr id="58" name="Text 56"/>
          <p:cNvSpPr/>
          <p:nvPr/>
        </p:nvSpPr>
        <p:spPr>
          <a:xfrm>
            <a:off x="4731367" y="3438144"/>
            <a:ext cx="505533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E27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900" dirty="0"/>
          </a:p>
        </p:txBody>
      </p:sp>
      <p:sp>
        <p:nvSpPr>
          <p:cNvPr id="59" name="Shape 57"/>
          <p:cNvSpPr/>
          <p:nvPr/>
        </p:nvSpPr>
        <p:spPr>
          <a:xfrm>
            <a:off x="5346627" y="3419856"/>
            <a:ext cx="615261" cy="585216"/>
          </a:xfrm>
          <a:prstGeom prst="roundRect">
            <a:avLst>
              <a:gd name="adj" fmla="val 781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19050" dir="5400000">
              <a:srgbClr val="150E2E">
                <a:alpha val="6000"/>
              </a:srgbClr>
            </a:outerShdw>
          </a:effectLst>
        </p:spPr>
      </p:sp>
      <p:sp>
        <p:nvSpPr>
          <p:cNvPr id="60" name="Text 58"/>
          <p:cNvSpPr/>
          <p:nvPr/>
        </p:nvSpPr>
        <p:spPr>
          <a:xfrm>
            <a:off x="5401491" y="3438144"/>
            <a:ext cx="505533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E27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900" dirty="0"/>
          </a:p>
        </p:txBody>
      </p:sp>
      <p:sp>
        <p:nvSpPr>
          <p:cNvPr id="61" name="Text 59"/>
          <p:cNvSpPr/>
          <p:nvPr/>
        </p:nvSpPr>
        <p:spPr>
          <a:xfrm>
            <a:off x="640080" y="4078224"/>
            <a:ext cx="566928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ts val="1100"/>
              </a:lnSpc>
              <a:buNone/>
            </a:pPr>
            <a:r>
              <a:rPr lang="en-US" sz="950" b="1" dirty="0">
                <a:solidFill>
                  <a:srgbClr val="4B2E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39</a:t>
            </a:r>
            <a:endParaRPr lang="en-US" sz="950" dirty="0"/>
          </a:p>
          <a:p>
            <a:pPr algn="r" indent="0" marL="0">
              <a:lnSpc>
                <a:spcPts val="1100"/>
              </a:lnSpc>
              <a:buNone/>
            </a:pPr>
            <a:r>
              <a:rPr lang="en-US" sz="650" dirty="0">
                <a:solidFill>
                  <a:srgbClr val="6C63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 4</a:t>
            </a:r>
            <a:endParaRPr lang="en-US" sz="950" dirty="0"/>
          </a:p>
        </p:txBody>
      </p:sp>
      <p:sp>
        <p:nvSpPr>
          <p:cNvPr id="62" name="Shape 60"/>
          <p:cNvSpPr/>
          <p:nvPr/>
        </p:nvSpPr>
        <p:spPr>
          <a:xfrm>
            <a:off x="1325880" y="4078224"/>
            <a:ext cx="615261" cy="585216"/>
          </a:xfrm>
          <a:prstGeom prst="roundRect">
            <a:avLst>
              <a:gd name="adj" fmla="val 781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19050" dir="5400000">
              <a:srgbClr val="150E2E">
                <a:alpha val="6000"/>
              </a:srgbClr>
            </a:outerShdw>
          </a:effectLst>
        </p:spPr>
      </p:sp>
      <p:sp>
        <p:nvSpPr>
          <p:cNvPr id="63" name="Text 61"/>
          <p:cNvSpPr/>
          <p:nvPr/>
        </p:nvSpPr>
        <p:spPr>
          <a:xfrm>
            <a:off x="1380744" y="4096512"/>
            <a:ext cx="505533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E27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900" dirty="0"/>
          </a:p>
        </p:txBody>
      </p:sp>
      <p:sp>
        <p:nvSpPr>
          <p:cNvPr id="64" name="Shape 62"/>
          <p:cNvSpPr/>
          <p:nvPr/>
        </p:nvSpPr>
        <p:spPr>
          <a:xfrm>
            <a:off x="1996005" y="4078224"/>
            <a:ext cx="615261" cy="585216"/>
          </a:xfrm>
          <a:prstGeom prst="roundRect">
            <a:avLst>
              <a:gd name="adj" fmla="val 7813"/>
            </a:avLst>
          </a:prstGeom>
          <a:solidFill>
            <a:srgbClr val="FFEFD1"/>
          </a:solidFill>
          <a:ln/>
        </p:spPr>
      </p:sp>
      <p:sp>
        <p:nvSpPr>
          <p:cNvPr id="65" name="Text 63"/>
          <p:cNvSpPr/>
          <p:nvPr/>
        </p:nvSpPr>
        <p:spPr>
          <a:xfrm>
            <a:off x="2050869" y="4096512"/>
            <a:ext cx="505533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8A5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900" dirty="0"/>
          </a:p>
        </p:txBody>
      </p:sp>
      <p:sp>
        <p:nvSpPr>
          <p:cNvPr id="66" name="Text 64"/>
          <p:cNvSpPr/>
          <p:nvPr/>
        </p:nvSpPr>
        <p:spPr>
          <a:xfrm>
            <a:off x="2041725" y="4279392"/>
            <a:ext cx="52382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800"/>
              </a:lnSpc>
              <a:buNone/>
            </a:pPr>
            <a:r>
              <a:rPr lang="en-US" sz="650" dirty="0">
                <a:solidFill>
                  <a:srgbClr val="8A5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thinking &amp; system design</a:t>
            </a:r>
            <a:endParaRPr lang="en-US" sz="650" dirty="0"/>
          </a:p>
        </p:txBody>
      </p:sp>
      <p:sp>
        <p:nvSpPr>
          <p:cNvPr id="67" name="Shape 65"/>
          <p:cNvSpPr/>
          <p:nvPr/>
        </p:nvSpPr>
        <p:spPr>
          <a:xfrm>
            <a:off x="2666129" y="4078224"/>
            <a:ext cx="615261" cy="585216"/>
          </a:xfrm>
          <a:prstGeom prst="roundRect">
            <a:avLst>
              <a:gd name="adj" fmla="val 7813"/>
            </a:avLst>
          </a:prstGeom>
          <a:solidFill>
            <a:srgbClr val="D6F2EC"/>
          </a:solidFill>
          <a:ln/>
        </p:spPr>
      </p:sp>
      <p:sp>
        <p:nvSpPr>
          <p:cNvPr id="68" name="Text 66"/>
          <p:cNvSpPr/>
          <p:nvPr/>
        </p:nvSpPr>
        <p:spPr>
          <a:xfrm>
            <a:off x="2720993" y="4096512"/>
            <a:ext cx="505533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E6E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en-US" sz="900" dirty="0"/>
          </a:p>
        </p:txBody>
      </p:sp>
      <p:sp>
        <p:nvSpPr>
          <p:cNvPr id="69" name="Text 67"/>
          <p:cNvSpPr/>
          <p:nvPr/>
        </p:nvSpPr>
        <p:spPr>
          <a:xfrm>
            <a:off x="2711849" y="4279392"/>
            <a:ext cx="52382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800"/>
              </a:lnSpc>
              <a:buNone/>
            </a:pPr>
            <a:r>
              <a:rPr lang="en-US" sz="650" dirty="0">
                <a:solidFill>
                  <a:srgbClr val="0E6E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Causal loop diagrams</a:t>
            </a:r>
            <a:endParaRPr lang="en-US" sz="650" dirty="0"/>
          </a:p>
        </p:txBody>
      </p:sp>
      <p:sp>
        <p:nvSpPr>
          <p:cNvPr id="70" name="Shape 68"/>
          <p:cNvSpPr/>
          <p:nvPr/>
        </p:nvSpPr>
        <p:spPr>
          <a:xfrm>
            <a:off x="3336254" y="4078224"/>
            <a:ext cx="615261" cy="585216"/>
          </a:xfrm>
          <a:prstGeom prst="roundRect">
            <a:avLst>
              <a:gd name="adj" fmla="val 781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19050" dir="5400000">
              <a:srgbClr val="150E2E">
                <a:alpha val="6000"/>
              </a:srgbClr>
            </a:outerShdw>
          </a:effectLst>
        </p:spPr>
      </p:sp>
      <p:sp>
        <p:nvSpPr>
          <p:cNvPr id="71" name="Text 69"/>
          <p:cNvSpPr/>
          <p:nvPr/>
        </p:nvSpPr>
        <p:spPr>
          <a:xfrm>
            <a:off x="3391118" y="4096512"/>
            <a:ext cx="505533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E27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endParaRPr lang="en-US" sz="900" dirty="0"/>
          </a:p>
        </p:txBody>
      </p:sp>
      <p:sp>
        <p:nvSpPr>
          <p:cNvPr id="72" name="Shape 70"/>
          <p:cNvSpPr/>
          <p:nvPr/>
        </p:nvSpPr>
        <p:spPr>
          <a:xfrm>
            <a:off x="4006378" y="4078224"/>
            <a:ext cx="615261" cy="585216"/>
          </a:xfrm>
          <a:prstGeom prst="roundRect">
            <a:avLst>
              <a:gd name="adj" fmla="val 781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19050" dir="5400000">
              <a:srgbClr val="150E2E">
                <a:alpha val="6000"/>
              </a:srgbClr>
            </a:outerShdw>
          </a:effectLst>
        </p:spPr>
      </p:sp>
      <p:sp>
        <p:nvSpPr>
          <p:cNvPr id="73" name="Text 71"/>
          <p:cNvSpPr/>
          <p:nvPr/>
        </p:nvSpPr>
        <p:spPr>
          <a:xfrm>
            <a:off x="4061242" y="4096512"/>
            <a:ext cx="505533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E27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</a:t>
            </a:r>
            <a:endParaRPr lang="en-US" sz="900" dirty="0"/>
          </a:p>
        </p:txBody>
      </p:sp>
      <p:sp>
        <p:nvSpPr>
          <p:cNvPr id="74" name="Shape 72"/>
          <p:cNvSpPr/>
          <p:nvPr/>
        </p:nvSpPr>
        <p:spPr>
          <a:xfrm>
            <a:off x="4676503" y="4078224"/>
            <a:ext cx="615261" cy="585216"/>
          </a:xfrm>
          <a:prstGeom prst="roundRect">
            <a:avLst>
              <a:gd name="adj" fmla="val 781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19050" dir="5400000">
              <a:srgbClr val="150E2E">
                <a:alpha val="6000"/>
              </a:srgbClr>
            </a:outerShdw>
          </a:effectLst>
        </p:spPr>
      </p:sp>
      <p:sp>
        <p:nvSpPr>
          <p:cNvPr id="75" name="Text 73"/>
          <p:cNvSpPr/>
          <p:nvPr/>
        </p:nvSpPr>
        <p:spPr>
          <a:xfrm>
            <a:off x="4731367" y="4096512"/>
            <a:ext cx="505533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E27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</a:t>
            </a:r>
            <a:endParaRPr lang="en-US" sz="900" dirty="0"/>
          </a:p>
        </p:txBody>
      </p:sp>
      <p:sp>
        <p:nvSpPr>
          <p:cNvPr id="76" name="Shape 74"/>
          <p:cNvSpPr/>
          <p:nvPr/>
        </p:nvSpPr>
        <p:spPr>
          <a:xfrm>
            <a:off x="5346627" y="4078224"/>
            <a:ext cx="615261" cy="585216"/>
          </a:xfrm>
          <a:prstGeom prst="roundRect">
            <a:avLst>
              <a:gd name="adj" fmla="val 781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19050" dir="5400000">
              <a:srgbClr val="150E2E">
                <a:alpha val="6000"/>
              </a:srgbClr>
            </a:outerShdw>
          </a:effectLst>
        </p:spPr>
      </p:sp>
      <p:sp>
        <p:nvSpPr>
          <p:cNvPr id="77" name="Text 75"/>
          <p:cNvSpPr/>
          <p:nvPr/>
        </p:nvSpPr>
        <p:spPr>
          <a:xfrm>
            <a:off x="5401491" y="4096512"/>
            <a:ext cx="505533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E27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</a:t>
            </a:r>
            <a:endParaRPr lang="en-US" sz="900" dirty="0"/>
          </a:p>
        </p:txBody>
      </p:sp>
      <p:sp>
        <p:nvSpPr>
          <p:cNvPr id="78" name="Text 76"/>
          <p:cNvSpPr/>
          <p:nvPr/>
        </p:nvSpPr>
        <p:spPr>
          <a:xfrm>
            <a:off x="640080" y="4736592"/>
            <a:ext cx="566928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ts val="1100"/>
              </a:lnSpc>
              <a:buNone/>
            </a:pPr>
            <a:r>
              <a:rPr lang="en-US" sz="950" b="1" dirty="0">
                <a:solidFill>
                  <a:srgbClr val="4B2E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40</a:t>
            </a:r>
            <a:endParaRPr lang="en-US" sz="950" dirty="0"/>
          </a:p>
          <a:p>
            <a:pPr algn="r" indent="0" marL="0">
              <a:lnSpc>
                <a:spcPts val="1100"/>
              </a:lnSpc>
              <a:buNone/>
            </a:pPr>
            <a:r>
              <a:rPr lang="en-US" sz="650" dirty="0">
                <a:solidFill>
                  <a:srgbClr val="6C63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 5</a:t>
            </a:r>
            <a:endParaRPr lang="en-US" sz="950" dirty="0"/>
          </a:p>
        </p:txBody>
      </p:sp>
      <p:sp>
        <p:nvSpPr>
          <p:cNvPr id="79" name="Shape 77"/>
          <p:cNvSpPr/>
          <p:nvPr/>
        </p:nvSpPr>
        <p:spPr>
          <a:xfrm>
            <a:off x="1325880" y="4736592"/>
            <a:ext cx="615261" cy="585216"/>
          </a:xfrm>
          <a:prstGeom prst="roundRect">
            <a:avLst>
              <a:gd name="adj" fmla="val 781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19050" dir="5400000">
              <a:srgbClr val="150E2E">
                <a:alpha val="6000"/>
              </a:srgbClr>
            </a:outerShdw>
          </a:effectLst>
        </p:spPr>
      </p:sp>
      <p:sp>
        <p:nvSpPr>
          <p:cNvPr id="80" name="Text 78"/>
          <p:cNvSpPr/>
          <p:nvPr/>
        </p:nvSpPr>
        <p:spPr>
          <a:xfrm>
            <a:off x="1380744" y="4754880"/>
            <a:ext cx="505533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E27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</a:t>
            </a:r>
            <a:endParaRPr lang="en-US" sz="900" dirty="0"/>
          </a:p>
        </p:txBody>
      </p:sp>
      <p:sp>
        <p:nvSpPr>
          <p:cNvPr id="81" name="Shape 79"/>
          <p:cNvSpPr/>
          <p:nvPr/>
        </p:nvSpPr>
        <p:spPr>
          <a:xfrm>
            <a:off x="1996005" y="4736592"/>
            <a:ext cx="615261" cy="585216"/>
          </a:xfrm>
          <a:prstGeom prst="roundRect">
            <a:avLst>
              <a:gd name="adj" fmla="val 7813"/>
            </a:avLst>
          </a:prstGeom>
          <a:solidFill>
            <a:srgbClr val="FFEFD1"/>
          </a:solidFill>
          <a:ln/>
        </p:spPr>
      </p:sp>
      <p:sp>
        <p:nvSpPr>
          <p:cNvPr id="82" name="Text 80"/>
          <p:cNvSpPr/>
          <p:nvPr/>
        </p:nvSpPr>
        <p:spPr>
          <a:xfrm>
            <a:off x="2050869" y="4754880"/>
            <a:ext cx="505533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8A5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</a:t>
            </a:r>
            <a:endParaRPr lang="en-US" sz="900" dirty="0"/>
          </a:p>
        </p:txBody>
      </p:sp>
      <p:sp>
        <p:nvSpPr>
          <p:cNvPr id="83" name="Text 81"/>
          <p:cNvSpPr/>
          <p:nvPr/>
        </p:nvSpPr>
        <p:spPr>
          <a:xfrm>
            <a:off x="2041725" y="4937760"/>
            <a:ext cx="52382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800"/>
              </a:lnSpc>
              <a:buNone/>
            </a:pPr>
            <a:r>
              <a:rPr lang="en-US" sz="650" dirty="0">
                <a:solidFill>
                  <a:srgbClr val="8A5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dynamics in society</a:t>
            </a:r>
            <a:endParaRPr lang="en-US" sz="650" dirty="0"/>
          </a:p>
        </p:txBody>
      </p:sp>
      <p:sp>
        <p:nvSpPr>
          <p:cNvPr id="84" name="Shape 82"/>
          <p:cNvSpPr/>
          <p:nvPr/>
        </p:nvSpPr>
        <p:spPr>
          <a:xfrm>
            <a:off x="2666129" y="4736592"/>
            <a:ext cx="615261" cy="585216"/>
          </a:xfrm>
          <a:prstGeom prst="roundRect">
            <a:avLst>
              <a:gd name="adj" fmla="val 7813"/>
            </a:avLst>
          </a:prstGeom>
          <a:solidFill>
            <a:srgbClr val="D6F2EC"/>
          </a:solidFill>
          <a:ln/>
        </p:spPr>
      </p:sp>
      <p:sp>
        <p:nvSpPr>
          <p:cNvPr id="85" name="Text 83"/>
          <p:cNvSpPr/>
          <p:nvPr/>
        </p:nvSpPr>
        <p:spPr>
          <a:xfrm>
            <a:off x="2720993" y="4754880"/>
            <a:ext cx="505533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E6E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</a:t>
            </a:r>
            <a:endParaRPr lang="en-US" sz="900" dirty="0"/>
          </a:p>
        </p:txBody>
      </p:sp>
      <p:sp>
        <p:nvSpPr>
          <p:cNvPr id="86" name="Text 84"/>
          <p:cNvSpPr/>
          <p:nvPr/>
        </p:nvSpPr>
        <p:spPr>
          <a:xfrm>
            <a:off x="2711849" y="4937760"/>
            <a:ext cx="52382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800"/>
              </a:lnSpc>
              <a:buNone/>
            </a:pPr>
            <a:r>
              <a:rPr lang="en-US" sz="650" dirty="0">
                <a:solidFill>
                  <a:srgbClr val="0E6E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 states &amp; big stories</a:t>
            </a:r>
            <a:endParaRPr lang="en-US" sz="650" dirty="0"/>
          </a:p>
        </p:txBody>
      </p:sp>
      <p:sp>
        <p:nvSpPr>
          <p:cNvPr id="87" name="Text 85"/>
          <p:cNvSpPr/>
          <p:nvPr/>
        </p:nvSpPr>
        <p:spPr>
          <a:xfrm>
            <a:off x="6382512" y="137160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50E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October 2026</a:t>
            </a:r>
            <a:endParaRPr lang="en-US" sz="2000" dirty="0"/>
          </a:p>
        </p:txBody>
      </p:sp>
      <p:sp>
        <p:nvSpPr>
          <p:cNvPr id="88" name="Text 86"/>
          <p:cNvSpPr/>
          <p:nvPr/>
        </p:nvSpPr>
        <p:spPr>
          <a:xfrm>
            <a:off x="7040880" y="1828800"/>
            <a:ext cx="67012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spc="40" kern="0" dirty="0">
                <a:solidFill>
                  <a:srgbClr val="6C63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</a:t>
            </a:r>
            <a:endParaRPr lang="en-US" sz="750" dirty="0"/>
          </a:p>
        </p:txBody>
      </p:sp>
      <p:sp>
        <p:nvSpPr>
          <p:cNvPr id="89" name="Text 87"/>
          <p:cNvSpPr/>
          <p:nvPr/>
        </p:nvSpPr>
        <p:spPr>
          <a:xfrm>
            <a:off x="7711005" y="1828800"/>
            <a:ext cx="67012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spc="40" kern="0" dirty="0">
                <a:solidFill>
                  <a:srgbClr val="6C63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TUE</a:t>
            </a:r>
            <a:endParaRPr lang="en-US" sz="750" dirty="0"/>
          </a:p>
        </p:txBody>
      </p:sp>
      <p:sp>
        <p:nvSpPr>
          <p:cNvPr id="90" name="Text 88"/>
          <p:cNvSpPr/>
          <p:nvPr/>
        </p:nvSpPr>
        <p:spPr>
          <a:xfrm>
            <a:off x="8381129" y="1828800"/>
            <a:ext cx="67012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spc="40" kern="0" dirty="0">
                <a:solidFill>
                  <a:srgbClr val="6C63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WED</a:t>
            </a:r>
            <a:endParaRPr lang="en-US" sz="750" dirty="0"/>
          </a:p>
        </p:txBody>
      </p:sp>
      <p:sp>
        <p:nvSpPr>
          <p:cNvPr id="91" name="Text 89"/>
          <p:cNvSpPr/>
          <p:nvPr/>
        </p:nvSpPr>
        <p:spPr>
          <a:xfrm>
            <a:off x="9051254" y="1828800"/>
            <a:ext cx="67012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spc="40" kern="0" dirty="0">
                <a:solidFill>
                  <a:srgbClr val="6C63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THU</a:t>
            </a:r>
            <a:endParaRPr lang="en-US" sz="750" dirty="0"/>
          </a:p>
        </p:txBody>
      </p:sp>
      <p:sp>
        <p:nvSpPr>
          <p:cNvPr id="92" name="Text 90"/>
          <p:cNvSpPr/>
          <p:nvPr/>
        </p:nvSpPr>
        <p:spPr>
          <a:xfrm>
            <a:off x="9721378" y="1828800"/>
            <a:ext cx="67012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spc="40" kern="0" dirty="0">
                <a:solidFill>
                  <a:srgbClr val="6C63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FRI</a:t>
            </a:r>
            <a:endParaRPr lang="en-US" sz="750" dirty="0"/>
          </a:p>
        </p:txBody>
      </p:sp>
      <p:sp>
        <p:nvSpPr>
          <p:cNvPr id="93" name="Text 91"/>
          <p:cNvSpPr/>
          <p:nvPr/>
        </p:nvSpPr>
        <p:spPr>
          <a:xfrm>
            <a:off x="10391503" y="1828800"/>
            <a:ext cx="67012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spc="40" kern="0" dirty="0">
                <a:solidFill>
                  <a:srgbClr val="A79F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</a:t>
            </a:r>
            <a:endParaRPr lang="en-US" sz="750" dirty="0"/>
          </a:p>
        </p:txBody>
      </p:sp>
      <p:sp>
        <p:nvSpPr>
          <p:cNvPr id="94" name="Text 92"/>
          <p:cNvSpPr/>
          <p:nvPr/>
        </p:nvSpPr>
        <p:spPr>
          <a:xfrm>
            <a:off x="11061627" y="1828800"/>
            <a:ext cx="67012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spc="40" kern="0" dirty="0">
                <a:solidFill>
                  <a:srgbClr val="A79F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SUN</a:t>
            </a:r>
            <a:endParaRPr lang="en-US" sz="750" dirty="0"/>
          </a:p>
        </p:txBody>
      </p:sp>
      <p:sp>
        <p:nvSpPr>
          <p:cNvPr id="95" name="Text 93"/>
          <p:cNvSpPr/>
          <p:nvPr/>
        </p:nvSpPr>
        <p:spPr>
          <a:xfrm>
            <a:off x="6382512" y="2103120"/>
            <a:ext cx="566928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ts val="1100"/>
              </a:lnSpc>
              <a:buNone/>
            </a:pPr>
            <a:r>
              <a:rPr lang="en-US" sz="950" b="1" dirty="0">
                <a:solidFill>
                  <a:srgbClr val="9A93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40</a:t>
            </a:r>
            <a:endParaRPr lang="en-US" sz="950" dirty="0"/>
          </a:p>
          <a:p>
            <a:pPr algn="r" indent="0" marL="0">
              <a:lnSpc>
                <a:spcPts val="1100"/>
              </a:lnSpc>
              <a:buNone/>
            </a:pPr>
            <a:endParaRPr lang="en-US" sz="950" dirty="0"/>
          </a:p>
        </p:txBody>
      </p:sp>
      <p:sp>
        <p:nvSpPr>
          <p:cNvPr id="96" name="Shape 94"/>
          <p:cNvSpPr/>
          <p:nvPr/>
        </p:nvSpPr>
        <p:spPr>
          <a:xfrm>
            <a:off x="9078686" y="2103120"/>
            <a:ext cx="615261" cy="585216"/>
          </a:xfrm>
          <a:prstGeom prst="roundRect">
            <a:avLst>
              <a:gd name="adj" fmla="val 781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19050" dir="5400000">
              <a:srgbClr val="150E2E">
                <a:alpha val="6000"/>
              </a:srgbClr>
            </a:outerShdw>
          </a:effectLst>
        </p:spPr>
      </p:sp>
      <p:sp>
        <p:nvSpPr>
          <p:cNvPr id="97" name="Text 95"/>
          <p:cNvSpPr/>
          <p:nvPr/>
        </p:nvSpPr>
        <p:spPr>
          <a:xfrm>
            <a:off x="9133550" y="2121408"/>
            <a:ext cx="505533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E27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  <p:sp>
        <p:nvSpPr>
          <p:cNvPr id="98" name="Shape 96"/>
          <p:cNvSpPr/>
          <p:nvPr/>
        </p:nvSpPr>
        <p:spPr>
          <a:xfrm>
            <a:off x="9748810" y="2103120"/>
            <a:ext cx="615261" cy="585216"/>
          </a:xfrm>
          <a:prstGeom prst="roundRect">
            <a:avLst>
              <a:gd name="adj" fmla="val 781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19050" dir="5400000">
              <a:srgbClr val="150E2E">
                <a:alpha val="6000"/>
              </a:srgbClr>
            </a:outerShdw>
          </a:effectLst>
        </p:spPr>
      </p:sp>
      <p:sp>
        <p:nvSpPr>
          <p:cNvPr id="99" name="Text 97"/>
          <p:cNvSpPr/>
          <p:nvPr/>
        </p:nvSpPr>
        <p:spPr>
          <a:xfrm>
            <a:off x="9803674" y="2121408"/>
            <a:ext cx="505533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E27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sp>
        <p:nvSpPr>
          <p:cNvPr id="100" name="Shape 98"/>
          <p:cNvSpPr/>
          <p:nvPr/>
        </p:nvSpPr>
        <p:spPr>
          <a:xfrm>
            <a:off x="10418935" y="2103120"/>
            <a:ext cx="615261" cy="585216"/>
          </a:xfrm>
          <a:prstGeom prst="roundRect">
            <a:avLst>
              <a:gd name="adj" fmla="val 781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19050" dir="5400000">
              <a:srgbClr val="150E2E">
                <a:alpha val="6000"/>
              </a:srgbClr>
            </a:outerShdw>
          </a:effectLst>
        </p:spPr>
      </p:sp>
      <p:sp>
        <p:nvSpPr>
          <p:cNvPr id="101" name="Text 99"/>
          <p:cNvSpPr/>
          <p:nvPr/>
        </p:nvSpPr>
        <p:spPr>
          <a:xfrm>
            <a:off x="10473799" y="2121408"/>
            <a:ext cx="505533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E27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sp>
        <p:nvSpPr>
          <p:cNvPr id="102" name="Shape 100"/>
          <p:cNvSpPr/>
          <p:nvPr/>
        </p:nvSpPr>
        <p:spPr>
          <a:xfrm>
            <a:off x="11089059" y="2103120"/>
            <a:ext cx="615261" cy="585216"/>
          </a:xfrm>
          <a:prstGeom prst="roundRect">
            <a:avLst>
              <a:gd name="adj" fmla="val 781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19050" dir="5400000">
              <a:srgbClr val="150E2E">
                <a:alpha val="6000"/>
              </a:srgbClr>
            </a:outerShdw>
          </a:effectLst>
        </p:spPr>
      </p:sp>
      <p:sp>
        <p:nvSpPr>
          <p:cNvPr id="103" name="Text 101"/>
          <p:cNvSpPr/>
          <p:nvPr/>
        </p:nvSpPr>
        <p:spPr>
          <a:xfrm>
            <a:off x="11143923" y="2121408"/>
            <a:ext cx="505533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E27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  <p:sp>
        <p:nvSpPr>
          <p:cNvPr id="104" name="Text 102"/>
          <p:cNvSpPr/>
          <p:nvPr/>
        </p:nvSpPr>
        <p:spPr>
          <a:xfrm>
            <a:off x="6382512" y="2761488"/>
            <a:ext cx="566928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ts val="1100"/>
              </a:lnSpc>
              <a:buNone/>
            </a:pPr>
            <a:r>
              <a:rPr lang="en-US" sz="950" b="1" dirty="0">
                <a:solidFill>
                  <a:srgbClr val="4B2E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41</a:t>
            </a:r>
            <a:endParaRPr lang="en-US" sz="950" dirty="0"/>
          </a:p>
          <a:p>
            <a:pPr algn="r" indent="0" marL="0">
              <a:lnSpc>
                <a:spcPts val="1100"/>
              </a:lnSpc>
              <a:buNone/>
            </a:pPr>
            <a:r>
              <a:rPr lang="en-US" sz="650" dirty="0">
                <a:solidFill>
                  <a:srgbClr val="6C63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 6</a:t>
            </a:r>
            <a:endParaRPr lang="en-US" sz="950" dirty="0"/>
          </a:p>
        </p:txBody>
      </p:sp>
      <p:sp>
        <p:nvSpPr>
          <p:cNvPr id="105" name="Shape 103"/>
          <p:cNvSpPr/>
          <p:nvPr/>
        </p:nvSpPr>
        <p:spPr>
          <a:xfrm>
            <a:off x="7068312" y="2761488"/>
            <a:ext cx="615261" cy="585216"/>
          </a:xfrm>
          <a:prstGeom prst="roundRect">
            <a:avLst>
              <a:gd name="adj" fmla="val 781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19050" dir="5400000">
              <a:srgbClr val="150E2E">
                <a:alpha val="6000"/>
              </a:srgbClr>
            </a:outerShdw>
          </a:effectLst>
        </p:spPr>
      </p:sp>
      <p:sp>
        <p:nvSpPr>
          <p:cNvPr id="106" name="Text 104"/>
          <p:cNvSpPr/>
          <p:nvPr/>
        </p:nvSpPr>
        <p:spPr>
          <a:xfrm>
            <a:off x="7123176" y="2779776"/>
            <a:ext cx="505533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E27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  <p:sp>
        <p:nvSpPr>
          <p:cNvPr id="107" name="Shape 105"/>
          <p:cNvSpPr/>
          <p:nvPr/>
        </p:nvSpPr>
        <p:spPr>
          <a:xfrm>
            <a:off x="7738437" y="2761488"/>
            <a:ext cx="615261" cy="585216"/>
          </a:xfrm>
          <a:prstGeom prst="roundRect">
            <a:avLst>
              <a:gd name="adj" fmla="val 7813"/>
            </a:avLst>
          </a:prstGeom>
          <a:solidFill>
            <a:srgbClr val="FFB020"/>
          </a:solidFill>
          <a:ln/>
        </p:spPr>
      </p:sp>
      <p:sp>
        <p:nvSpPr>
          <p:cNvPr id="108" name="Text 106"/>
          <p:cNvSpPr/>
          <p:nvPr/>
        </p:nvSpPr>
        <p:spPr>
          <a:xfrm>
            <a:off x="7793301" y="2779776"/>
            <a:ext cx="505533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50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  <p:sp>
        <p:nvSpPr>
          <p:cNvPr id="109" name="Text 107"/>
          <p:cNvSpPr/>
          <p:nvPr/>
        </p:nvSpPr>
        <p:spPr>
          <a:xfrm>
            <a:off x="7784157" y="2962656"/>
            <a:ext cx="52382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800"/>
              </a:lnSpc>
              <a:buNone/>
            </a:pPr>
            <a:r>
              <a:rPr lang="en-US" sz="650" b="1" dirty="0">
                <a:solidFill>
                  <a:srgbClr val="150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Samling 2</a:t>
            </a:r>
            <a:endParaRPr lang="en-US" sz="650" dirty="0"/>
          </a:p>
        </p:txBody>
      </p:sp>
      <p:sp>
        <p:nvSpPr>
          <p:cNvPr id="110" name="Shape 108"/>
          <p:cNvSpPr/>
          <p:nvPr/>
        </p:nvSpPr>
        <p:spPr>
          <a:xfrm>
            <a:off x="8408561" y="2761488"/>
            <a:ext cx="615261" cy="585216"/>
          </a:xfrm>
          <a:prstGeom prst="roundRect">
            <a:avLst>
              <a:gd name="adj" fmla="val 7813"/>
            </a:avLst>
          </a:prstGeom>
          <a:solidFill>
            <a:srgbClr val="FFB020"/>
          </a:solidFill>
          <a:ln/>
        </p:spPr>
      </p:sp>
      <p:sp>
        <p:nvSpPr>
          <p:cNvPr id="111" name="Text 109"/>
          <p:cNvSpPr/>
          <p:nvPr/>
        </p:nvSpPr>
        <p:spPr>
          <a:xfrm>
            <a:off x="8463425" y="2779776"/>
            <a:ext cx="505533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50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  <p:sp>
        <p:nvSpPr>
          <p:cNvPr id="112" name="Text 110"/>
          <p:cNvSpPr/>
          <p:nvPr/>
        </p:nvSpPr>
        <p:spPr>
          <a:xfrm>
            <a:off x="8454281" y="2962656"/>
            <a:ext cx="52382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800"/>
              </a:lnSpc>
              <a:buNone/>
            </a:pPr>
            <a:r>
              <a:rPr lang="en-US" sz="650" b="1" dirty="0">
                <a:solidFill>
                  <a:srgbClr val="150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Samling 2</a:t>
            </a:r>
            <a:endParaRPr lang="en-US" sz="650" dirty="0"/>
          </a:p>
        </p:txBody>
      </p:sp>
      <p:sp>
        <p:nvSpPr>
          <p:cNvPr id="113" name="Shape 111"/>
          <p:cNvSpPr/>
          <p:nvPr/>
        </p:nvSpPr>
        <p:spPr>
          <a:xfrm>
            <a:off x="9078686" y="2761488"/>
            <a:ext cx="615261" cy="585216"/>
          </a:xfrm>
          <a:prstGeom prst="roundRect">
            <a:avLst>
              <a:gd name="adj" fmla="val 781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19050" dir="5400000">
              <a:srgbClr val="150E2E">
                <a:alpha val="6000"/>
              </a:srgbClr>
            </a:outerShdw>
          </a:effectLst>
        </p:spPr>
      </p:sp>
      <p:sp>
        <p:nvSpPr>
          <p:cNvPr id="114" name="Text 112"/>
          <p:cNvSpPr/>
          <p:nvPr/>
        </p:nvSpPr>
        <p:spPr>
          <a:xfrm>
            <a:off x="9133550" y="2779776"/>
            <a:ext cx="505533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E27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  <p:sp>
        <p:nvSpPr>
          <p:cNvPr id="115" name="Shape 113"/>
          <p:cNvSpPr/>
          <p:nvPr/>
        </p:nvSpPr>
        <p:spPr>
          <a:xfrm>
            <a:off x="9748810" y="2761488"/>
            <a:ext cx="615261" cy="585216"/>
          </a:xfrm>
          <a:prstGeom prst="roundRect">
            <a:avLst>
              <a:gd name="adj" fmla="val 781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19050" dir="5400000">
              <a:srgbClr val="150E2E">
                <a:alpha val="6000"/>
              </a:srgbClr>
            </a:outerShdw>
          </a:effectLst>
        </p:spPr>
      </p:sp>
      <p:sp>
        <p:nvSpPr>
          <p:cNvPr id="116" name="Text 114"/>
          <p:cNvSpPr/>
          <p:nvPr/>
        </p:nvSpPr>
        <p:spPr>
          <a:xfrm>
            <a:off x="9803674" y="2779776"/>
            <a:ext cx="505533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E27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  <p:sp>
        <p:nvSpPr>
          <p:cNvPr id="117" name="Shape 115"/>
          <p:cNvSpPr/>
          <p:nvPr/>
        </p:nvSpPr>
        <p:spPr>
          <a:xfrm>
            <a:off x="10418935" y="2761488"/>
            <a:ext cx="615261" cy="585216"/>
          </a:xfrm>
          <a:prstGeom prst="roundRect">
            <a:avLst>
              <a:gd name="adj" fmla="val 781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19050" dir="5400000">
              <a:srgbClr val="150E2E">
                <a:alpha val="6000"/>
              </a:srgbClr>
            </a:outerShdw>
          </a:effectLst>
        </p:spPr>
      </p:sp>
      <p:sp>
        <p:nvSpPr>
          <p:cNvPr id="118" name="Text 116"/>
          <p:cNvSpPr/>
          <p:nvPr/>
        </p:nvSpPr>
        <p:spPr>
          <a:xfrm>
            <a:off x="10473799" y="2779776"/>
            <a:ext cx="505533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E27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  <p:sp>
        <p:nvSpPr>
          <p:cNvPr id="119" name="Shape 117"/>
          <p:cNvSpPr/>
          <p:nvPr/>
        </p:nvSpPr>
        <p:spPr>
          <a:xfrm>
            <a:off x="11089059" y="2761488"/>
            <a:ext cx="615261" cy="585216"/>
          </a:xfrm>
          <a:prstGeom prst="roundRect">
            <a:avLst>
              <a:gd name="adj" fmla="val 781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19050" dir="5400000">
              <a:srgbClr val="150E2E">
                <a:alpha val="6000"/>
              </a:srgbClr>
            </a:outerShdw>
          </a:effectLst>
        </p:spPr>
      </p:sp>
      <p:sp>
        <p:nvSpPr>
          <p:cNvPr id="120" name="Text 118"/>
          <p:cNvSpPr/>
          <p:nvPr/>
        </p:nvSpPr>
        <p:spPr>
          <a:xfrm>
            <a:off x="11143923" y="2779776"/>
            <a:ext cx="505533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E27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  <p:sp>
        <p:nvSpPr>
          <p:cNvPr id="121" name="Text 119"/>
          <p:cNvSpPr/>
          <p:nvPr/>
        </p:nvSpPr>
        <p:spPr>
          <a:xfrm>
            <a:off x="6382512" y="3419856"/>
            <a:ext cx="566928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ts val="1100"/>
              </a:lnSpc>
              <a:buNone/>
            </a:pPr>
            <a:r>
              <a:rPr lang="en-US" sz="950" b="1" dirty="0">
                <a:solidFill>
                  <a:srgbClr val="4B2E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42</a:t>
            </a:r>
            <a:endParaRPr lang="en-US" sz="950" dirty="0"/>
          </a:p>
          <a:p>
            <a:pPr algn="r" indent="0" marL="0">
              <a:lnSpc>
                <a:spcPts val="1100"/>
              </a:lnSpc>
              <a:buNone/>
            </a:pPr>
            <a:r>
              <a:rPr lang="en-US" sz="650" dirty="0">
                <a:solidFill>
                  <a:srgbClr val="6C63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 7</a:t>
            </a:r>
            <a:endParaRPr lang="en-US" sz="950" dirty="0"/>
          </a:p>
        </p:txBody>
      </p:sp>
      <p:sp>
        <p:nvSpPr>
          <p:cNvPr id="122" name="Shape 120"/>
          <p:cNvSpPr/>
          <p:nvPr/>
        </p:nvSpPr>
        <p:spPr>
          <a:xfrm>
            <a:off x="7068312" y="3419856"/>
            <a:ext cx="615261" cy="585216"/>
          </a:xfrm>
          <a:prstGeom prst="roundRect">
            <a:avLst>
              <a:gd name="adj" fmla="val 781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19050" dir="5400000">
              <a:srgbClr val="150E2E">
                <a:alpha val="6000"/>
              </a:srgbClr>
            </a:outerShdw>
          </a:effectLst>
        </p:spPr>
      </p:sp>
      <p:sp>
        <p:nvSpPr>
          <p:cNvPr id="123" name="Text 121"/>
          <p:cNvSpPr/>
          <p:nvPr/>
        </p:nvSpPr>
        <p:spPr>
          <a:xfrm>
            <a:off x="7123176" y="3438144"/>
            <a:ext cx="505533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E27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  <p:sp>
        <p:nvSpPr>
          <p:cNvPr id="124" name="Shape 122"/>
          <p:cNvSpPr/>
          <p:nvPr/>
        </p:nvSpPr>
        <p:spPr>
          <a:xfrm>
            <a:off x="7738437" y="3419856"/>
            <a:ext cx="615261" cy="585216"/>
          </a:xfrm>
          <a:prstGeom prst="roundRect">
            <a:avLst>
              <a:gd name="adj" fmla="val 7813"/>
            </a:avLst>
          </a:prstGeom>
          <a:solidFill>
            <a:srgbClr val="FFEFD1"/>
          </a:solidFill>
          <a:ln/>
        </p:spPr>
      </p:sp>
      <p:sp>
        <p:nvSpPr>
          <p:cNvPr id="125" name="Text 123"/>
          <p:cNvSpPr/>
          <p:nvPr/>
        </p:nvSpPr>
        <p:spPr>
          <a:xfrm>
            <a:off x="7793301" y="3438144"/>
            <a:ext cx="505533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8A5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  <p:sp>
        <p:nvSpPr>
          <p:cNvPr id="126" name="Text 124"/>
          <p:cNvSpPr/>
          <p:nvPr/>
        </p:nvSpPr>
        <p:spPr>
          <a:xfrm>
            <a:off x="7784157" y="3621024"/>
            <a:ext cx="52382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800"/>
              </a:lnSpc>
              <a:buNone/>
            </a:pPr>
            <a:r>
              <a:rPr lang="en-US" sz="650" dirty="0">
                <a:solidFill>
                  <a:srgbClr val="8A5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World building &amp; pipelines</a:t>
            </a:r>
            <a:endParaRPr lang="en-US" sz="650" dirty="0"/>
          </a:p>
        </p:txBody>
      </p:sp>
      <p:sp>
        <p:nvSpPr>
          <p:cNvPr id="127" name="Shape 125"/>
          <p:cNvSpPr/>
          <p:nvPr/>
        </p:nvSpPr>
        <p:spPr>
          <a:xfrm>
            <a:off x="8408561" y="3419856"/>
            <a:ext cx="615261" cy="585216"/>
          </a:xfrm>
          <a:prstGeom prst="roundRect">
            <a:avLst>
              <a:gd name="adj" fmla="val 7813"/>
            </a:avLst>
          </a:prstGeom>
          <a:solidFill>
            <a:srgbClr val="D6F2EC"/>
          </a:solidFill>
          <a:ln/>
        </p:spPr>
      </p:sp>
      <p:sp>
        <p:nvSpPr>
          <p:cNvPr id="128" name="Text 126"/>
          <p:cNvSpPr/>
          <p:nvPr/>
        </p:nvSpPr>
        <p:spPr>
          <a:xfrm>
            <a:off x="8463425" y="3438144"/>
            <a:ext cx="505533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E6E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  <p:sp>
        <p:nvSpPr>
          <p:cNvPr id="129" name="Text 127"/>
          <p:cNvSpPr/>
          <p:nvPr/>
        </p:nvSpPr>
        <p:spPr>
          <a:xfrm>
            <a:off x="8454281" y="3621024"/>
            <a:ext cx="52382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800"/>
              </a:lnSpc>
              <a:buNone/>
            </a:pPr>
            <a:r>
              <a:rPr lang="en-US" sz="650" dirty="0">
                <a:solidFill>
                  <a:srgbClr val="0E6E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pitch · green-lighting</a:t>
            </a:r>
            <a:endParaRPr lang="en-US" sz="650" dirty="0"/>
          </a:p>
        </p:txBody>
      </p:sp>
      <p:sp>
        <p:nvSpPr>
          <p:cNvPr id="130" name="Shape 128"/>
          <p:cNvSpPr/>
          <p:nvPr/>
        </p:nvSpPr>
        <p:spPr>
          <a:xfrm>
            <a:off x="9078686" y="3419856"/>
            <a:ext cx="615261" cy="585216"/>
          </a:xfrm>
          <a:prstGeom prst="roundRect">
            <a:avLst>
              <a:gd name="adj" fmla="val 781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19050" dir="5400000">
              <a:srgbClr val="150E2E">
                <a:alpha val="6000"/>
              </a:srgbClr>
            </a:outerShdw>
          </a:effectLst>
        </p:spPr>
      </p:sp>
      <p:sp>
        <p:nvSpPr>
          <p:cNvPr id="131" name="Text 129"/>
          <p:cNvSpPr/>
          <p:nvPr/>
        </p:nvSpPr>
        <p:spPr>
          <a:xfrm>
            <a:off x="9133550" y="3438144"/>
            <a:ext cx="505533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E27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  <p:sp>
        <p:nvSpPr>
          <p:cNvPr id="132" name="Shape 130"/>
          <p:cNvSpPr/>
          <p:nvPr/>
        </p:nvSpPr>
        <p:spPr>
          <a:xfrm>
            <a:off x="9748810" y="3419856"/>
            <a:ext cx="615261" cy="585216"/>
          </a:xfrm>
          <a:prstGeom prst="roundRect">
            <a:avLst>
              <a:gd name="adj" fmla="val 781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19050" dir="5400000">
              <a:srgbClr val="150E2E">
                <a:alpha val="6000"/>
              </a:srgbClr>
            </a:outerShdw>
          </a:effectLst>
        </p:spPr>
      </p:sp>
      <p:sp>
        <p:nvSpPr>
          <p:cNvPr id="133" name="Text 131"/>
          <p:cNvSpPr/>
          <p:nvPr/>
        </p:nvSpPr>
        <p:spPr>
          <a:xfrm>
            <a:off x="9803674" y="3438144"/>
            <a:ext cx="505533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E27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00" dirty="0"/>
          </a:p>
        </p:txBody>
      </p:sp>
      <p:sp>
        <p:nvSpPr>
          <p:cNvPr id="134" name="Shape 132"/>
          <p:cNvSpPr/>
          <p:nvPr/>
        </p:nvSpPr>
        <p:spPr>
          <a:xfrm>
            <a:off x="10418935" y="3419856"/>
            <a:ext cx="615261" cy="585216"/>
          </a:xfrm>
          <a:prstGeom prst="roundRect">
            <a:avLst>
              <a:gd name="adj" fmla="val 781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19050" dir="5400000">
              <a:srgbClr val="150E2E">
                <a:alpha val="6000"/>
              </a:srgbClr>
            </a:outerShdw>
          </a:effectLst>
        </p:spPr>
      </p:sp>
      <p:sp>
        <p:nvSpPr>
          <p:cNvPr id="135" name="Text 133"/>
          <p:cNvSpPr/>
          <p:nvPr/>
        </p:nvSpPr>
        <p:spPr>
          <a:xfrm>
            <a:off x="10473799" y="3438144"/>
            <a:ext cx="505533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E27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900" dirty="0"/>
          </a:p>
        </p:txBody>
      </p:sp>
      <p:sp>
        <p:nvSpPr>
          <p:cNvPr id="136" name="Shape 134"/>
          <p:cNvSpPr/>
          <p:nvPr/>
        </p:nvSpPr>
        <p:spPr>
          <a:xfrm>
            <a:off x="11089059" y="3419856"/>
            <a:ext cx="615261" cy="585216"/>
          </a:xfrm>
          <a:prstGeom prst="roundRect">
            <a:avLst>
              <a:gd name="adj" fmla="val 781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19050" dir="5400000">
              <a:srgbClr val="150E2E">
                <a:alpha val="6000"/>
              </a:srgbClr>
            </a:outerShdw>
          </a:effectLst>
        </p:spPr>
      </p:sp>
      <p:sp>
        <p:nvSpPr>
          <p:cNvPr id="137" name="Text 135"/>
          <p:cNvSpPr/>
          <p:nvPr/>
        </p:nvSpPr>
        <p:spPr>
          <a:xfrm>
            <a:off x="11143923" y="3438144"/>
            <a:ext cx="505533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E27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900" dirty="0"/>
          </a:p>
        </p:txBody>
      </p:sp>
      <p:sp>
        <p:nvSpPr>
          <p:cNvPr id="138" name="Text 136"/>
          <p:cNvSpPr/>
          <p:nvPr/>
        </p:nvSpPr>
        <p:spPr>
          <a:xfrm>
            <a:off x="6382512" y="4078224"/>
            <a:ext cx="566928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ts val="1100"/>
              </a:lnSpc>
              <a:buNone/>
            </a:pPr>
            <a:r>
              <a:rPr lang="en-US" sz="950" b="1" dirty="0">
                <a:solidFill>
                  <a:srgbClr val="4B2E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43</a:t>
            </a:r>
            <a:endParaRPr lang="en-US" sz="950" dirty="0"/>
          </a:p>
          <a:p>
            <a:pPr algn="r" indent="0" marL="0">
              <a:lnSpc>
                <a:spcPts val="1100"/>
              </a:lnSpc>
              <a:buNone/>
            </a:pPr>
            <a:r>
              <a:rPr lang="en-US" sz="650" dirty="0">
                <a:solidFill>
                  <a:srgbClr val="6C63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 8</a:t>
            </a:r>
            <a:endParaRPr lang="en-US" sz="950" dirty="0"/>
          </a:p>
        </p:txBody>
      </p:sp>
      <p:sp>
        <p:nvSpPr>
          <p:cNvPr id="139" name="Shape 137"/>
          <p:cNvSpPr/>
          <p:nvPr/>
        </p:nvSpPr>
        <p:spPr>
          <a:xfrm>
            <a:off x="7068312" y="4078224"/>
            <a:ext cx="615261" cy="585216"/>
          </a:xfrm>
          <a:prstGeom prst="roundRect">
            <a:avLst>
              <a:gd name="adj" fmla="val 781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19050" dir="5400000">
              <a:srgbClr val="150E2E">
                <a:alpha val="6000"/>
              </a:srgbClr>
            </a:outerShdw>
          </a:effectLst>
        </p:spPr>
      </p:sp>
      <p:sp>
        <p:nvSpPr>
          <p:cNvPr id="140" name="Text 138"/>
          <p:cNvSpPr/>
          <p:nvPr/>
        </p:nvSpPr>
        <p:spPr>
          <a:xfrm>
            <a:off x="7123176" y="4096512"/>
            <a:ext cx="505533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E27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900" dirty="0"/>
          </a:p>
        </p:txBody>
      </p:sp>
      <p:sp>
        <p:nvSpPr>
          <p:cNvPr id="141" name="Shape 139"/>
          <p:cNvSpPr/>
          <p:nvPr/>
        </p:nvSpPr>
        <p:spPr>
          <a:xfrm>
            <a:off x="7738437" y="4078224"/>
            <a:ext cx="615261" cy="585216"/>
          </a:xfrm>
          <a:prstGeom prst="roundRect">
            <a:avLst>
              <a:gd name="adj" fmla="val 7813"/>
            </a:avLst>
          </a:prstGeom>
          <a:solidFill>
            <a:srgbClr val="FFEFD1"/>
          </a:solidFill>
          <a:ln/>
        </p:spPr>
      </p:sp>
      <p:sp>
        <p:nvSpPr>
          <p:cNvPr id="142" name="Text 140"/>
          <p:cNvSpPr/>
          <p:nvPr/>
        </p:nvSpPr>
        <p:spPr>
          <a:xfrm>
            <a:off x="7793301" y="4096512"/>
            <a:ext cx="505533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8A5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900" dirty="0"/>
          </a:p>
        </p:txBody>
      </p:sp>
      <p:sp>
        <p:nvSpPr>
          <p:cNvPr id="143" name="Text 141"/>
          <p:cNvSpPr/>
          <p:nvPr/>
        </p:nvSpPr>
        <p:spPr>
          <a:xfrm>
            <a:off x="7784157" y="4279392"/>
            <a:ext cx="52382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800"/>
              </a:lnSpc>
              <a:buNone/>
            </a:pPr>
            <a:r>
              <a:rPr lang="en-US" sz="650" dirty="0">
                <a:solidFill>
                  <a:srgbClr val="8A5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Rules &amp; mechanics</a:t>
            </a:r>
            <a:endParaRPr lang="en-US" sz="650" dirty="0"/>
          </a:p>
        </p:txBody>
      </p:sp>
      <p:sp>
        <p:nvSpPr>
          <p:cNvPr id="144" name="Shape 142"/>
          <p:cNvSpPr/>
          <p:nvPr/>
        </p:nvSpPr>
        <p:spPr>
          <a:xfrm>
            <a:off x="8408561" y="4078224"/>
            <a:ext cx="615261" cy="585216"/>
          </a:xfrm>
          <a:prstGeom prst="roundRect">
            <a:avLst>
              <a:gd name="adj" fmla="val 7813"/>
            </a:avLst>
          </a:prstGeom>
          <a:solidFill>
            <a:srgbClr val="D6F2EC"/>
          </a:solidFill>
          <a:ln/>
        </p:spPr>
      </p:sp>
      <p:sp>
        <p:nvSpPr>
          <p:cNvPr id="145" name="Text 143"/>
          <p:cNvSpPr/>
          <p:nvPr/>
        </p:nvSpPr>
        <p:spPr>
          <a:xfrm>
            <a:off x="8463425" y="4096512"/>
            <a:ext cx="505533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E6E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900" dirty="0"/>
          </a:p>
        </p:txBody>
      </p:sp>
      <p:sp>
        <p:nvSpPr>
          <p:cNvPr id="146" name="Text 144"/>
          <p:cNvSpPr/>
          <p:nvPr/>
        </p:nvSpPr>
        <p:spPr>
          <a:xfrm>
            <a:off x="8454281" y="4279392"/>
            <a:ext cx="52382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800"/>
              </a:lnSpc>
              <a:buNone/>
            </a:pPr>
            <a:r>
              <a:rPr lang="en-US" sz="650" dirty="0">
                <a:solidFill>
                  <a:srgbClr val="0E6E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Refining the gears of the game</a:t>
            </a:r>
            <a:endParaRPr lang="en-US" sz="650" dirty="0"/>
          </a:p>
        </p:txBody>
      </p:sp>
      <p:sp>
        <p:nvSpPr>
          <p:cNvPr id="147" name="Shape 145"/>
          <p:cNvSpPr/>
          <p:nvPr/>
        </p:nvSpPr>
        <p:spPr>
          <a:xfrm>
            <a:off x="9078686" y="4078224"/>
            <a:ext cx="615261" cy="585216"/>
          </a:xfrm>
          <a:prstGeom prst="roundRect">
            <a:avLst>
              <a:gd name="adj" fmla="val 781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19050" dir="5400000">
              <a:srgbClr val="150E2E">
                <a:alpha val="6000"/>
              </a:srgbClr>
            </a:outerShdw>
          </a:effectLst>
        </p:spPr>
      </p:sp>
      <p:sp>
        <p:nvSpPr>
          <p:cNvPr id="148" name="Text 146"/>
          <p:cNvSpPr/>
          <p:nvPr/>
        </p:nvSpPr>
        <p:spPr>
          <a:xfrm>
            <a:off x="9133550" y="4096512"/>
            <a:ext cx="505533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E27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900" dirty="0"/>
          </a:p>
        </p:txBody>
      </p:sp>
      <p:sp>
        <p:nvSpPr>
          <p:cNvPr id="149" name="Shape 147"/>
          <p:cNvSpPr/>
          <p:nvPr/>
        </p:nvSpPr>
        <p:spPr>
          <a:xfrm>
            <a:off x="9748810" y="4078224"/>
            <a:ext cx="615261" cy="585216"/>
          </a:xfrm>
          <a:prstGeom prst="roundRect">
            <a:avLst>
              <a:gd name="adj" fmla="val 781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19050" dir="5400000">
              <a:srgbClr val="150E2E">
                <a:alpha val="6000"/>
              </a:srgbClr>
            </a:outerShdw>
          </a:effectLst>
        </p:spPr>
      </p:sp>
      <p:sp>
        <p:nvSpPr>
          <p:cNvPr id="150" name="Text 148"/>
          <p:cNvSpPr/>
          <p:nvPr/>
        </p:nvSpPr>
        <p:spPr>
          <a:xfrm>
            <a:off x="9803674" y="4096512"/>
            <a:ext cx="505533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E27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en-US" sz="900" dirty="0"/>
          </a:p>
        </p:txBody>
      </p:sp>
      <p:sp>
        <p:nvSpPr>
          <p:cNvPr id="151" name="Shape 149"/>
          <p:cNvSpPr/>
          <p:nvPr/>
        </p:nvSpPr>
        <p:spPr>
          <a:xfrm>
            <a:off x="10418935" y="4078224"/>
            <a:ext cx="615261" cy="585216"/>
          </a:xfrm>
          <a:prstGeom prst="roundRect">
            <a:avLst>
              <a:gd name="adj" fmla="val 781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19050" dir="5400000">
              <a:srgbClr val="150E2E">
                <a:alpha val="6000"/>
              </a:srgbClr>
            </a:outerShdw>
          </a:effectLst>
        </p:spPr>
      </p:sp>
      <p:sp>
        <p:nvSpPr>
          <p:cNvPr id="152" name="Text 150"/>
          <p:cNvSpPr/>
          <p:nvPr/>
        </p:nvSpPr>
        <p:spPr>
          <a:xfrm>
            <a:off x="10473799" y="4096512"/>
            <a:ext cx="505533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E27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endParaRPr lang="en-US" sz="900" dirty="0"/>
          </a:p>
        </p:txBody>
      </p:sp>
      <p:sp>
        <p:nvSpPr>
          <p:cNvPr id="153" name="Shape 151"/>
          <p:cNvSpPr/>
          <p:nvPr/>
        </p:nvSpPr>
        <p:spPr>
          <a:xfrm>
            <a:off x="11089059" y="4078224"/>
            <a:ext cx="615261" cy="585216"/>
          </a:xfrm>
          <a:prstGeom prst="roundRect">
            <a:avLst>
              <a:gd name="adj" fmla="val 781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19050" dir="5400000">
              <a:srgbClr val="150E2E">
                <a:alpha val="6000"/>
              </a:srgbClr>
            </a:outerShdw>
          </a:effectLst>
        </p:spPr>
      </p:sp>
      <p:sp>
        <p:nvSpPr>
          <p:cNvPr id="154" name="Text 152"/>
          <p:cNvSpPr/>
          <p:nvPr/>
        </p:nvSpPr>
        <p:spPr>
          <a:xfrm>
            <a:off x="11143923" y="4096512"/>
            <a:ext cx="505533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E27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</a:t>
            </a:r>
            <a:endParaRPr lang="en-US" sz="900" dirty="0"/>
          </a:p>
        </p:txBody>
      </p:sp>
      <p:sp>
        <p:nvSpPr>
          <p:cNvPr id="155" name="Text 153"/>
          <p:cNvSpPr/>
          <p:nvPr/>
        </p:nvSpPr>
        <p:spPr>
          <a:xfrm>
            <a:off x="6382512" y="4736592"/>
            <a:ext cx="566928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ts val="1100"/>
              </a:lnSpc>
              <a:buNone/>
            </a:pPr>
            <a:r>
              <a:rPr lang="en-US" sz="950" b="1" dirty="0">
                <a:solidFill>
                  <a:srgbClr val="4B2E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44</a:t>
            </a:r>
            <a:endParaRPr lang="en-US" sz="950" dirty="0"/>
          </a:p>
          <a:p>
            <a:pPr algn="r" indent="0" marL="0">
              <a:lnSpc>
                <a:spcPts val="1100"/>
              </a:lnSpc>
              <a:buNone/>
            </a:pPr>
            <a:r>
              <a:rPr lang="en-US" sz="650" dirty="0">
                <a:solidFill>
                  <a:srgbClr val="6C63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 9</a:t>
            </a:r>
            <a:endParaRPr lang="en-US" sz="950" dirty="0"/>
          </a:p>
        </p:txBody>
      </p:sp>
      <p:sp>
        <p:nvSpPr>
          <p:cNvPr id="156" name="Shape 154"/>
          <p:cNvSpPr/>
          <p:nvPr/>
        </p:nvSpPr>
        <p:spPr>
          <a:xfrm>
            <a:off x="7068312" y="4736592"/>
            <a:ext cx="615261" cy="585216"/>
          </a:xfrm>
          <a:prstGeom prst="roundRect">
            <a:avLst>
              <a:gd name="adj" fmla="val 781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19050" dir="5400000">
              <a:srgbClr val="150E2E">
                <a:alpha val="6000"/>
              </a:srgbClr>
            </a:outerShdw>
          </a:effectLst>
        </p:spPr>
      </p:sp>
      <p:sp>
        <p:nvSpPr>
          <p:cNvPr id="157" name="Text 155"/>
          <p:cNvSpPr/>
          <p:nvPr/>
        </p:nvSpPr>
        <p:spPr>
          <a:xfrm>
            <a:off x="7123176" y="4754880"/>
            <a:ext cx="505533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E27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</a:t>
            </a:r>
            <a:endParaRPr lang="en-US" sz="900" dirty="0"/>
          </a:p>
        </p:txBody>
      </p:sp>
      <p:sp>
        <p:nvSpPr>
          <p:cNvPr id="158" name="Shape 156"/>
          <p:cNvSpPr/>
          <p:nvPr/>
        </p:nvSpPr>
        <p:spPr>
          <a:xfrm>
            <a:off x="7738437" y="4736592"/>
            <a:ext cx="615261" cy="585216"/>
          </a:xfrm>
          <a:prstGeom prst="roundRect">
            <a:avLst>
              <a:gd name="adj" fmla="val 7813"/>
            </a:avLst>
          </a:prstGeom>
          <a:solidFill>
            <a:srgbClr val="FFEFD1"/>
          </a:solidFill>
          <a:ln/>
        </p:spPr>
      </p:sp>
      <p:sp>
        <p:nvSpPr>
          <p:cNvPr id="159" name="Text 157"/>
          <p:cNvSpPr/>
          <p:nvPr/>
        </p:nvSpPr>
        <p:spPr>
          <a:xfrm>
            <a:off x="7793301" y="4754880"/>
            <a:ext cx="505533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8A5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</a:t>
            </a:r>
            <a:endParaRPr lang="en-US" sz="900" dirty="0"/>
          </a:p>
        </p:txBody>
      </p:sp>
      <p:sp>
        <p:nvSpPr>
          <p:cNvPr id="160" name="Text 158"/>
          <p:cNvSpPr/>
          <p:nvPr/>
        </p:nvSpPr>
        <p:spPr>
          <a:xfrm>
            <a:off x="7784157" y="4937760"/>
            <a:ext cx="52382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800"/>
              </a:lnSpc>
              <a:buNone/>
            </a:pPr>
            <a:r>
              <a:rPr lang="en-US" sz="650" dirty="0">
                <a:solidFill>
                  <a:srgbClr val="8A5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Artistic intentionality</a:t>
            </a:r>
            <a:endParaRPr lang="en-US" sz="650" dirty="0"/>
          </a:p>
        </p:txBody>
      </p:sp>
      <p:sp>
        <p:nvSpPr>
          <p:cNvPr id="161" name="Shape 159"/>
          <p:cNvSpPr/>
          <p:nvPr/>
        </p:nvSpPr>
        <p:spPr>
          <a:xfrm>
            <a:off x="8408561" y="4736592"/>
            <a:ext cx="615261" cy="585216"/>
          </a:xfrm>
          <a:prstGeom prst="roundRect">
            <a:avLst>
              <a:gd name="adj" fmla="val 7813"/>
            </a:avLst>
          </a:prstGeom>
          <a:solidFill>
            <a:srgbClr val="D6F2EC"/>
          </a:solidFill>
          <a:ln/>
        </p:spPr>
      </p:sp>
      <p:sp>
        <p:nvSpPr>
          <p:cNvPr id="162" name="Text 160"/>
          <p:cNvSpPr/>
          <p:nvPr/>
        </p:nvSpPr>
        <p:spPr>
          <a:xfrm>
            <a:off x="8463425" y="4754880"/>
            <a:ext cx="505533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E6E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</a:t>
            </a:r>
            <a:endParaRPr lang="en-US" sz="900" dirty="0"/>
          </a:p>
        </p:txBody>
      </p:sp>
      <p:sp>
        <p:nvSpPr>
          <p:cNvPr id="163" name="Text 161"/>
          <p:cNvSpPr/>
          <p:nvPr/>
        </p:nvSpPr>
        <p:spPr>
          <a:xfrm>
            <a:off x="8454281" y="4937760"/>
            <a:ext cx="52382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800"/>
              </a:lnSpc>
              <a:buNone/>
            </a:pPr>
            <a:r>
              <a:rPr lang="en-US" sz="650" dirty="0">
                <a:solidFill>
                  <a:srgbClr val="0E6E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Artistic intention in context</a:t>
            </a:r>
            <a:endParaRPr lang="en-US" sz="650" dirty="0"/>
          </a:p>
        </p:txBody>
      </p:sp>
      <p:sp>
        <p:nvSpPr>
          <p:cNvPr id="164" name="Shape 162"/>
          <p:cNvSpPr/>
          <p:nvPr/>
        </p:nvSpPr>
        <p:spPr>
          <a:xfrm>
            <a:off x="9078686" y="4736592"/>
            <a:ext cx="615261" cy="585216"/>
          </a:xfrm>
          <a:prstGeom prst="roundRect">
            <a:avLst>
              <a:gd name="adj" fmla="val 781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19050" dir="5400000">
              <a:srgbClr val="150E2E">
                <a:alpha val="6000"/>
              </a:srgbClr>
            </a:outerShdw>
          </a:effectLst>
        </p:spPr>
      </p:sp>
      <p:sp>
        <p:nvSpPr>
          <p:cNvPr id="165" name="Text 163"/>
          <p:cNvSpPr/>
          <p:nvPr/>
        </p:nvSpPr>
        <p:spPr>
          <a:xfrm>
            <a:off x="9133550" y="4754880"/>
            <a:ext cx="505533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E27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</a:t>
            </a:r>
            <a:endParaRPr lang="en-US" sz="900" dirty="0"/>
          </a:p>
        </p:txBody>
      </p:sp>
      <p:sp>
        <p:nvSpPr>
          <p:cNvPr id="166" name="Shape 164"/>
          <p:cNvSpPr/>
          <p:nvPr/>
        </p:nvSpPr>
        <p:spPr>
          <a:xfrm>
            <a:off x="9748810" y="4736592"/>
            <a:ext cx="615261" cy="585216"/>
          </a:xfrm>
          <a:prstGeom prst="roundRect">
            <a:avLst>
              <a:gd name="adj" fmla="val 781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19050" dir="5400000">
              <a:srgbClr val="150E2E">
                <a:alpha val="6000"/>
              </a:srgbClr>
            </a:outerShdw>
          </a:effectLst>
        </p:spPr>
      </p:sp>
      <p:sp>
        <p:nvSpPr>
          <p:cNvPr id="167" name="Text 165"/>
          <p:cNvSpPr/>
          <p:nvPr/>
        </p:nvSpPr>
        <p:spPr>
          <a:xfrm>
            <a:off x="9803674" y="4754880"/>
            <a:ext cx="505533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E27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</a:t>
            </a:r>
            <a:endParaRPr lang="en-US" sz="900" dirty="0"/>
          </a:p>
        </p:txBody>
      </p:sp>
      <p:sp>
        <p:nvSpPr>
          <p:cNvPr id="168" name="Shape 166"/>
          <p:cNvSpPr/>
          <p:nvPr/>
        </p:nvSpPr>
        <p:spPr>
          <a:xfrm>
            <a:off x="10418935" y="4736592"/>
            <a:ext cx="615261" cy="585216"/>
          </a:xfrm>
          <a:prstGeom prst="roundRect">
            <a:avLst>
              <a:gd name="adj" fmla="val 781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19050" dir="5400000">
              <a:srgbClr val="150E2E">
                <a:alpha val="6000"/>
              </a:srgbClr>
            </a:outerShdw>
          </a:effectLst>
        </p:spPr>
      </p:sp>
      <p:sp>
        <p:nvSpPr>
          <p:cNvPr id="169" name="Text 167"/>
          <p:cNvSpPr/>
          <p:nvPr/>
        </p:nvSpPr>
        <p:spPr>
          <a:xfrm>
            <a:off x="10473799" y="4754880"/>
            <a:ext cx="505533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E27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</a:t>
            </a:r>
            <a:endParaRPr lang="en-US" sz="900" dirty="0"/>
          </a:p>
        </p:txBody>
      </p:sp>
      <p:sp>
        <p:nvSpPr>
          <p:cNvPr id="170" name="Shape 168"/>
          <p:cNvSpPr/>
          <p:nvPr/>
        </p:nvSpPr>
        <p:spPr>
          <a:xfrm>
            <a:off x="640080" y="5870448"/>
            <a:ext cx="201168" cy="201168"/>
          </a:xfrm>
          <a:prstGeom prst="roundRect">
            <a:avLst>
              <a:gd name="adj" fmla="val 18182"/>
            </a:avLst>
          </a:prstGeom>
          <a:solidFill>
            <a:srgbClr val="FFB020"/>
          </a:solidFill>
          <a:ln/>
        </p:spPr>
      </p:sp>
      <p:sp>
        <p:nvSpPr>
          <p:cNvPr id="171" name="Text 169"/>
          <p:cNvSpPr/>
          <p:nvPr/>
        </p:nvSpPr>
        <p:spPr>
          <a:xfrm>
            <a:off x="932688" y="5806440"/>
            <a:ext cx="4023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C63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Samling</a:t>
            </a:r>
            <a:endParaRPr lang="en-US" sz="1050" dirty="0"/>
          </a:p>
        </p:txBody>
      </p:sp>
      <p:sp>
        <p:nvSpPr>
          <p:cNvPr id="172" name="Shape 170"/>
          <p:cNvSpPr/>
          <p:nvPr/>
        </p:nvSpPr>
        <p:spPr>
          <a:xfrm>
            <a:off x="2011680" y="5870448"/>
            <a:ext cx="201168" cy="201168"/>
          </a:xfrm>
          <a:prstGeom prst="roundRect">
            <a:avLst>
              <a:gd name="adj" fmla="val 18182"/>
            </a:avLst>
          </a:prstGeom>
          <a:solidFill>
            <a:srgbClr val="FFEFD1"/>
          </a:solidFill>
          <a:ln/>
        </p:spPr>
      </p:sp>
      <p:sp>
        <p:nvSpPr>
          <p:cNvPr id="173" name="Text 171"/>
          <p:cNvSpPr/>
          <p:nvPr/>
        </p:nvSpPr>
        <p:spPr>
          <a:xfrm>
            <a:off x="2304288" y="5806440"/>
            <a:ext cx="4023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C63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Tuesday · lectures &amp; workshops</a:t>
            </a:r>
            <a:endParaRPr lang="en-US" sz="1050" dirty="0"/>
          </a:p>
        </p:txBody>
      </p:sp>
      <p:sp>
        <p:nvSpPr>
          <p:cNvPr id="174" name="Shape 172"/>
          <p:cNvSpPr/>
          <p:nvPr/>
        </p:nvSpPr>
        <p:spPr>
          <a:xfrm>
            <a:off x="4937760" y="5870448"/>
            <a:ext cx="201168" cy="201168"/>
          </a:xfrm>
          <a:prstGeom prst="roundRect">
            <a:avLst>
              <a:gd name="adj" fmla="val 18182"/>
            </a:avLst>
          </a:prstGeom>
          <a:solidFill>
            <a:srgbClr val="D6F2EC"/>
          </a:solidFill>
          <a:ln/>
        </p:spPr>
      </p:sp>
      <p:sp>
        <p:nvSpPr>
          <p:cNvPr id="175" name="Text 173"/>
          <p:cNvSpPr/>
          <p:nvPr/>
        </p:nvSpPr>
        <p:spPr>
          <a:xfrm>
            <a:off x="5230368" y="5806440"/>
            <a:ext cx="4023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C63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Wednesday · consultations, supervisions &amp; studio visits</a:t>
            </a:r>
            <a:endParaRPr lang="en-US" sz="10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6F4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10058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50E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Calendar · November – December 2026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896112"/>
            <a:ext cx="10881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C63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 week falls in calendar week 49 (30 November – 6 December).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640080" y="137160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50E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November 2026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1298448" y="1828800"/>
            <a:ext cx="67012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spc="40" kern="0" dirty="0">
                <a:solidFill>
                  <a:srgbClr val="6C63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1968573" y="1828800"/>
            <a:ext cx="67012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spc="40" kern="0" dirty="0">
                <a:solidFill>
                  <a:srgbClr val="6C63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TUE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2638697" y="1828800"/>
            <a:ext cx="67012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spc="40" kern="0" dirty="0">
                <a:solidFill>
                  <a:srgbClr val="6C63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WED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3308822" y="1828800"/>
            <a:ext cx="67012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spc="40" kern="0" dirty="0">
                <a:solidFill>
                  <a:srgbClr val="6C63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THU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3978946" y="1828800"/>
            <a:ext cx="67012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spc="40" kern="0" dirty="0">
                <a:solidFill>
                  <a:srgbClr val="6C63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FRI</a:t>
            </a:r>
            <a:endParaRPr lang="en-US" sz="750" dirty="0"/>
          </a:p>
        </p:txBody>
      </p:sp>
      <p:sp>
        <p:nvSpPr>
          <p:cNvPr id="10" name="Text 8"/>
          <p:cNvSpPr/>
          <p:nvPr/>
        </p:nvSpPr>
        <p:spPr>
          <a:xfrm>
            <a:off x="4649071" y="1828800"/>
            <a:ext cx="67012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spc="40" kern="0" dirty="0">
                <a:solidFill>
                  <a:srgbClr val="A79F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5319195" y="1828800"/>
            <a:ext cx="67012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spc="40" kern="0" dirty="0">
                <a:solidFill>
                  <a:srgbClr val="A79F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SUN</a:t>
            </a:r>
            <a:endParaRPr lang="en-US" sz="750" dirty="0"/>
          </a:p>
        </p:txBody>
      </p:sp>
      <p:sp>
        <p:nvSpPr>
          <p:cNvPr id="12" name="Text 10"/>
          <p:cNvSpPr/>
          <p:nvPr/>
        </p:nvSpPr>
        <p:spPr>
          <a:xfrm>
            <a:off x="640080" y="2103120"/>
            <a:ext cx="566928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ts val="1100"/>
              </a:lnSpc>
              <a:buNone/>
            </a:pPr>
            <a:r>
              <a:rPr lang="en-US" sz="950" b="1" dirty="0">
                <a:solidFill>
                  <a:srgbClr val="9A93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44</a:t>
            </a:r>
            <a:endParaRPr lang="en-US" sz="950" dirty="0"/>
          </a:p>
          <a:p>
            <a:pPr algn="r" indent="0" marL="0">
              <a:lnSpc>
                <a:spcPts val="1100"/>
              </a:lnSpc>
              <a:buNone/>
            </a:pP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5346627" y="2103120"/>
            <a:ext cx="615261" cy="585216"/>
          </a:xfrm>
          <a:prstGeom prst="roundRect">
            <a:avLst>
              <a:gd name="adj" fmla="val 781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19050" dir="5400000">
              <a:srgbClr val="150E2E">
                <a:alpha val="6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5401491" y="2121408"/>
            <a:ext cx="505533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E27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640080" y="2761488"/>
            <a:ext cx="566928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ts val="1100"/>
              </a:lnSpc>
              <a:buNone/>
            </a:pPr>
            <a:r>
              <a:rPr lang="en-US" sz="950" b="1" dirty="0">
                <a:solidFill>
                  <a:srgbClr val="4B2E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45</a:t>
            </a:r>
            <a:endParaRPr lang="en-US" sz="950" dirty="0"/>
          </a:p>
          <a:p>
            <a:pPr algn="r" indent="0" marL="0">
              <a:lnSpc>
                <a:spcPts val="1100"/>
              </a:lnSpc>
              <a:buNone/>
            </a:pPr>
            <a:r>
              <a:rPr lang="en-US" sz="650" dirty="0">
                <a:solidFill>
                  <a:srgbClr val="6C63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 10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1325880" y="2761488"/>
            <a:ext cx="615261" cy="585216"/>
          </a:xfrm>
          <a:prstGeom prst="roundRect">
            <a:avLst>
              <a:gd name="adj" fmla="val 781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19050" dir="5400000">
              <a:srgbClr val="150E2E">
                <a:alpha val="6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1380744" y="2779776"/>
            <a:ext cx="505533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E27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1996005" y="2761488"/>
            <a:ext cx="615261" cy="585216"/>
          </a:xfrm>
          <a:prstGeom prst="roundRect">
            <a:avLst>
              <a:gd name="adj" fmla="val 7813"/>
            </a:avLst>
          </a:prstGeom>
          <a:solidFill>
            <a:srgbClr val="FFEFD1"/>
          </a:solidFill>
          <a:ln/>
        </p:spPr>
      </p:sp>
      <p:sp>
        <p:nvSpPr>
          <p:cNvPr id="19" name="Text 17"/>
          <p:cNvSpPr/>
          <p:nvPr/>
        </p:nvSpPr>
        <p:spPr>
          <a:xfrm>
            <a:off x="2050869" y="2779776"/>
            <a:ext cx="505533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8A5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2041725" y="2962656"/>
            <a:ext cx="52382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800"/>
              </a:lnSpc>
              <a:buNone/>
            </a:pPr>
            <a:r>
              <a:rPr lang="en-US" sz="650" dirty="0">
                <a:solidFill>
                  <a:srgbClr val="8A5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Game analysis</a:t>
            </a:r>
            <a:endParaRPr lang="en-US" sz="650" dirty="0"/>
          </a:p>
        </p:txBody>
      </p:sp>
      <p:sp>
        <p:nvSpPr>
          <p:cNvPr id="21" name="Shape 19"/>
          <p:cNvSpPr/>
          <p:nvPr/>
        </p:nvSpPr>
        <p:spPr>
          <a:xfrm>
            <a:off x="2666129" y="2761488"/>
            <a:ext cx="615261" cy="585216"/>
          </a:xfrm>
          <a:prstGeom prst="roundRect">
            <a:avLst>
              <a:gd name="adj" fmla="val 7813"/>
            </a:avLst>
          </a:prstGeom>
          <a:solidFill>
            <a:srgbClr val="D6F2EC"/>
          </a:solidFill>
          <a:ln/>
        </p:spPr>
      </p:sp>
      <p:sp>
        <p:nvSpPr>
          <p:cNvPr id="22" name="Text 20"/>
          <p:cNvSpPr/>
          <p:nvPr/>
        </p:nvSpPr>
        <p:spPr>
          <a:xfrm>
            <a:off x="2720993" y="2779776"/>
            <a:ext cx="505533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E6E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2711849" y="2962656"/>
            <a:ext cx="52382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800"/>
              </a:lnSpc>
              <a:buNone/>
            </a:pPr>
            <a:r>
              <a:rPr lang="en-US" sz="650" dirty="0">
                <a:solidFill>
                  <a:srgbClr val="0E6E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Peer-to-peer game reviews</a:t>
            </a:r>
            <a:endParaRPr lang="en-US" sz="650" dirty="0"/>
          </a:p>
        </p:txBody>
      </p:sp>
      <p:sp>
        <p:nvSpPr>
          <p:cNvPr id="24" name="Shape 22"/>
          <p:cNvSpPr/>
          <p:nvPr/>
        </p:nvSpPr>
        <p:spPr>
          <a:xfrm>
            <a:off x="3336254" y="2761488"/>
            <a:ext cx="615261" cy="585216"/>
          </a:xfrm>
          <a:prstGeom prst="roundRect">
            <a:avLst>
              <a:gd name="adj" fmla="val 781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19050" dir="5400000">
              <a:srgbClr val="150E2E">
                <a:alpha val="6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3391118" y="2779776"/>
            <a:ext cx="505533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E27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4006378" y="2761488"/>
            <a:ext cx="615261" cy="585216"/>
          </a:xfrm>
          <a:prstGeom prst="roundRect">
            <a:avLst>
              <a:gd name="adj" fmla="val 781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19050" dir="5400000">
              <a:srgbClr val="150E2E">
                <a:alpha val="6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4061242" y="2779776"/>
            <a:ext cx="505533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E27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4676503" y="2761488"/>
            <a:ext cx="615261" cy="585216"/>
          </a:xfrm>
          <a:prstGeom prst="roundRect">
            <a:avLst>
              <a:gd name="adj" fmla="val 781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19050" dir="5400000">
              <a:srgbClr val="150E2E">
                <a:alpha val="6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4731367" y="2779776"/>
            <a:ext cx="505533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E27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5346627" y="2761488"/>
            <a:ext cx="615261" cy="585216"/>
          </a:xfrm>
          <a:prstGeom prst="roundRect">
            <a:avLst>
              <a:gd name="adj" fmla="val 781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19050" dir="5400000">
              <a:srgbClr val="150E2E">
                <a:alpha val="6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5401491" y="2779776"/>
            <a:ext cx="505533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E27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640080" y="3419856"/>
            <a:ext cx="566928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ts val="1100"/>
              </a:lnSpc>
              <a:buNone/>
            </a:pPr>
            <a:r>
              <a:rPr lang="en-US" sz="950" b="1" dirty="0">
                <a:solidFill>
                  <a:srgbClr val="4B2E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46</a:t>
            </a:r>
            <a:endParaRPr lang="en-US" sz="950" dirty="0"/>
          </a:p>
          <a:p>
            <a:pPr algn="r" indent="0" marL="0">
              <a:lnSpc>
                <a:spcPts val="1100"/>
              </a:lnSpc>
              <a:buNone/>
            </a:pPr>
            <a:r>
              <a:rPr lang="en-US" sz="650" dirty="0">
                <a:solidFill>
                  <a:srgbClr val="6C63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 11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1325880" y="3419856"/>
            <a:ext cx="615261" cy="585216"/>
          </a:xfrm>
          <a:prstGeom prst="roundRect">
            <a:avLst>
              <a:gd name="adj" fmla="val 781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19050" dir="5400000">
              <a:srgbClr val="150E2E">
                <a:alpha val="6000"/>
              </a:srgbClr>
            </a:outerShdw>
          </a:effectLst>
        </p:spPr>
      </p:sp>
      <p:sp>
        <p:nvSpPr>
          <p:cNvPr id="34" name="Text 32"/>
          <p:cNvSpPr/>
          <p:nvPr/>
        </p:nvSpPr>
        <p:spPr>
          <a:xfrm>
            <a:off x="1380744" y="3438144"/>
            <a:ext cx="505533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E27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1996005" y="3419856"/>
            <a:ext cx="615261" cy="585216"/>
          </a:xfrm>
          <a:prstGeom prst="roundRect">
            <a:avLst>
              <a:gd name="adj" fmla="val 7813"/>
            </a:avLst>
          </a:prstGeom>
          <a:solidFill>
            <a:srgbClr val="FFEFD1"/>
          </a:solidFill>
          <a:ln/>
        </p:spPr>
      </p:sp>
      <p:sp>
        <p:nvSpPr>
          <p:cNvPr id="36" name="Text 34"/>
          <p:cNvSpPr/>
          <p:nvPr/>
        </p:nvSpPr>
        <p:spPr>
          <a:xfrm>
            <a:off x="2050869" y="3438144"/>
            <a:ext cx="505533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8A5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2041725" y="3621024"/>
            <a:ext cx="52382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800"/>
              </a:lnSpc>
              <a:buNone/>
            </a:pPr>
            <a:r>
              <a:rPr lang="en-US" sz="650" dirty="0">
                <a:solidFill>
                  <a:srgbClr val="8A5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of student works</a:t>
            </a:r>
            <a:endParaRPr lang="en-US" sz="650" dirty="0"/>
          </a:p>
        </p:txBody>
      </p:sp>
      <p:sp>
        <p:nvSpPr>
          <p:cNvPr id="38" name="Shape 36"/>
          <p:cNvSpPr/>
          <p:nvPr/>
        </p:nvSpPr>
        <p:spPr>
          <a:xfrm>
            <a:off x="2666129" y="3419856"/>
            <a:ext cx="615261" cy="585216"/>
          </a:xfrm>
          <a:prstGeom prst="roundRect">
            <a:avLst>
              <a:gd name="adj" fmla="val 7813"/>
            </a:avLst>
          </a:prstGeom>
          <a:solidFill>
            <a:srgbClr val="D6F2EC"/>
          </a:solidFill>
          <a:ln/>
        </p:spPr>
      </p:sp>
      <p:sp>
        <p:nvSpPr>
          <p:cNvPr id="39" name="Text 37"/>
          <p:cNvSpPr/>
          <p:nvPr/>
        </p:nvSpPr>
        <p:spPr>
          <a:xfrm>
            <a:off x="2720993" y="3438144"/>
            <a:ext cx="505533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E6E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2711849" y="3621024"/>
            <a:ext cx="52382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800"/>
              </a:lnSpc>
              <a:buNone/>
            </a:pPr>
            <a:r>
              <a:rPr lang="en-US" sz="650" dirty="0">
                <a:solidFill>
                  <a:srgbClr val="0E6E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Prototypes &amp; the gears</a:t>
            </a:r>
            <a:endParaRPr lang="en-US" sz="650" dirty="0"/>
          </a:p>
        </p:txBody>
      </p:sp>
      <p:sp>
        <p:nvSpPr>
          <p:cNvPr id="41" name="Shape 39"/>
          <p:cNvSpPr/>
          <p:nvPr/>
        </p:nvSpPr>
        <p:spPr>
          <a:xfrm>
            <a:off x="3336254" y="3419856"/>
            <a:ext cx="615261" cy="585216"/>
          </a:xfrm>
          <a:prstGeom prst="roundRect">
            <a:avLst>
              <a:gd name="adj" fmla="val 781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19050" dir="5400000">
              <a:srgbClr val="150E2E">
                <a:alpha val="6000"/>
              </a:srgbClr>
            </a:outerShdw>
          </a:effectLst>
        </p:spPr>
      </p:sp>
      <p:sp>
        <p:nvSpPr>
          <p:cNvPr id="42" name="Text 40"/>
          <p:cNvSpPr/>
          <p:nvPr/>
        </p:nvSpPr>
        <p:spPr>
          <a:xfrm>
            <a:off x="3391118" y="3438144"/>
            <a:ext cx="505533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E27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4006378" y="3419856"/>
            <a:ext cx="615261" cy="585216"/>
          </a:xfrm>
          <a:prstGeom prst="roundRect">
            <a:avLst>
              <a:gd name="adj" fmla="val 781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19050" dir="5400000">
              <a:srgbClr val="150E2E">
                <a:alpha val="6000"/>
              </a:srgbClr>
            </a:outerShdw>
          </a:effectLst>
        </p:spPr>
      </p:sp>
      <p:sp>
        <p:nvSpPr>
          <p:cNvPr id="44" name="Text 42"/>
          <p:cNvSpPr/>
          <p:nvPr/>
        </p:nvSpPr>
        <p:spPr>
          <a:xfrm>
            <a:off x="4061242" y="3438144"/>
            <a:ext cx="505533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E27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4676503" y="3419856"/>
            <a:ext cx="615261" cy="585216"/>
          </a:xfrm>
          <a:prstGeom prst="roundRect">
            <a:avLst>
              <a:gd name="adj" fmla="val 781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19050" dir="5400000">
              <a:srgbClr val="150E2E">
                <a:alpha val="6000"/>
              </a:srgbClr>
            </a:outerShdw>
          </a:effectLst>
        </p:spPr>
      </p:sp>
      <p:sp>
        <p:nvSpPr>
          <p:cNvPr id="46" name="Text 44"/>
          <p:cNvSpPr/>
          <p:nvPr/>
        </p:nvSpPr>
        <p:spPr>
          <a:xfrm>
            <a:off x="4731367" y="3438144"/>
            <a:ext cx="505533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E27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5346627" y="3419856"/>
            <a:ext cx="615261" cy="585216"/>
          </a:xfrm>
          <a:prstGeom prst="roundRect">
            <a:avLst>
              <a:gd name="adj" fmla="val 781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19050" dir="5400000">
              <a:srgbClr val="150E2E">
                <a:alpha val="6000"/>
              </a:srgbClr>
            </a:outerShdw>
          </a:effectLst>
        </p:spPr>
      </p:sp>
      <p:sp>
        <p:nvSpPr>
          <p:cNvPr id="48" name="Text 46"/>
          <p:cNvSpPr/>
          <p:nvPr/>
        </p:nvSpPr>
        <p:spPr>
          <a:xfrm>
            <a:off x="5401491" y="3438144"/>
            <a:ext cx="505533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E27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640080" y="4078224"/>
            <a:ext cx="566928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ts val="1100"/>
              </a:lnSpc>
              <a:buNone/>
            </a:pPr>
            <a:r>
              <a:rPr lang="en-US" sz="950" b="1" dirty="0">
                <a:solidFill>
                  <a:srgbClr val="4B2E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47</a:t>
            </a:r>
            <a:endParaRPr lang="en-US" sz="950" dirty="0"/>
          </a:p>
          <a:p>
            <a:pPr algn="r" indent="0" marL="0">
              <a:lnSpc>
                <a:spcPts val="1100"/>
              </a:lnSpc>
              <a:buNone/>
            </a:pPr>
            <a:r>
              <a:rPr lang="en-US" sz="650" dirty="0">
                <a:solidFill>
                  <a:srgbClr val="6C63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 12</a:t>
            </a:r>
            <a:endParaRPr lang="en-US" sz="950" dirty="0"/>
          </a:p>
        </p:txBody>
      </p:sp>
      <p:sp>
        <p:nvSpPr>
          <p:cNvPr id="50" name="Shape 48"/>
          <p:cNvSpPr/>
          <p:nvPr/>
        </p:nvSpPr>
        <p:spPr>
          <a:xfrm>
            <a:off x="1325880" y="4078224"/>
            <a:ext cx="615261" cy="585216"/>
          </a:xfrm>
          <a:prstGeom prst="roundRect">
            <a:avLst>
              <a:gd name="adj" fmla="val 781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19050" dir="5400000">
              <a:srgbClr val="150E2E">
                <a:alpha val="6000"/>
              </a:srgbClr>
            </a:outerShdw>
          </a:effectLst>
        </p:spPr>
      </p:sp>
      <p:sp>
        <p:nvSpPr>
          <p:cNvPr id="51" name="Text 49"/>
          <p:cNvSpPr/>
          <p:nvPr/>
        </p:nvSpPr>
        <p:spPr>
          <a:xfrm>
            <a:off x="1380744" y="4096512"/>
            <a:ext cx="505533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E27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00" dirty="0"/>
          </a:p>
        </p:txBody>
      </p:sp>
      <p:sp>
        <p:nvSpPr>
          <p:cNvPr id="52" name="Shape 50"/>
          <p:cNvSpPr/>
          <p:nvPr/>
        </p:nvSpPr>
        <p:spPr>
          <a:xfrm>
            <a:off x="1996005" y="4078224"/>
            <a:ext cx="615261" cy="585216"/>
          </a:xfrm>
          <a:prstGeom prst="roundRect">
            <a:avLst>
              <a:gd name="adj" fmla="val 7813"/>
            </a:avLst>
          </a:prstGeom>
          <a:solidFill>
            <a:srgbClr val="FFB020"/>
          </a:solidFill>
          <a:ln/>
        </p:spPr>
      </p:sp>
      <p:sp>
        <p:nvSpPr>
          <p:cNvPr id="53" name="Text 51"/>
          <p:cNvSpPr/>
          <p:nvPr/>
        </p:nvSpPr>
        <p:spPr>
          <a:xfrm>
            <a:off x="2050869" y="4096512"/>
            <a:ext cx="505533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50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900" dirty="0"/>
          </a:p>
        </p:txBody>
      </p:sp>
      <p:sp>
        <p:nvSpPr>
          <p:cNvPr id="54" name="Text 52"/>
          <p:cNvSpPr/>
          <p:nvPr/>
        </p:nvSpPr>
        <p:spPr>
          <a:xfrm>
            <a:off x="2041725" y="4279392"/>
            <a:ext cx="52382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800"/>
              </a:lnSpc>
              <a:buNone/>
            </a:pPr>
            <a:r>
              <a:rPr lang="en-US" sz="650" b="1" dirty="0">
                <a:solidFill>
                  <a:srgbClr val="150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Samling 3</a:t>
            </a:r>
            <a:endParaRPr lang="en-US" sz="650" dirty="0"/>
          </a:p>
        </p:txBody>
      </p:sp>
      <p:sp>
        <p:nvSpPr>
          <p:cNvPr id="55" name="Shape 53"/>
          <p:cNvSpPr/>
          <p:nvPr/>
        </p:nvSpPr>
        <p:spPr>
          <a:xfrm>
            <a:off x="2666129" y="4078224"/>
            <a:ext cx="615261" cy="585216"/>
          </a:xfrm>
          <a:prstGeom prst="roundRect">
            <a:avLst>
              <a:gd name="adj" fmla="val 7813"/>
            </a:avLst>
          </a:prstGeom>
          <a:solidFill>
            <a:srgbClr val="FFB020"/>
          </a:solidFill>
          <a:ln/>
        </p:spPr>
      </p:sp>
      <p:sp>
        <p:nvSpPr>
          <p:cNvPr id="56" name="Text 54"/>
          <p:cNvSpPr/>
          <p:nvPr/>
        </p:nvSpPr>
        <p:spPr>
          <a:xfrm>
            <a:off x="2720993" y="4096512"/>
            <a:ext cx="505533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50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900" dirty="0"/>
          </a:p>
        </p:txBody>
      </p:sp>
      <p:sp>
        <p:nvSpPr>
          <p:cNvPr id="57" name="Text 55"/>
          <p:cNvSpPr/>
          <p:nvPr/>
        </p:nvSpPr>
        <p:spPr>
          <a:xfrm>
            <a:off x="2711849" y="4279392"/>
            <a:ext cx="52382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800"/>
              </a:lnSpc>
              <a:buNone/>
            </a:pPr>
            <a:r>
              <a:rPr lang="en-US" sz="650" b="1" dirty="0">
                <a:solidFill>
                  <a:srgbClr val="150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Samling 3</a:t>
            </a:r>
            <a:endParaRPr lang="en-US" sz="650" dirty="0"/>
          </a:p>
        </p:txBody>
      </p:sp>
      <p:sp>
        <p:nvSpPr>
          <p:cNvPr id="58" name="Shape 56"/>
          <p:cNvSpPr/>
          <p:nvPr/>
        </p:nvSpPr>
        <p:spPr>
          <a:xfrm>
            <a:off x="3336254" y="4078224"/>
            <a:ext cx="615261" cy="585216"/>
          </a:xfrm>
          <a:prstGeom prst="roundRect">
            <a:avLst>
              <a:gd name="adj" fmla="val 781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19050" dir="5400000">
              <a:srgbClr val="150E2E">
                <a:alpha val="6000"/>
              </a:srgbClr>
            </a:outerShdw>
          </a:effectLst>
        </p:spPr>
      </p:sp>
      <p:sp>
        <p:nvSpPr>
          <p:cNvPr id="59" name="Text 57"/>
          <p:cNvSpPr/>
          <p:nvPr/>
        </p:nvSpPr>
        <p:spPr>
          <a:xfrm>
            <a:off x="3391118" y="4096512"/>
            <a:ext cx="505533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E27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900" dirty="0"/>
          </a:p>
        </p:txBody>
      </p:sp>
      <p:sp>
        <p:nvSpPr>
          <p:cNvPr id="60" name="Shape 58"/>
          <p:cNvSpPr/>
          <p:nvPr/>
        </p:nvSpPr>
        <p:spPr>
          <a:xfrm>
            <a:off x="4006378" y="4078224"/>
            <a:ext cx="615261" cy="585216"/>
          </a:xfrm>
          <a:prstGeom prst="roundRect">
            <a:avLst>
              <a:gd name="adj" fmla="val 781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19050" dir="5400000">
              <a:srgbClr val="150E2E">
                <a:alpha val="6000"/>
              </a:srgbClr>
            </a:outerShdw>
          </a:effectLst>
        </p:spPr>
      </p:sp>
      <p:sp>
        <p:nvSpPr>
          <p:cNvPr id="61" name="Text 59"/>
          <p:cNvSpPr/>
          <p:nvPr/>
        </p:nvSpPr>
        <p:spPr>
          <a:xfrm>
            <a:off x="4061242" y="4096512"/>
            <a:ext cx="505533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E27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900" dirty="0"/>
          </a:p>
        </p:txBody>
      </p:sp>
      <p:sp>
        <p:nvSpPr>
          <p:cNvPr id="62" name="Shape 60"/>
          <p:cNvSpPr/>
          <p:nvPr/>
        </p:nvSpPr>
        <p:spPr>
          <a:xfrm>
            <a:off x="4676503" y="4078224"/>
            <a:ext cx="615261" cy="585216"/>
          </a:xfrm>
          <a:prstGeom prst="roundRect">
            <a:avLst>
              <a:gd name="adj" fmla="val 781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19050" dir="5400000">
              <a:srgbClr val="150E2E">
                <a:alpha val="6000"/>
              </a:srgbClr>
            </a:outerShdw>
          </a:effectLst>
        </p:spPr>
      </p:sp>
      <p:sp>
        <p:nvSpPr>
          <p:cNvPr id="63" name="Text 61"/>
          <p:cNvSpPr/>
          <p:nvPr/>
        </p:nvSpPr>
        <p:spPr>
          <a:xfrm>
            <a:off x="4731367" y="4096512"/>
            <a:ext cx="505533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E27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900" dirty="0"/>
          </a:p>
        </p:txBody>
      </p:sp>
      <p:sp>
        <p:nvSpPr>
          <p:cNvPr id="64" name="Shape 62"/>
          <p:cNvSpPr/>
          <p:nvPr/>
        </p:nvSpPr>
        <p:spPr>
          <a:xfrm>
            <a:off x="5346627" y="4078224"/>
            <a:ext cx="615261" cy="585216"/>
          </a:xfrm>
          <a:prstGeom prst="roundRect">
            <a:avLst>
              <a:gd name="adj" fmla="val 781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19050" dir="5400000">
              <a:srgbClr val="150E2E">
                <a:alpha val="6000"/>
              </a:srgbClr>
            </a:outerShdw>
          </a:effectLst>
        </p:spPr>
      </p:sp>
      <p:sp>
        <p:nvSpPr>
          <p:cNvPr id="65" name="Text 63"/>
          <p:cNvSpPr/>
          <p:nvPr/>
        </p:nvSpPr>
        <p:spPr>
          <a:xfrm>
            <a:off x="5401491" y="4096512"/>
            <a:ext cx="505533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E27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900" dirty="0"/>
          </a:p>
        </p:txBody>
      </p:sp>
      <p:sp>
        <p:nvSpPr>
          <p:cNvPr id="66" name="Text 64"/>
          <p:cNvSpPr/>
          <p:nvPr/>
        </p:nvSpPr>
        <p:spPr>
          <a:xfrm>
            <a:off x="640080" y="4736592"/>
            <a:ext cx="566928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ts val="1100"/>
              </a:lnSpc>
              <a:buNone/>
            </a:pPr>
            <a:r>
              <a:rPr lang="en-US" sz="950" b="1" dirty="0">
                <a:solidFill>
                  <a:srgbClr val="4B2E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48</a:t>
            </a:r>
            <a:endParaRPr lang="en-US" sz="950" dirty="0"/>
          </a:p>
          <a:p>
            <a:pPr algn="r" indent="0" marL="0">
              <a:lnSpc>
                <a:spcPts val="1100"/>
              </a:lnSpc>
              <a:buNone/>
            </a:pPr>
            <a:r>
              <a:rPr lang="en-US" sz="650" dirty="0">
                <a:solidFill>
                  <a:srgbClr val="6C63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 13</a:t>
            </a:r>
            <a:endParaRPr lang="en-US" sz="950" dirty="0"/>
          </a:p>
        </p:txBody>
      </p:sp>
      <p:sp>
        <p:nvSpPr>
          <p:cNvPr id="67" name="Shape 65"/>
          <p:cNvSpPr/>
          <p:nvPr/>
        </p:nvSpPr>
        <p:spPr>
          <a:xfrm>
            <a:off x="1325880" y="4736592"/>
            <a:ext cx="615261" cy="585216"/>
          </a:xfrm>
          <a:prstGeom prst="roundRect">
            <a:avLst>
              <a:gd name="adj" fmla="val 781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19050" dir="5400000">
              <a:srgbClr val="150E2E">
                <a:alpha val="6000"/>
              </a:srgbClr>
            </a:outerShdw>
          </a:effectLst>
        </p:spPr>
      </p:sp>
      <p:sp>
        <p:nvSpPr>
          <p:cNvPr id="68" name="Text 66"/>
          <p:cNvSpPr/>
          <p:nvPr/>
        </p:nvSpPr>
        <p:spPr>
          <a:xfrm>
            <a:off x="1380744" y="4754880"/>
            <a:ext cx="505533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E27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en-US" sz="900" dirty="0"/>
          </a:p>
        </p:txBody>
      </p:sp>
      <p:sp>
        <p:nvSpPr>
          <p:cNvPr id="69" name="Shape 67"/>
          <p:cNvSpPr/>
          <p:nvPr/>
        </p:nvSpPr>
        <p:spPr>
          <a:xfrm>
            <a:off x="1996005" y="4736592"/>
            <a:ext cx="615261" cy="585216"/>
          </a:xfrm>
          <a:prstGeom prst="roundRect">
            <a:avLst>
              <a:gd name="adj" fmla="val 7813"/>
            </a:avLst>
          </a:prstGeom>
          <a:solidFill>
            <a:srgbClr val="FFEFD1"/>
          </a:solidFill>
          <a:ln/>
        </p:spPr>
      </p:sp>
      <p:sp>
        <p:nvSpPr>
          <p:cNvPr id="70" name="Text 68"/>
          <p:cNvSpPr/>
          <p:nvPr/>
        </p:nvSpPr>
        <p:spPr>
          <a:xfrm>
            <a:off x="2050869" y="4754880"/>
            <a:ext cx="505533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8A5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endParaRPr lang="en-US" sz="900" dirty="0"/>
          </a:p>
        </p:txBody>
      </p:sp>
      <p:sp>
        <p:nvSpPr>
          <p:cNvPr id="71" name="Text 69"/>
          <p:cNvSpPr/>
          <p:nvPr/>
        </p:nvSpPr>
        <p:spPr>
          <a:xfrm>
            <a:off x="2041725" y="4937760"/>
            <a:ext cx="52382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800"/>
              </a:lnSpc>
              <a:buNone/>
            </a:pPr>
            <a:r>
              <a:rPr lang="en-US" sz="650" dirty="0">
                <a:solidFill>
                  <a:srgbClr val="8A5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methods &amp; play-testing I</a:t>
            </a:r>
            <a:endParaRPr lang="en-US" sz="650" dirty="0"/>
          </a:p>
        </p:txBody>
      </p:sp>
      <p:sp>
        <p:nvSpPr>
          <p:cNvPr id="72" name="Shape 70"/>
          <p:cNvSpPr/>
          <p:nvPr/>
        </p:nvSpPr>
        <p:spPr>
          <a:xfrm>
            <a:off x="2666129" y="4736592"/>
            <a:ext cx="615261" cy="585216"/>
          </a:xfrm>
          <a:prstGeom prst="roundRect">
            <a:avLst>
              <a:gd name="adj" fmla="val 7813"/>
            </a:avLst>
          </a:prstGeom>
          <a:solidFill>
            <a:srgbClr val="D6F2EC"/>
          </a:solidFill>
          <a:ln/>
        </p:spPr>
      </p:sp>
      <p:sp>
        <p:nvSpPr>
          <p:cNvPr id="73" name="Text 71"/>
          <p:cNvSpPr/>
          <p:nvPr/>
        </p:nvSpPr>
        <p:spPr>
          <a:xfrm>
            <a:off x="2720993" y="4754880"/>
            <a:ext cx="505533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E6E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</a:t>
            </a:r>
            <a:endParaRPr lang="en-US" sz="900" dirty="0"/>
          </a:p>
        </p:txBody>
      </p:sp>
      <p:sp>
        <p:nvSpPr>
          <p:cNvPr id="74" name="Text 72"/>
          <p:cNvSpPr/>
          <p:nvPr/>
        </p:nvSpPr>
        <p:spPr>
          <a:xfrm>
            <a:off x="2711849" y="4937760"/>
            <a:ext cx="52382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800"/>
              </a:lnSpc>
              <a:buNone/>
            </a:pPr>
            <a:r>
              <a:rPr lang="en-US" sz="650" dirty="0">
                <a:solidFill>
                  <a:srgbClr val="0E6E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Play-throughs &amp; testing I</a:t>
            </a:r>
            <a:endParaRPr lang="en-US" sz="650" dirty="0"/>
          </a:p>
        </p:txBody>
      </p:sp>
      <p:sp>
        <p:nvSpPr>
          <p:cNvPr id="75" name="Shape 73"/>
          <p:cNvSpPr/>
          <p:nvPr/>
        </p:nvSpPr>
        <p:spPr>
          <a:xfrm>
            <a:off x="3336254" y="4736592"/>
            <a:ext cx="615261" cy="585216"/>
          </a:xfrm>
          <a:prstGeom prst="roundRect">
            <a:avLst>
              <a:gd name="adj" fmla="val 781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19050" dir="5400000">
              <a:srgbClr val="150E2E">
                <a:alpha val="6000"/>
              </a:srgbClr>
            </a:outerShdw>
          </a:effectLst>
        </p:spPr>
      </p:sp>
      <p:sp>
        <p:nvSpPr>
          <p:cNvPr id="76" name="Text 74"/>
          <p:cNvSpPr/>
          <p:nvPr/>
        </p:nvSpPr>
        <p:spPr>
          <a:xfrm>
            <a:off x="3391118" y="4754880"/>
            <a:ext cx="505533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E27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</a:t>
            </a:r>
            <a:endParaRPr lang="en-US" sz="900" dirty="0"/>
          </a:p>
        </p:txBody>
      </p:sp>
      <p:sp>
        <p:nvSpPr>
          <p:cNvPr id="77" name="Shape 75"/>
          <p:cNvSpPr/>
          <p:nvPr/>
        </p:nvSpPr>
        <p:spPr>
          <a:xfrm>
            <a:off x="4006378" y="4736592"/>
            <a:ext cx="615261" cy="585216"/>
          </a:xfrm>
          <a:prstGeom prst="roundRect">
            <a:avLst>
              <a:gd name="adj" fmla="val 781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19050" dir="5400000">
              <a:srgbClr val="150E2E">
                <a:alpha val="6000"/>
              </a:srgbClr>
            </a:outerShdw>
          </a:effectLst>
        </p:spPr>
      </p:sp>
      <p:sp>
        <p:nvSpPr>
          <p:cNvPr id="78" name="Text 76"/>
          <p:cNvSpPr/>
          <p:nvPr/>
        </p:nvSpPr>
        <p:spPr>
          <a:xfrm>
            <a:off x="4061242" y="4754880"/>
            <a:ext cx="505533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E27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</a:t>
            </a:r>
            <a:endParaRPr lang="en-US" sz="900" dirty="0"/>
          </a:p>
        </p:txBody>
      </p:sp>
      <p:sp>
        <p:nvSpPr>
          <p:cNvPr id="79" name="Shape 77"/>
          <p:cNvSpPr/>
          <p:nvPr/>
        </p:nvSpPr>
        <p:spPr>
          <a:xfrm>
            <a:off x="4676503" y="4736592"/>
            <a:ext cx="615261" cy="585216"/>
          </a:xfrm>
          <a:prstGeom prst="roundRect">
            <a:avLst>
              <a:gd name="adj" fmla="val 781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19050" dir="5400000">
              <a:srgbClr val="150E2E">
                <a:alpha val="6000"/>
              </a:srgbClr>
            </a:outerShdw>
          </a:effectLst>
        </p:spPr>
      </p:sp>
      <p:sp>
        <p:nvSpPr>
          <p:cNvPr id="80" name="Text 78"/>
          <p:cNvSpPr/>
          <p:nvPr/>
        </p:nvSpPr>
        <p:spPr>
          <a:xfrm>
            <a:off x="4731367" y="4754880"/>
            <a:ext cx="505533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E27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</a:t>
            </a:r>
            <a:endParaRPr lang="en-US" sz="900" dirty="0"/>
          </a:p>
        </p:txBody>
      </p:sp>
      <p:sp>
        <p:nvSpPr>
          <p:cNvPr id="81" name="Shape 79"/>
          <p:cNvSpPr/>
          <p:nvPr/>
        </p:nvSpPr>
        <p:spPr>
          <a:xfrm>
            <a:off x="5346627" y="4736592"/>
            <a:ext cx="615261" cy="585216"/>
          </a:xfrm>
          <a:prstGeom prst="roundRect">
            <a:avLst>
              <a:gd name="adj" fmla="val 781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19050" dir="5400000">
              <a:srgbClr val="150E2E">
                <a:alpha val="6000"/>
              </a:srgbClr>
            </a:outerShdw>
          </a:effectLst>
        </p:spPr>
      </p:sp>
      <p:sp>
        <p:nvSpPr>
          <p:cNvPr id="82" name="Text 80"/>
          <p:cNvSpPr/>
          <p:nvPr/>
        </p:nvSpPr>
        <p:spPr>
          <a:xfrm>
            <a:off x="5401491" y="4754880"/>
            <a:ext cx="505533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E27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</a:t>
            </a:r>
            <a:endParaRPr lang="en-US" sz="900" dirty="0"/>
          </a:p>
        </p:txBody>
      </p:sp>
      <p:sp>
        <p:nvSpPr>
          <p:cNvPr id="83" name="Text 81"/>
          <p:cNvSpPr/>
          <p:nvPr/>
        </p:nvSpPr>
        <p:spPr>
          <a:xfrm>
            <a:off x="640080" y="5394960"/>
            <a:ext cx="566928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ts val="1100"/>
              </a:lnSpc>
              <a:buNone/>
            </a:pPr>
            <a:r>
              <a:rPr lang="en-US" sz="950" b="1" dirty="0">
                <a:solidFill>
                  <a:srgbClr val="9A93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49</a:t>
            </a:r>
            <a:endParaRPr lang="en-US" sz="950" dirty="0"/>
          </a:p>
          <a:p>
            <a:pPr algn="r" indent="0" marL="0">
              <a:lnSpc>
                <a:spcPts val="1100"/>
              </a:lnSpc>
              <a:buNone/>
            </a:pPr>
            <a:endParaRPr lang="en-US" sz="950" dirty="0"/>
          </a:p>
        </p:txBody>
      </p:sp>
      <p:sp>
        <p:nvSpPr>
          <p:cNvPr id="84" name="Shape 82"/>
          <p:cNvSpPr/>
          <p:nvPr/>
        </p:nvSpPr>
        <p:spPr>
          <a:xfrm>
            <a:off x="1325880" y="5394960"/>
            <a:ext cx="615261" cy="585216"/>
          </a:xfrm>
          <a:prstGeom prst="roundRect">
            <a:avLst>
              <a:gd name="adj" fmla="val 781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19050" dir="5400000">
              <a:srgbClr val="150E2E">
                <a:alpha val="6000"/>
              </a:srgbClr>
            </a:outerShdw>
          </a:effectLst>
        </p:spPr>
      </p:sp>
      <p:sp>
        <p:nvSpPr>
          <p:cNvPr id="85" name="Text 83"/>
          <p:cNvSpPr/>
          <p:nvPr/>
        </p:nvSpPr>
        <p:spPr>
          <a:xfrm>
            <a:off x="1380744" y="5413248"/>
            <a:ext cx="505533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E27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</a:t>
            </a:r>
            <a:endParaRPr lang="en-US" sz="900" dirty="0"/>
          </a:p>
        </p:txBody>
      </p:sp>
      <p:sp>
        <p:nvSpPr>
          <p:cNvPr id="86" name="Text 84"/>
          <p:cNvSpPr/>
          <p:nvPr/>
        </p:nvSpPr>
        <p:spPr>
          <a:xfrm>
            <a:off x="6382512" y="137160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50E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December 2026</a:t>
            </a:r>
            <a:endParaRPr lang="en-US" sz="2000" dirty="0"/>
          </a:p>
        </p:txBody>
      </p:sp>
      <p:sp>
        <p:nvSpPr>
          <p:cNvPr id="87" name="Text 85"/>
          <p:cNvSpPr/>
          <p:nvPr/>
        </p:nvSpPr>
        <p:spPr>
          <a:xfrm>
            <a:off x="7040880" y="1828800"/>
            <a:ext cx="67012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spc="40" kern="0" dirty="0">
                <a:solidFill>
                  <a:srgbClr val="6C63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</a:t>
            </a:r>
            <a:endParaRPr lang="en-US" sz="750" dirty="0"/>
          </a:p>
        </p:txBody>
      </p:sp>
      <p:sp>
        <p:nvSpPr>
          <p:cNvPr id="88" name="Text 86"/>
          <p:cNvSpPr/>
          <p:nvPr/>
        </p:nvSpPr>
        <p:spPr>
          <a:xfrm>
            <a:off x="7711005" y="1828800"/>
            <a:ext cx="67012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spc="40" kern="0" dirty="0">
                <a:solidFill>
                  <a:srgbClr val="6C63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TUE</a:t>
            </a:r>
            <a:endParaRPr lang="en-US" sz="750" dirty="0"/>
          </a:p>
        </p:txBody>
      </p:sp>
      <p:sp>
        <p:nvSpPr>
          <p:cNvPr id="89" name="Text 87"/>
          <p:cNvSpPr/>
          <p:nvPr/>
        </p:nvSpPr>
        <p:spPr>
          <a:xfrm>
            <a:off x="8381129" y="1828800"/>
            <a:ext cx="67012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spc="40" kern="0" dirty="0">
                <a:solidFill>
                  <a:srgbClr val="6C63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WED</a:t>
            </a:r>
            <a:endParaRPr lang="en-US" sz="750" dirty="0"/>
          </a:p>
        </p:txBody>
      </p:sp>
      <p:sp>
        <p:nvSpPr>
          <p:cNvPr id="90" name="Text 88"/>
          <p:cNvSpPr/>
          <p:nvPr/>
        </p:nvSpPr>
        <p:spPr>
          <a:xfrm>
            <a:off x="9051254" y="1828800"/>
            <a:ext cx="67012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spc="40" kern="0" dirty="0">
                <a:solidFill>
                  <a:srgbClr val="6C63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THU</a:t>
            </a:r>
            <a:endParaRPr lang="en-US" sz="750" dirty="0"/>
          </a:p>
        </p:txBody>
      </p:sp>
      <p:sp>
        <p:nvSpPr>
          <p:cNvPr id="91" name="Text 89"/>
          <p:cNvSpPr/>
          <p:nvPr/>
        </p:nvSpPr>
        <p:spPr>
          <a:xfrm>
            <a:off x="9721378" y="1828800"/>
            <a:ext cx="67012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spc="40" kern="0" dirty="0">
                <a:solidFill>
                  <a:srgbClr val="6C63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FRI</a:t>
            </a:r>
            <a:endParaRPr lang="en-US" sz="750" dirty="0"/>
          </a:p>
        </p:txBody>
      </p:sp>
      <p:sp>
        <p:nvSpPr>
          <p:cNvPr id="92" name="Text 90"/>
          <p:cNvSpPr/>
          <p:nvPr/>
        </p:nvSpPr>
        <p:spPr>
          <a:xfrm>
            <a:off x="10391503" y="1828800"/>
            <a:ext cx="67012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spc="40" kern="0" dirty="0">
                <a:solidFill>
                  <a:srgbClr val="A79F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</a:t>
            </a:r>
            <a:endParaRPr lang="en-US" sz="750" dirty="0"/>
          </a:p>
        </p:txBody>
      </p:sp>
      <p:sp>
        <p:nvSpPr>
          <p:cNvPr id="93" name="Text 91"/>
          <p:cNvSpPr/>
          <p:nvPr/>
        </p:nvSpPr>
        <p:spPr>
          <a:xfrm>
            <a:off x="11061627" y="1828800"/>
            <a:ext cx="67012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spc="40" kern="0" dirty="0">
                <a:solidFill>
                  <a:srgbClr val="A79F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SUN</a:t>
            </a:r>
            <a:endParaRPr lang="en-US" sz="750" dirty="0"/>
          </a:p>
        </p:txBody>
      </p:sp>
      <p:sp>
        <p:nvSpPr>
          <p:cNvPr id="94" name="Text 92"/>
          <p:cNvSpPr/>
          <p:nvPr/>
        </p:nvSpPr>
        <p:spPr>
          <a:xfrm>
            <a:off x="6382512" y="2103120"/>
            <a:ext cx="566928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ts val="1100"/>
              </a:lnSpc>
              <a:buNone/>
            </a:pPr>
            <a:r>
              <a:rPr lang="en-US" sz="950" b="1" dirty="0">
                <a:solidFill>
                  <a:srgbClr val="4B2E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49</a:t>
            </a:r>
            <a:endParaRPr lang="en-US" sz="950" dirty="0"/>
          </a:p>
          <a:p>
            <a:pPr algn="r" indent="0" marL="0">
              <a:lnSpc>
                <a:spcPts val="1100"/>
              </a:lnSpc>
              <a:buNone/>
            </a:pPr>
            <a:r>
              <a:rPr lang="en-US" sz="650" b="1" dirty="0">
                <a:solidFill>
                  <a:srgbClr val="0E6E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 14 · exam</a:t>
            </a:r>
            <a:endParaRPr lang="en-US" sz="950" dirty="0"/>
          </a:p>
        </p:txBody>
      </p:sp>
      <p:sp>
        <p:nvSpPr>
          <p:cNvPr id="95" name="Shape 93"/>
          <p:cNvSpPr/>
          <p:nvPr/>
        </p:nvSpPr>
        <p:spPr>
          <a:xfrm>
            <a:off x="7738437" y="2103120"/>
            <a:ext cx="615261" cy="585216"/>
          </a:xfrm>
          <a:prstGeom prst="roundRect">
            <a:avLst>
              <a:gd name="adj" fmla="val 7813"/>
            </a:avLst>
          </a:prstGeom>
          <a:solidFill>
            <a:srgbClr val="FFEFD1"/>
          </a:solidFill>
          <a:ln/>
        </p:spPr>
      </p:sp>
      <p:sp>
        <p:nvSpPr>
          <p:cNvPr id="96" name="Text 94"/>
          <p:cNvSpPr/>
          <p:nvPr/>
        </p:nvSpPr>
        <p:spPr>
          <a:xfrm>
            <a:off x="7793301" y="2121408"/>
            <a:ext cx="505533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8A5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  <p:sp>
        <p:nvSpPr>
          <p:cNvPr id="97" name="Text 95"/>
          <p:cNvSpPr/>
          <p:nvPr/>
        </p:nvSpPr>
        <p:spPr>
          <a:xfrm>
            <a:off x="7784157" y="2304288"/>
            <a:ext cx="52382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800"/>
              </a:lnSpc>
              <a:buNone/>
            </a:pPr>
            <a:r>
              <a:rPr lang="en-US" sz="650" dirty="0">
                <a:solidFill>
                  <a:srgbClr val="8A5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methods &amp; play-testing II</a:t>
            </a:r>
            <a:endParaRPr lang="en-US" sz="650" dirty="0"/>
          </a:p>
        </p:txBody>
      </p:sp>
      <p:sp>
        <p:nvSpPr>
          <p:cNvPr id="98" name="Shape 96"/>
          <p:cNvSpPr/>
          <p:nvPr/>
        </p:nvSpPr>
        <p:spPr>
          <a:xfrm>
            <a:off x="8408561" y="2103120"/>
            <a:ext cx="615261" cy="585216"/>
          </a:xfrm>
          <a:prstGeom prst="roundRect">
            <a:avLst>
              <a:gd name="adj" fmla="val 7813"/>
            </a:avLst>
          </a:prstGeom>
          <a:solidFill>
            <a:srgbClr val="D6F2EC"/>
          </a:solidFill>
          <a:ln/>
        </p:spPr>
      </p:sp>
      <p:sp>
        <p:nvSpPr>
          <p:cNvPr id="99" name="Text 97"/>
          <p:cNvSpPr/>
          <p:nvPr/>
        </p:nvSpPr>
        <p:spPr>
          <a:xfrm>
            <a:off x="8463425" y="2121408"/>
            <a:ext cx="505533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E6E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sp>
        <p:nvSpPr>
          <p:cNvPr id="100" name="Text 98"/>
          <p:cNvSpPr/>
          <p:nvPr/>
        </p:nvSpPr>
        <p:spPr>
          <a:xfrm>
            <a:off x="8454281" y="2304288"/>
            <a:ext cx="52382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800"/>
              </a:lnSpc>
              <a:buNone/>
            </a:pPr>
            <a:r>
              <a:rPr lang="en-US" sz="650" dirty="0">
                <a:solidFill>
                  <a:srgbClr val="0E6E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Play-throughs &amp; testing II</a:t>
            </a:r>
            <a:endParaRPr lang="en-US" sz="650" dirty="0"/>
          </a:p>
        </p:txBody>
      </p:sp>
      <p:sp>
        <p:nvSpPr>
          <p:cNvPr id="101" name="Shape 99"/>
          <p:cNvSpPr/>
          <p:nvPr/>
        </p:nvSpPr>
        <p:spPr>
          <a:xfrm>
            <a:off x="9078686" y="2103120"/>
            <a:ext cx="615261" cy="585216"/>
          </a:xfrm>
          <a:prstGeom prst="roundRect">
            <a:avLst>
              <a:gd name="adj" fmla="val 781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19050" dir="5400000">
              <a:srgbClr val="150E2E">
                <a:alpha val="6000"/>
              </a:srgbClr>
            </a:outerShdw>
          </a:effectLst>
        </p:spPr>
      </p:sp>
      <p:sp>
        <p:nvSpPr>
          <p:cNvPr id="102" name="Text 100"/>
          <p:cNvSpPr/>
          <p:nvPr/>
        </p:nvSpPr>
        <p:spPr>
          <a:xfrm>
            <a:off x="9133550" y="2121408"/>
            <a:ext cx="505533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E27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sp>
        <p:nvSpPr>
          <p:cNvPr id="103" name="Shape 101"/>
          <p:cNvSpPr/>
          <p:nvPr/>
        </p:nvSpPr>
        <p:spPr>
          <a:xfrm>
            <a:off x="9748810" y="2103120"/>
            <a:ext cx="615261" cy="585216"/>
          </a:xfrm>
          <a:prstGeom prst="roundRect">
            <a:avLst>
              <a:gd name="adj" fmla="val 781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19050" dir="5400000">
              <a:srgbClr val="150E2E">
                <a:alpha val="6000"/>
              </a:srgbClr>
            </a:outerShdw>
          </a:effectLst>
        </p:spPr>
      </p:sp>
      <p:sp>
        <p:nvSpPr>
          <p:cNvPr id="104" name="Text 102"/>
          <p:cNvSpPr/>
          <p:nvPr/>
        </p:nvSpPr>
        <p:spPr>
          <a:xfrm>
            <a:off x="9803674" y="2121408"/>
            <a:ext cx="505533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E27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  <p:sp>
        <p:nvSpPr>
          <p:cNvPr id="105" name="Shape 103"/>
          <p:cNvSpPr/>
          <p:nvPr/>
        </p:nvSpPr>
        <p:spPr>
          <a:xfrm>
            <a:off x="10418935" y="2103120"/>
            <a:ext cx="615261" cy="585216"/>
          </a:xfrm>
          <a:prstGeom prst="roundRect">
            <a:avLst>
              <a:gd name="adj" fmla="val 781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19050" dir="5400000">
              <a:srgbClr val="150E2E">
                <a:alpha val="6000"/>
              </a:srgbClr>
            </a:outerShdw>
          </a:effectLst>
        </p:spPr>
      </p:sp>
      <p:sp>
        <p:nvSpPr>
          <p:cNvPr id="106" name="Text 104"/>
          <p:cNvSpPr/>
          <p:nvPr/>
        </p:nvSpPr>
        <p:spPr>
          <a:xfrm>
            <a:off x="10473799" y="2121408"/>
            <a:ext cx="505533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E27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  <p:sp>
        <p:nvSpPr>
          <p:cNvPr id="107" name="Shape 105"/>
          <p:cNvSpPr/>
          <p:nvPr/>
        </p:nvSpPr>
        <p:spPr>
          <a:xfrm>
            <a:off x="11089059" y="2103120"/>
            <a:ext cx="615261" cy="585216"/>
          </a:xfrm>
          <a:prstGeom prst="roundRect">
            <a:avLst>
              <a:gd name="adj" fmla="val 781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19050" dir="5400000">
              <a:srgbClr val="150E2E">
                <a:alpha val="6000"/>
              </a:srgbClr>
            </a:outerShdw>
          </a:effectLst>
        </p:spPr>
      </p:sp>
      <p:sp>
        <p:nvSpPr>
          <p:cNvPr id="108" name="Text 106"/>
          <p:cNvSpPr/>
          <p:nvPr/>
        </p:nvSpPr>
        <p:spPr>
          <a:xfrm>
            <a:off x="11143923" y="2121408"/>
            <a:ext cx="505533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E27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  <p:sp>
        <p:nvSpPr>
          <p:cNvPr id="109" name="Text 107"/>
          <p:cNvSpPr/>
          <p:nvPr/>
        </p:nvSpPr>
        <p:spPr>
          <a:xfrm>
            <a:off x="6382512" y="2761488"/>
            <a:ext cx="566928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ts val="1100"/>
              </a:lnSpc>
              <a:buNone/>
            </a:pPr>
            <a:r>
              <a:rPr lang="en-US" sz="950" b="1" dirty="0">
                <a:solidFill>
                  <a:srgbClr val="4B2E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50</a:t>
            </a:r>
            <a:endParaRPr lang="en-US" sz="950" dirty="0"/>
          </a:p>
          <a:p>
            <a:pPr algn="r" indent="0" marL="0">
              <a:lnSpc>
                <a:spcPts val="1100"/>
              </a:lnSpc>
              <a:buNone/>
            </a:pPr>
            <a:r>
              <a:rPr lang="en-US" sz="650" dirty="0">
                <a:solidFill>
                  <a:srgbClr val="6C63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 15</a:t>
            </a:r>
            <a:endParaRPr lang="en-US" sz="950" dirty="0"/>
          </a:p>
        </p:txBody>
      </p:sp>
      <p:sp>
        <p:nvSpPr>
          <p:cNvPr id="110" name="Shape 108"/>
          <p:cNvSpPr/>
          <p:nvPr/>
        </p:nvSpPr>
        <p:spPr>
          <a:xfrm>
            <a:off x="7068312" y="2761488"/>
            <a:ext cx="615261" cy="585216"/>
          </a:xfrm>
          <a:prstGeom prst="roundRect">
            <a:avLst>
              <a:gd name="adj" fmla="val 781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19050" dir="5400000">
              <a:srgbClr val="150E2E">
                <a:alpha val="6000"/>
              </a:srgbClr>
            </a:outerShdw>
          </a:effectLst>
        </p:spPr>
      </p:sp>
      <p:sp>
        <p:nvSpPr>
          <p:cNvPr id="111" name="Text 109"/>
          <p:cNvSpPr/>
          <p:nvPr/>
        </p:nvSpPr>
        <p:spPr>
          <a:xfrm>
            <a:off x="7123176" y="2779776"/>
            <a:ext cx="505533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E27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  <p:sp>
        <p:nvSpPr>
          <p:cNvPr id="112" name="Shape 110"/>
          <p:cNvSpPr/>
          <p:nvPr/>
        </p:nvSpPr>
        <p:spPr>
          <a:xfrm>
            <a:off x="7738437" y="2761488"/>
            <a:ext cx="615261" cy="585216"/>
          </a:xfrm>
          <a:prstGeom prst="roundRect">
            <a:avLst>
              <a:gd name="adj" fmla="val 7813"/>
            </a:avLst>
          </a:prstGeom>
          <a:solidFill>
            <a:srgbClr val="FFB020"/>
          </a:solidFill>
          <a:ln/>
        </p:spPr>
      </p:sp>
      <p:sp>
        <p:nvSpPr>
          <p:cNvPr id="113" name="Text 111"/>
          <p:cNvSpPr/>
          <p:nvPr/>
        </p:nvSpPr>
        <p:spPr>
          <a:xfrm>
            <a:off x="7793301" y="2779776"/>
            <a:ext cx="505533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50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  <p:sp>
        <p:nvSpPr>
          <p:cNvPr id="114" name="Text 112"/>
          <p:cNvSpPr/>
          <p:nvPr/>
        </p:nvSpPr>
        <p:spPr>
          <a:xfrm>
            <a:off x="7784157" y="2962656"/>
            <a:ext cx="52382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800"/>
              </a:lnSpc>
              <a:buNone/>
            </a:pPr>
            <a:r>
              <a:rPr lang="en-US" sz="650" b="1" dirty="0">
                <a:solidFill>
                  <a:srgbClr val="150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Samling 4 · Play &amp; structure</a:t>
            </a:r>
            <a:endParaRPr lang="en-US" sz="650" dirty="0"/>
          </a:p>
        </p:txBody>
      </p:sp>
      <p:sp>
        <p:nvSpPr>
          <p:cNvPr id="115" name="Shape 113"/>
          <p:cNvSpPr/>
          <p:nvPr/>
        </p:nvSpPr>
        <p:spPr>
          <a:xfrm>
            <a:off x="8408561" y="2761488"/>
            <a:ext cx="615261" cy="585216"/>
          </a:xfrm>
          <a:prstGeom prst="roundRect">
            <a:avLst>
              <a:gd name="adj" fmla="val 7813"/>
            </a:avLst>
          </a:prstGeom>
          <a:solidFill>
            <a:srgbClr val="FFB020"/>
          </a:solidFill>
          <a:ln/>
        </p:spPr>
      </p:sp>
      <p:sp>
        <p:nvSpPr>
          <p:cNvPr id="116" name="Text 114"/>
          <p:cNvSpPr/>
          <p:nvPr/>
        </p:nvSpPr>
        <p:spPr>
          <a:xfrm>
            <a:off x="8463425" y="2779776"/>
            <a:ext cx="505533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50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  <p:sp>
        <p:nvSpPr>
          <p:cNvPr id="117" name="Text 115"/>
          <p:cNvSpPr/>
          <p:nvPr/>
        </p:nvSpPr>
        <p:spPr>
          <a:xfrm>
            <a:off x="8454281" y="2962656"/>
            <a:ext cx="52382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800"/>
              </a:lnSpc>
              <a:buNone/>
            </a:pPr>
            <a:r>
              <a:rPr lang="en-US" sz="650" b="1" dirty="0">
                <a:solidFill>
                  <a:srgbClr val="150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Samling 4</a:t>
            </a:r>
            <a:endParaRPr lang="en-US" sz="650" dirty="0"/>
          </a:p>
        </p:txBody>
      </p:sp>
      <p:sp>
        <p:nvSpPr>
          <p:cNvPr id="118" name="Shape 116"/>
          <p:cNvSpPr/>
          <p:nvPr/>
        </p:nvSpPr>
        <p:spPr>
          <a:xfrm>
            <a:off x="9078686" y="2761488"/>
            <a:ext cx="615261" cy="585216"/>
          </a:xfrm>
          <a:prstGeom prst="roundRect">
            <a:avLst>
              <a:gd name="adj" fmla="val 781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19050" dir="5400000">
              <a:srgbClr val="150E2E">
                <a:alpha val="6000"/>
              </a:srgbClr>
            </a:outerShdw>
          </a:effectLst>
        </p:spPr>
      </p:sp>
      <p:sp>
        <p:nvSpPr>
          <p:cNvPr id="119" name="Text 117"/>
          <p:cNvSpPr/>
          <p:nvPr/>
        </p:nvSpPr>
        <p:spPr>
          <a:xfrm>
            <a:off x="9133550" y="2779776"/>
            <a:ext cx="505533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E27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  <p:sp>
        <p:nvSpPr>
          <p:cNvPr id="120" name="Shape 118"/>
          <p:cNvSpPr/>
          <p:nvPr/>
        </p:nvSpPr>
        <p:spPr>
          <a:xfrm>
            <a:off x="9748810" y="2761488"/>
            <a:ext cx="615261" cy="585216"/>
          </a:xfrm>
          <a:prstGeom prst="roundRect">
            <a:avLst>
              <a:gd name="adj" fmla="val 781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19050" dir="5400000">
              <a:srgbClr val="150E2E">
                <a:alpha val="6000"/>
              </a:srgbClr>
            </a:outerShdw>
          </a:effectLst>
        </p:spPr>
      </p:sp>
      <p:sp>
        <p:nvSpPr>
          <p:cNvPr id="121" name="Text 119"/>
          <p:cNvSpPr/>
          <p:nvPr/>
        </p:nvSpPr>
        <p:spPr>
          <a:xfrm>
            <a:off x="9803674" y="2779776"/>
            <a:ext cx="505533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E27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  <p:sp>
        <p:nvSpPr>
          <p:cNvPr id="122" name="Shape 120"/>
          <p:cNvSpPr/>
          <p:nvPr/>
        </p:nvSpPr>
        <p:spPr>
          <a:xfrm>
            <a:off x="10418935" y="2761488"/>
            <a:ext cx="615261" cy="585216"/>
          </a:xfrm>
          <a:prstGeom prst="roundRect">
            <a:avLst>
              <a:gd name="adj" fmla="val 781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19050" dir="5400000">
              <a:srgbClr val="150E2E">
                <a:alpha val="6000"/>
              </a:srgbClr>
            </a:outerShdw>
          </a:effectLst>
        </p:spPr>
      </p:sp>
      <p:sp>
        <p:nvSpPr>
          <p:cNvPr id="123" name="Text 121"/>
          <p:cNvSpPr/>
          <p:nvPr/>
        </p:nvSpPr>
        <p:spPr>
          <a:xfrm>
            <a:off x="10473799" y="2779776"/>
            <a:ext cx="505533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E27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  <p:sp>
        <p:nvSpPr>
          <p:cNvPr id="124" name="Shape 122"/>
          <p:cNvSpPr/>
          <p:nvPr/>
        </p:nvSpPr>
        <p:spPr>
          <a:xfrm>
            <a:off x="11089059" y="2761488"/>
            <a:ext cx="615261" cy="585216"/>
          </a:xfrm>
          <a:prstGeom prst="roundRect">
            <a:avLst>
              <a:gd name="adj" fmla="val 781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19050" dir="5400000">
              <a:srgbClr val="150E2E">
                <a:alpha val="6000"/>
              </a:srgbClr>
            </a:outerShdw>
          </a:effectLst>
        </p:spPr>
      </p:sp>
      <p:sp>
        <p:nvSpPr>
          <p:cNvPr id="125" name="Text 123"/>
          <p:cNvSpPr/>
          <p:nvPr/>
        </p:nvSpPr>
        <p:spPr>
          <a:xfrm>
            <a:off x="11143923" y="2779776"/>
            <a:ext cx="505533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E27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  <p:sp>
        <p:nvSpPr>
          <p:cNvPr id="126" name="Text 124"/>
          <p:cNvSpPr/>
          <p:nvPr/>
        </p:nvSpPr>
        <p:spPr>
          <a:xfrm>
            <a:off x="6382512" y="3419856"/>
            <a:ext cx="566928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ts val="1100"/>
              </a:lnSpc>
              <a:buNone/>
            </a:pPr>
            <a:r>
              <a:rPr lang="en-US" sz="950" b="1" dirty="0">
                <a:solidFill>
                  <a:srgbClr val="4B2E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51</a:t>
            </a:r>
            <a:endParaRPr lang="en-US" sz="950" dirty="0"/>
          </a:p>
          <a:p>
            <a:pPr algn="r" indent="0" marL="0">
              <a:lnSpc>
                <a:spcPts val="1100"/>
              </a:lnSpc>
              <a:buNone/>
            </a:pPr>
            <a:r>
              <a:rPr lang="en-US" sz="650" dirty="0">
                <a:solidFill>
                  <a:srgbClr val="6C63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 16</a:t>
            </a:r>
            <a:endParaRPr lang="en-US" sz="950" dirty="0"/>
          </a:p>
        </p:txBody>
      </p:sp>
      <p:sp>
        <p:nvSpPr>
          <p:cNvPr id="127" name="Shape 125"/>
          <p:cNvSpPr/>
          <p:nvPr/>
        </p:nvSpPr>
        <p:spPr>
          <a:xfrm>
            <a:off x="7068312" y="3419856"/>
            <a:ext cx="615261" cy="585216"/>
          </a:xfrm>
          <a:prstGeom prst="roundRect">
            <a:avLst>
              <a:gd name="adj" fmla="val 781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19050" dir="5400000">
              <a:srgbClr val="150E2E">
                <a:alpha val="6000"/>
              </a:srgbClr>
            </a:outerShdw>
          </a:effectLst>
        </p:spPr>
      </p:sp>
      <p:sp>
        <p:nvSpPr>
          <p:cNvPr id="128" name="Text 126"/>
          <p:cNvSpPr/>
          <p:nvPr/>
        </p:nvSpPr>
        <p:spPr>
          <a:xfrm>
            <a:off x="7123176" y="3438144"/>
            <a:ext cx="505533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E27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  <p:sp>
        <p:nvSpPr>
          <p:cNvPr id="129" name="Shape 127"/>
          <p:cNvSpPr/>
          <p:nvPr/>
        </p:nvSpPr>
        <p:spPr>
          <a:xfrm>
            <a:off x="7738437" y="3419856"/>
            <a:ext cx="615261" cy="585216"/>
          </a:xfrm>
          <a:prstGeom prst="roundRect">
            <a:avLst>
              <a:gd name="adj" fmla="val 7813"/>
            </a:avLst>
          </a:prstGeom>
          <a:solidFill>
            <a:srgbClr val="FFEFD1"/>
          </a:solidFill>
          <a:ln/>
        </p:spPr>
      </p:sp>
      <p:sp>
        <p:nvSpPr>
          <p:cNvPr id="130" name="Text 128"/>
          <p:cNvSpPr/>
          <p:nvPr/>
        </p:nvSpPr>
        <p:spPr>
          <a:xfrm>
            <a:off x="7793301" y="3438144"/>
            <a:ext cx="505533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8A5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  <p:sp>
        <p:nvSpPr>
          <p:cNvPr id="131" name="Text 129"/>
          <p:cNvSpPr/>
          <p:nvPr/>
        </p:nvSpPr>
        <p:spPr>
          <a:xfrm>
            <a:off x="7784157" y="3621024"/>
            <a:ext cx="52382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800"/>
              </a:lnSpc>
              <a:buNone/>
            </a:pPr>
            <a:r>
              <a:rPr lang="en-US" sz="650" dirty="0">
                <a:solidFill>
                  <a:srgbClr val="8A5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Peeling the onion</a:t>
            </a:r>
            <a:endParaRPr lang="en-US" sz="650" dirty="0"/>
          </a:p>
        </p:txBody>
      </p:sp>
      <p:sp>
        <p:nvSpPr>
          <p:cNvPr id="132" name="Shape 130"/>
          <p:cNvSpPr/>
          <p:nvPr/>
        </p:nvSpPr>
        <p:spPr>
          <a:xfrm>
            <a:off x="8408561" y="3419856"/>
            <a:ext cx="615261" cy="585216"/>
          </a:xfrm>
          <a:prstGeom prst="roundRect">
            <a:avLst>
              <a:gd name="adj" fmla="val 7813"/>
            </a:avLst>
          </a:prstGeom>
          <a:solidFill>
            <a:srgbClr val="D6F2EC"/>
          </a:solidFill>
          <a:ln/>
        </p:spPr>
      </p:sp>
      <p:sp>
        <p:nvSpPr>
          <p:cNvPr id="133" name="Text 131"/>
          <p:cNvSpPr/>
          <p:nvPr/>
        </p:nvSpPr>
        <p:spPr>
          <a:xfrm>
            <a:off x="8463425" y="3438144"/>
            <a:ext cx="505533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E6E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00" dirty="0"/>
          </a:p>
        </p:txBody>
      </p:sp>
      <p:sp>
        <p:nvSpPr>
          <p:cNvPr id="134" name="Text 132"/>
          <p:cNvSpPr/>
          <p:nvPr/>
        </p:nvSpPr>
        <p:spPr>
          <a:xfrm>
            <a:off x="8454281" y="3621024"/>
            <a:ext cx="52382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800"/>
              </a:lnSpc>
              <a:buNone/>
            </a:pPr>
            <a:r>
              <a:rPr lang="en-US" sz="650" dirty="0">
                <a:solidFill>
                  <a:srgbClr val="0E6E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Layers &amp; artistic intention</a:t>
            </a:r>
            <a:endParaRPr lang="en-US" sz="650" dirty="0"/>
          </a:p>
        </p:txBody>
      </p:sp>
      <p:sp>
        <p:nvSpPr>
          <p:cNvPr id="135" name="Shape 133"/>
          <p:cNvSpPr/>
          <p:nvPr/>
        </p:nvSpPr>
        <p:spPr>
          <a:xfrm>
            <a:off x="9078686" y="3419856"/>
            <a:ext cx="615261" cy="585216"/>
          </a:xfrm>
          <a:prstGeom prst="roundRect">
            <a:avLst>
              <a:gd name="adj" fmla="val 781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19050" dir="5400000">
              <a:srgbClr val="150E2E">
                <a:alpha val="6000"/>
              </a:srgbClr>
            </a:outerShdw>
          </a:effectLst>
        </p:spPr>
      </p:sp>
      <p:sp>
        <p:nvSpPr>
          <p:cNvPr id="136" name="Text 134"/>
          <p:cNvSpPr/>
          <p:nvPr/>
        </p:nvSpPr>
        <p:spPr>
          <a:xfrm>
            <a:off x="9133550" y="3438144"/>
            <a:ext cx="505533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E27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900" dirty="0"/>
          </a:p>
        </p:txBody>
      </p:sp>
      <p:sp>
        <p:nvSpPr>
          <p:cNvPr id="137" name="Shape 135"/>
          <p:cNvSpPr/>
          <p:nvPr/>
        </p:nvSpPr>
        <p:spPr>
          <a:xfrm>
            <a:off x="9748810" y="3419856"/>
            <a:ext cx="615261" cy="585216"/>
          </a:xfrm>
          <a:prstGeom prst="roundRect">
            <a:avLst>
              <a:gd name="adj" fmla="val 781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19050" dir="5400000">
              <a:srgbClr val="150E2E">
                <a:alpha val="6000"/>
              </a:srgbClr>
            </a:outerShdw>
          </a:effectLst>
        </p:spPr>
      </p:sp>
      <p:sp>
        <p:nvSpPr>
          <p:cNvPr id="138" name="Text 136"/>
          <p:cNvSpPr/>
          <p:nvPr/>
        </p:nvSpPr>
        <p:spPr>
          <a:xfrm>
            <a:off x="9803674" y="3438144"/>
            <a:ext cx="505533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E27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900" dirty="0"/>
          </a:p>
        </p:txBody>
      </p:sp>
      <p:sp>
        <p:nvSpPr>
          <p:cNvPr id="139" name="Shape 137"/>
          <p:cNvSpPr/>
          <p:nvPr/>
        </p:nvSpPr>
        <p:spPr>
          <a:xfrm>
            <a:off x="10418935" y="3419856"/>
            <a:ext cx="615261" cy="585216"/>
          </a:xfrm>
          <a:prstGeom prst="roundRect">
            <a:avLst>
              <a:gd name="adj" fmla="val 781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19050" dir="5400000">
              <a:srgbClr val="150E2E">
                <a:alpha val="6000"/>
              </a:srgbClr>
            </a:outerShdw>
          </a:effectLst>
        </p:spPr>
      </p:sp>
      <p:sp>
        <p:nvSpPr>
          <p:cNvPr id="140" name="Text 138"/>
          <p:cNvSpPr/>
          <p:nvPr/>
        </p:nvSpPr>
        <p:spPr>
          <a:xfrm>
            <a:off x="10473799" y="3438144"/>
            <a:ext cx="505533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E27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900" dirty="0"/>
          </a:p>
        </p:txBody>
      </p:sp>
      <p:sp>
        <p:nvSpPr>
          <p:cNvPr id="141" name="Shape 139"/>
          <p:cNvSpPr/>
          <p:nvPr/>
        </p:nvSpPr>
        <p:spPr>
          <a:xfrm>
            <a:off x="11089059" y="3419856"/>
            <a:ext cx="615261" cy="585216"/>
          </a:xfrm>
          <a:prstGeom prst="roundRect">
            <a:avLst>
              <a:gd name="adj" fmla="val 781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19050" dir="5400000">
              <a:srgbClr val="150E2E">
                <a:alpha val="6000"/>
              </a:srgbClr>
            </a:outerShdw>
          </a:effectLst>
        </p:spPr>
      </p:sp>
      <p:sp>
        <p:nvSpPr>
          <p:cNvPr id="142" name="Text 140"/>
          <p:cNvSpPr/>
          <p:nvPr/>
        </p:nvSpPr>
        <p:spPr>
          <a:xfrm>
            <a:off x="11143923" y="3438144"/>
            <a:ext cx="505533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E27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900" dirty="0"/>
          </a:p>
        </p:txBody>
      </p:sp>
      <p:sp>
        <p:nvSpPr>
          <p:cNvPr id="143" name="Text 141"/>
          <p:cNvSpPr/>
          <p:nvPr/>
        </p:nvSpPr>
        <p:spPr>
          <a:xfrm>
            <a:off x="6382512" y="4078224"/>
            <a:ext cx="566928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ts val="1100"/>
              </a:lnSpc>
              <a:buNone/>
            </a:pPr>
            <a:r>
              <a:rPr lang="en-US" sz="950" b="1" dirty="0">
                <a:solidFill>
                  <a:srgbClr val="9A93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52</a:t>
            </a:r>
            <a:endParaRPr lang="en-US" sz="950" dirty="0"/>
          </a:p>
          <a:p>
            <a:pPr algn="r" indent="0" marL="0">
              <a:lnSpc>
                <a:spcPts val="1100"/>
              </a:lnSpc>
              <a:buNone/>
            </a:pPr>
            <a:r>
              <a:rPr lang="en-US" sz="650" dirty="0">
                <a:solidFill>
                  <a:srgbClr val="6C63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</a:t>
            </a:r>
            <a:endParaRPr lang="en-US" sz="950" dirty="0"/>
          </a:p>
        </p:txBody>
      </p:sp>
      <p:sp>
        <p:nvSpPr>
          <p:cNvPr id="144" name="Shape 142"/>
          <p:cNvSpPr/>
          <p:nvPr/>
        </p:nvSpPr>
        <p:spPr>
          <a:xfrm>
            <a:off x="7068312" y="4078224"/>
            <a:ext cx="615261" cy="585216"/>
          </a:xfrm>
          <a:prstGeom prst="roundRect">
            <a:avLst>
              <a:gd name="adj" fmla="val 7813"/>
            </a:avLst>
          </a:prstGeom>
          <a:solidFill>
            <a:srgbClr val="E9E5F2"/>
          </a:solidFill>
          <a:ln/>
        </p:spPr>
      </p:sp>
      <p:sp>
        <p:nvSpPr>
          <p:cNvPr id="145" name="Text 143"/>
          <p:cNvSpPr/>
          <p:nvPr/>
        </p:nvSpPr>
        <p:spPr>
          <a:xfrm>
            <a:off x="7123176" y="4096512"/>
            <a:ext cx="505533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8A8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900" dirty="0"/>
          </a:p>
        </p:txBody>
      </p:sp>
      <p:sp>
        <p:nvSpPr>
          <p:cNvPr id="146" name="Shape 144"/>
          <p:cNvSpPr/>
          <p:nvPr/>
        </p:nvSpPr>
        <p:spPr>
          <a:xfrm>
            <a:off x="7738437" y="4078224"/>
            <a:ext cx="615261" cy="585216"/>
          </a:xfrm>
          <a:prstGeom prst="roundRect">
            <a:avLst>
              <a:gd name="adj" fmla="val 7813"/>
            </a:avLst>
          </a:prstGeom>
          <a:solidFill>
            <a:srgbClr val="E9E5F2"/>
          </a:solidFill>
          <a:ln/>
        </p:spPr>
      </p:sp>
      <p:sp>
        <p:nvSpPr>
          <p:cNvPr id="147" name="Text 145"/>
          <p:cNvSpPr/>
          <p:nvPr/>
        </p:nvSpPr>
        <p:spPr>
          <a:xfrm>
            <a:off x="7793301" y="4096512"/>
            <a:ext cx="505533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8A8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900" dirty="0"/>
          </a:p>
        </p:txBody>
      </p:sp>
      <p:sp>
        <p:nvSpPr>
          <p:cNvPr id="148" name="Shape 146"/>
          <p:cNvSpPr/>
          <p:nvPr/>
        </p:nvSpPr>
        <p:spPr>
          <a:xfrm>
            <a:off x="8408561" y="4078224"/>
            <a:ext cx="615261" cy="585216"/>
          </a:xfrm>
          <a:prstGeom prst="roundRect">
            <a:avLst>
              <a:gd name="adj" fmla="val 7813"/>
            </a:avLst>
          </a:prstGeom>
          <a:solidFill>
            <a:srgbClr val="E9E5F2"/>
          </a:solidFill>
          <a:ln/>
        </p:spPr>
      </p:sp>
      <p:sp>
        <p:nvSpPr>
          <p:cNvPr id="149" name="Text 147"/>
          <p:cNvSpPr/>
          <p:nvPr/>
        </p:nvSpPr>
        <p:spPr>
          <a:xfrm>
            <a:off x="8463425" y="4096512"/>
            <a:ext cx="505533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8A8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en-US" sz="900" dirty="0"/>
          </a:p>
        </p:txBody>
      </p:sp>
      <p:sp>
        <p:nvSpPr>
          <p:cNvPr id="150" name="Shape 148"/>
          <p:cNvSpPr/>
          <p:nvPr/>
        </p:nvSpPr>
        <p:spPr>
          <a:xfrm>
            <a:off x="9078686" y="4078224"/>
            <a:ext cx="615261" cy="585216"/>
          </a:xfrm>
          <a:prstGeom prst="roundRect">
            <a:avLst>
              <a:gd name="adj" fmla="val 7813"/>
            </a:avLst>
          </a:prstGeom>
          <a:solidFill>
            <a:srgbClr val="E9E5F2"/>
          </a:solidFill>
          <a:ln/>
        </p:spPr>
      </p:sp>
      <p:sp>
        <p:nvSpPr>
          <p:cNvPr id="151" name="Text 149"/>
          <p:cNvSpPr/>
          <p:nvPr/>
        </p:nvSpPr>
        <p:spPr>
          <a:xfrm>
            <a:off x="9133550" y="4096512"/>
            <a:ext cx="505533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8A8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endParaRPr lang="en-US" sz="900" dirty="0"/>
          </a:p>
        </p:txBody>
      </p:sp>
      <p:sp>
        <p:nvSpPr>
          <p:cNvPr id="152" name="Shape 150"/>
          <p:cNvSpPr/>
          <p:nvPr/>
        </p:nvSpPr>
        <p:spPr>
          <a:xfrm>
            <a:off x="9748810" y="4078224"/>
            <a:ext cx="615261" cy="585216"/>
          </a:xfrm>
          <a:prstGeom prst="roundRect">
            <a:avLst>
              <a:gd name="adj" fmla="val 7813"/>
            </a:avLst>
          </a:prstGeom>
          <a:solidFill>
            <a:srgbClr val="E9E5F2"/>
          </a:solidFill>
          <a:ln/>
        </p:spPr>
      </p:sp>
      <p:sp>
        <p:nvSpPr>
          <p:cNvPr id="153" name="Text 151"/>
          <p:cNvSpPr/>
          <p:nvPr/>
        </p:nvSpPr>
        <p:spPr>
          <a:xfrm>
            <a:off x="9803674" y="4096512"/>
            <a:ext cx="505533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8A8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</a:t>
            </a:r>
            <a:endParaRPr lang="en-US" sz="900" dirty="0"/>
          </a:p>
        </p:txBody>
      </p:sp>
      <p:sp>
        <p:nvSpPr>
          <p:cNvPr id="154" name="Shape 152"/>
          <p:cNvSpPr/>
          <p:nvPr/>
        </p:nvSpPr>
        <p:spPr>
          <a:xfrm>
            <a:off x="10418935" y="4078224"/>
            <a:ext cx="615261" cy="585216"/>
          </a:xfrm>
          <a:prstGeom prst="roundRect">
            <a:avLst>
              <a:gd name="adj" fmla="val 7813"/>
            </a:avLst>
          </a:prstGeom>
          <a:solidFill>
            <a:srgbClr val="E9E5F2"/>
          </a:solidFill>
          <a:ln/>
        </p:spPr>
      </p:sp>
      <p:sp>
        <p:nvSpPr>
          <p:cNvPr id="155" name="Text 153"/>
          <p:cNvSpPr/>
          <p:nvPr/>
        </p:nvSpPr>
        <p:spPr>
          <a:xfrm>
            <a:off x="10473799" y="4096512"/>
            <a:ext cx="505533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8A8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</a:t>
            </a:r>
            <a:endParaRPr lang="en-US" sz="900" dirty="0"/>
          </a:p>
        </p:txBody>
      </p:sp>
      <p:sp>
        <p:nvSpPr>
          <p:cNvPr id="156" name="Shape 154"/>
          <p:cNvSpPr/>
          <p:nvPr/>
        </p:nvSpPr>
        <p:spPr>
          <a:xfrm>
            <a:off x="11089059" y="4078224"/>
            <a:ext cx="615261" cy="585216"/>
          </a:xfrm>
          <a:prstGeom prst="roundRect">
            <a:avLst>
              <a:gd name="adj" fmla="val 7813"/>
            </a:avLst>
          </a:prstGeom>
          <a:solidFill>
            <a:srgbClr val="E9E5F2"/>
          </a:solidFill>
          <a:ln/>
        </p:spPr>
      </p:sp>
      <p:sp>
        <p:nvSpPr>
          <p:cNvPr id="157" name="Text 155"/>
          <p:cNvSpPr/>
          <p:nvPr/>
        </p:nvSpPr>
        <p:spPr>
          <a:xfrm>
            <a:off x="11143923" y="4096512"/>
            <a:ext cx="505533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8A8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</a:t>
            </a:r>
            <a:endParaRPr lang="en-US" sz="900" dirty="0"/>
          </a:p>
        </p:txBody>
      </p:sp>
      <p:sp>
        <p:nvSpPr>
          <p:cNvPr id="158" name="Text 156"/>
          <p:cNvSpPr/>
          <p:nvPr/>
        </p:nvSpPr>
        <p:spPr>
          <a:xfrm>
            <a:off x="6382512" y="4736592"/>
            <a:ext cx="566928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ts val="1100"/>
              </a:lnSpc>
              <a:buNone/>
            </a:pPr>
            <a:r>
              <a:rPr lang="en-US" sz="950" b="1" dirty="0">
                <a:solidFill>
                  <a:srgbClr val="9A93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53</a:t>
            </a:r>
            <a:endParaRPr lang="en-US" sz="950" dirty="0"/>
          </a:p>
          <a:p>
            <a:pPr algn="r" indent="0" marL="0">
              <a:lnSpc>
                <a:spcPts val="1100"/>
              </a:lnSpc>
              <a:buNone/>
            </a:pPr>
            <a:r>
              <a:rPr lang="en-US" sz="650" dirty="0">
                <a:solidFill>
                  <a:srgbClr val="6C63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</a:t>
            </a:r>
            <a:endParaRPr lang="en-US" sz="950" dirty="0"/>
          </a:p>
        </p:txBody>
      </p:sp>
      <p:sp>
        <p:nvSpPr>
          <p:cNvPr id="159" name="Shape 157"/>
          <p:cNvSpPr/>
          <p:nvPr/>
        </p:nvSpPr>
        <p:spPr>
          <a:xfrm>
            <a:off x="7068312" y="4736592"/>
            <a:ext cx="615261" cy="585216"/>
          </a:xfrm>
          <a:prstGeom prst="roundRect">
            <a:avLst>
              <a:gd name="adj" fmla="val 7813"/>
            </a:avLst>
          </a:prstGeom>
          <a:solidFill>
            <a:srgbClr val="E9E5F2"/>
          </a:solidFill>
          <a:ln/>
        </p:spPr>
      </p:sp>
      <p:sp>
        <p:nvSpPr>
          <p:cNvPr id="160" name="Text 158"/>
          <p:cNvSpPr/>
          <p:nvPr/>
        </p:nvSpPr>
        <p:spPr>
          <a:xfrm>
            <a:off x="7123176" y="4754880"/>
            <a:ext cx="505533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8A8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</a:t>
            </a:r>
            <a:endParaRPr lang="en-US" sz="900" dirty="0"/>
          </a:p>
        </p:txBody>
      </p:sp>
      <p:sp>
        <p:nvSpPr>
          <p:cNvPr id="161" name="Shape 159"/>
          <p:cNvSpPr/>
          <p:nvPr/>
        </p:nvSpPr>
        <p:spPr>
          <a:xfrm>
            <a:off x="7738437" y="4736592"/>
            <a:ext cx="615261" cy="585216"/>
          </a:xfrm>
          <a:prstGeom prst="roundRect">
            <a:avLst>
              <a:gd name="adj" fmla="val 7813"/>
            </a:avLst>
          </a:prstGeom>
          <a:solidFill>
            <a:srgbClr val="E9E5F2"/>
          </a:solidFill>
          <a:ln/>
        </p:spPr>
      </p:sp>
      <p:sp>
        <p:nvSpPr>
          <p:cNvPr id="162" name="Text 160"/>
          <p:cNvSpPr/>
          <p:nvPr/>
        </p:nvSpPr>
        <p:spPr>
          <a:xfrm>
            <a:off x="7793301" y="4754880"/>
            <a:ext cx="505533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8A8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</a:t>
            </a:r>
            <a:endParaRPr lang="en-US" sz="900" dirty="0"/>
          </a:p>
        </p:txBody>
      </p:sp>
      <p:sp>
        <p:nvSpPr>
          <p:cNvPr id="163" name="Shape 161"/>
          <p:cNvSpPr/>
          <p:nvPr/>
        </p:nvSpPr>
        <p:spPr>
          <a:xfrm>
            <a:off x="8408561" y="4736592"/>
            <a:ext cx="615261" cy="585216"/>
          </a:xfrm>
          <a:prstGeom prst="roundRect">
            <a:avLst>
              <a:gd name="adj" fmla="val 7813"/>
            </a:avLst>
          </a:prstGeom>
          <a:solidFill>
            <a:srgbClr val="E9E5F2"/>
          </a:solidFill>
          <a:ln/>
        </p:spPr>
      </p:sp>
      <p:sp>
        <p:nvSpPr>
          <p:cNvPr id="164" name="Text 162"/>
          <p:cNvSpPr/>
          <p:nvPr/>
        </p:nvSpPr>
        <p:spPr>
          <a:xfrm>
            <a:off x="8463425" y="4754880"/>
            <a:ext cx="505533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8A8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</a:t>
            </a:r>
            <a:endParaRPr lang="en-US" sz="900" dirty="0"/>
          </a:p>
        </p:txBody>
      </p:sp>
      <p:sp>
        <p:nvSpPr>
          <p:cNvPr id="165" name="Shape 163"/>
          <p:cNvSpPr/>
          <p:nvPr/>
        </p:nvSpPr>
        <p:spPr>
          <a:xfrm>
            <a:off x="9078686" y="4736592"/>
            <a:ext cx="615261" cy="585216"/>
          </a:xfrm>
          <a:prstGeom prst="roundRect">
            <a:avLst>
              <a:gd name="adj" fmla="val 7813"/>
            </a:avLst>
          </a:prstGeom>
          <a:solidFill>
            <a:srgbClr val="E9E5F2"/>
          </a:solidFill>
          <a:ln/>
        </p:spPr>
      </p:sp>
      <p:sp>
        <p:nvSpPr>
          <p:cNvPr id="166" name="Text 164"/>
          <p:cNvSpPr/>
          <p:nvPr/>
        </p:nvSpPr>
        <p:spPr>
          <a:xfrm>
            <a:off x="9133550" y="4754880"/>
            <a:ext cx="505533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8A8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</a:t>
            </a:r>
            <a:endParaRPr lang="en-US" sz="900" dirty="0"/>
          </a:p>
        </p:txBody>
      </p:sp>
      <p:sp>
        <p:nvSpPr>
          <p:cNvPr id="167" name="Shape 165"/>
          <p:cNvSpPr/>
          <p:nvPr/>
        </p:nvSpPr>
        <p:spPr>
          <a:xfrm>
            <a:off x="6382512" y="5559552"/>
            <a:ext cx="5349240" cy="804672"/>
          </a:xfrm>
          <a:prstGeom prst="roundRect">
            <a:avLst>
              <a:gd name="adj" fmla="val 10227"/>
            </a:avLst>
          </a:prstGeom>
          <a:solidFill>
            <a:srgbClr val="150E2E"/>
          </a:solidFill>
          <a:ln/>
        </p:spPr>
      </p:sp>
      <p:sp>
        <p:nvSpPr>
          <p:cNvPr id="168" name="Text 166"/>
          <p:cNvSpPr/>
          <p:nvPr/>
        </p:nvSpPr>
        <p:spPr>
          <a:xfrm>
            <a:off x="6656832" y="5559552"/>
            <a:ext cx="4800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D8CF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 December – 3 January is a break (weeks 52–53). Teaching resumes on Tuesday 5 January 2027.</a:t>
            </a:r>
            <a:endParaRPr lang="en-US" sz="11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6F4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50E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four Samlinger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640080" y="960120"/>
            <a:ext cx="10881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6C63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Intensive gatherings that open, re-frame and close each stage of the course.</a:t>
            </a:r>
            <a:endParaRPr lang="en-US" sz="1450" dirty="0"/>
          </a:p>
        </p:txBody>
      </p:sp>
      <p:sp>
        <p:nvSpPr>
          <p:cNvPr id="4" name="Shape 2"/>
          <p:cNvSpPr/>
          <p:nvPr/>
        </p:nvSpPr>
        <p:spPr>
          <a:xfrm>
            <a:off x="640080" y="1508760"/>
            <a:ext cx="2624328" cy="1965960"/>
          </a:xfrm>
          <a:prstGeom prst="roundRect">
            <a:avLst>
              <a:gd name="adj" fmla="val 418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19050" dir="5400000">
              <a:srgbClr val="150E2E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1755648"/>
            <a:ext cx="566928" cy="566928"/>
          </a:xfrm>
          <a:prstGeom prst="ellipse">
            <a:avLst/>
          </a:prstGeom>
          <a:solidFill>
            <a:srgbClr val="FFB020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175564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50E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600200" y="1810512"/>
            <a:ext cx="14356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9A6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1 · cal. 36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914400" y="2450592"/>
            <a:ext cx="20756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50E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Introduction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914400" y="2834640"/>
            <a:ext cx="207568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6C63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Opens the course and the shared frame of enquiry.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3529584" y="1508760"/>
            <a:ext cx="2624328" cy="1965960"/>
          </a:xfrm>
          <a:prstGeom prst="roundRect">
            <a:avLst>
              <a:gd name="adj" fmla="val 418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19050" dir="5400000">
              <a:srgbClr val="150E2E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803904" y="1755648"/>
            <a:ext cx="566928" cy="566928"/>
          </a:xfrm>
          <a:prstGeom prst="ellipse">
            <a:avLst/>
          </a:prstGeom>
          <a:solidFill>
            <a:srgbClr val="FFB020"/>
          </a:solidFill>
          <a:ln/>
        </p:spPr>
      </p:sp>
      <p:sp>
        <p:nvSpPr>
          <p:cNvPr id="12" name="Text 10"/>
          <p:cNvSpPr/>
          <p:nvPr/>
        </p:nvSpPr>
        <p:spPr>
          <a:xfrm>
            <a:off x="3803904" y="175564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50E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489704" y="1810512"/>
            <a:ext cx="14356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9A6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6 · cal. 41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803904" y="2450592"/>
            <a:ext cx="20756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50E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Toward production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3803904" y="2834640"/>
            <a:ext cx="207568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6C63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Sits directly before green-lighting and the production start.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419088" y="1508760"/>
            <a:ext cx="2624328" cy="1965960"/>
          </a:xfrm>
          <a:prstGeom prst="roundRect">
            <a:avLst>
              <a:gd name="adj" fmla="val 418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19050" dir="5400000">
              <a:srgbClr val="150E2E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693408" y="1755648"/>
            <a:ext cx="566928" cy="566928"/>
          </a:xfrm>
          <a:prstGeom prst="ellipse">
            <a:avLst/>
          </a:prstGeom>
          <a:solidFill>
            <a:srgbClr val="FFB020"/>
          </a:solidFill>
          <a:ln/>
        </p:spPr>
      </p:sp>
      <p:sp>
        <p:nvSpPr>
          <p:cNvPr id="18" name="Text 16"/>
          <p:cNvSpPr/>
          <p:nvPr/>
        </p:nvSpPr>
        <p:spPr>
          <a:xfrm>
            <a:off x="6693408" y="175564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50E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7379208" y="1810512"/>
            <a:ext cx="14356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9A6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12 · cal. 47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693408" y="2450592"/>
            <a:ext cx="20756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50E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Toward testing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6693408" y="2834640"/>
            <a:ext cx="207568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6C63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Sits before the research-methods and play-testing weeks.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9308592" y="1508760"/>
            <a:ext cx="2624328" cy="1965960"/>
          </a:xfrm>
          <a:prstGeom prst="roundRect">
            <a:avLst>
              <a:gd name="adj" fmla="val 418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19050" dir="5400000">
              <a:srgbClr val="150E2E">
                <a:alpha val="1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9582912" y="1755648"/>
            <a:ext cx="566928" cy="566928"/>
          </a:xfrm>
          <a:prstGeom prst="ellipse">
            <a:avLst/>
          </a:prstGeom>
          <a:solidFill>
            <a:srgbClr val="FFB020"/>
          </a:solidFill>
          <a:ln/>
        </p:spPr>
      </p:sp>
      <p:sp>
        <p:nvSpPr>
          <p:cNvPr id="24" name="Text 22"/>
          <p:cNvSpPr/>
          <p:nvPr/>
        </p:nvSpPr>
        <p:spPr>
          <a:xfrm>
            <a:off x="9582912" y="175564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50E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200" dirty="0"/>
          </a:p>
        </p:txBody>
      </p:sp>
      <p:sp>
        <p:nvSpPr>
          <p:cNvPr id="25" name="Text 23"/>
          <p:cNvSpPr/>
          <p:nvPr/>
        </p:nvSpPr>
        <p:spPr>
          <a:xfrm>
            <a:off x="10268712" y="1810512"/>
            <a:ext cx="14356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9A6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15 · cal. 50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9582912" y="2450592"/>
            <a:ext cx="20756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50E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Play and structure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9582912" y="2834640"/>
            <a:ext cx="207568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6C63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Re-frames the whole course through play as a creative driver.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640080" y="3675888"/>
            <a:ext cx="10881360" cy="2633472"/>
          </a:xfrm>
          <a:prstGeom prst="roundRect">
            <a:avLst>
              <a:gd name="adj" fmla="val 3472"/>
            </a:avLst>
          </a:prstGeom>
          <a:solidFill>
            <a:srgbClr val="150E2E"/>
          </a:solidFill>
          <a:ln/>
        </p:spPr>
      </p:sp>
      <p:sp>
        <p:nvSpPr>
          <p:cNvPr id="29" name="Text 27"/>
          <p:cNvSpPr/>
          <p:nvPr/>
        </p:nvSpPr>
        <p:spPr>
          <a:xfrm>
            <a:off x="1097280" y="39319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40" kern="0" dirty="0">
                <a:solidFill>
                  <a:srgbClr val="FFB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SAMLING 4 — DRAFT DESCRIPTION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1097280" y="4224528"/>
            <a:ext cx="9966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“The phenomena of play and the structure of games”</a:t>
            </a:r>
            <a:endParaRPr lang="en-US" sz="2400" dirty="0"/>
          </a:p>
        </p:txBody>
      </p:sp>
      <p:sp>
        <p:nvSpPr>
          <p:cNvPr id="31" name="Text 29"/>
          <p:cNvSpPr/>
          <p:nvPr/>
        </p:nvSpPr>
        <p:spPr>
          <a:xfrm>
            <a:off x="1298448" y="4736592"/>
            <a:ext cx="96926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1550"/>
              </a:lnSpc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D8CF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 and game-like structures as creative tools.</a:t>
            </a:r>
            <a:endParaRPr lang="en-US" sz="1200" dirty="0"/>
          </a:p>
          <a:p>
            <a:pPr marL="342900" indent="-342900">
              <a:lnSpc>
                <a:spcPts val="1550"/>
              </a:lnSpc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D8CF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Fundamentals of ecological psychology (affordances) and the development of perception through evolution.</a:t>
            </a:r>
            <a:endParaRPr lang="en-US" sz="1200" dirty="0"/>
          </a:p>
          <a:p>
            <a:pPr marL="342900" indent="-342900">
              <a:lnSpc>
                <a:spcPts val="1550"/>
              </a:lnSpc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D8CF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 not as a result of culture but as a central driver in evolution and in culture — and how that relates to working creatively today.</a:t>
            </a:r>
            <a:endParaRPr lang="en-US" sz="1200" dirty="0"/>
          </a:p>
          <a:p>
            <a:pPr marL="342900" indent="-342900">
              <a:lnSpc>
                <a:spcPts val="1550"/>
              </a:lnSpc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D8CF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 versus games; narrative structures compared in linear and non-linear formats.</a:t>
            </a:r>
            <a:endParaRPr lang="en-US" sz="1200" dirty="0"/>
          </a:p>
          <a:p>
            <a:pPr marL="342900" indent="-342900">
              <a:lnSpc>
                <a:spcPts val="1550"/>
              </a:lnSpc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D8CF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Narrative as predetermined gestalt (stories, plays, films) versus emergent generative structure — combinations of affordances producing non-predetermined outcomes.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6F4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50E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Literature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932688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C63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starting list, grouped by what each cluster contributes — further titles to be added.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640080" y="1481328"/>
            <a:ext cx="3502152" cy="2212848"/>
          </a:xfrm>
          <a:prstGeom prst="roundRect">
            <a:avLst>
              <a:gd name="adj" fmla="val 371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19050" dir="5400000">
              <a:srgbClr val="150E2E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96112" y="1719072"/>
            <a:ext cx="420624" cy="420624"/>
          </a:xfrm>
          <a:prstGeom prst="ellipse">
            <a:avLst/>
          </a:prstGeom>
          <a:solidFill>
            <a:srgbClr val="4B2E9E"/>
          </a:solidFill>
          <a:ln/>
        </p:spPr>
      </p:sp>
      <p:sp>
        <p:nvSpPr>
          <p:cNvPr id="6" name="Text 4"/>
          <p:cNvSpPr/>
          <p:nvPr/>
        </p:nvSpPr>
        <p:spPr>
          <a:xfrm>
            <a:off x="896112" y="171907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444752" y="1682496"/>
            <a:ext cx="24505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600" b="1" dirty="0">
                <a:solidFill>
                  <a:srgbClr val="150E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Play &amp; culture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96112" y="2267712"/>
            <a:ext cx="29900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6C63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 as a cultural form, and the frames that hold social interaction together.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1060704" y="2834640"/>
            <a:ext cx="2825496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200" b="1" dirty="0">
                <a:solidFill>
                  <a:srgbClr val="2E27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Johan Huizinga</a:t>
            </a:r>
            <a:endParaRPr lang="en-US" sz="12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200" b="1" dirty="0">
                <a:solidFill>
                  <a:srgbClr val="2E27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Brian Sutton-Smith</a:t>
            </a:r>
            <a:endParaRPr lang="en-US" sz="12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200" b="1" dirty="0">
                <a:solidFill>
                  <a:srgbClr val="2E27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Erving Goffman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425696" y="1481328"/>
            <a:ext cx="3502152" cy="2212848"/>
          </a:xfrm>
          <a:prstGeom prst="roundRect">
            <a:avLst>
              <a:gd name="adj" fmla="val 371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19050" dir="5400000">
              <a:srgbClr val="150E2E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681728" y="1719072"/>
            <a:ext cx="420624" cy="420624"/>
          </a:xfrm>
          <a:prstGeom prst="ellipse">
            <a:avLst/>
          </a:prstGeom>
          <a:solidFill>
            <a:srgbClr val="1FB8A0"/>
          </a:solidFill>
          <a:ln/>
        </p:spPr>
      </p:sp>
      <p:sp>
        <p:nvSpPr>
          <p:cNvPr id="12" name="Text 10"/>
          <p:cNvSpPr/>
          <p:nvPr/>
        </p:nvSpPr>
        <p:spPr>
          <a:xfrm>
            <a:off x="4681728" y="171907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230368" y="1682496"/>
            <a:ext cx="24505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600" b="1" dirty="0">
                <a:solidFill>
                  <a:srgbClr val="150E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Development &amp; learning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4681728" y="2267712"/>
            <a:ext cx="29900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6C63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 in cognitive development — how learning happens through doing.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4846320" y="2834640"/>
            <a:ext cx="2825496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200" b="1" dirty="0">
                <a:solidFill>
                  <a:srgbClr val="2E27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 Vygotsky</a:t>
            </a:r>
            <a:endParaRPr lang="en-US" sz="12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200" b="1" dirty="0">
                <a:solidFill>
                  <a:srgbClr val="2E27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Jean Piaget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8211312" y="1481328"/>
            <a:ext cx="3502152" cy="2212848"/>
          </a:xfrm>
          <a:prstGeom prst="roundRect">
            <a:avLst>
              <a:gd name="adj" fmla="val 371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19050" dir="5400000">
              <a:srgbClr val="150E2E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8467344" y="1719072"/>
            <a:ext cx="420624" cy="420624"/>
          </a:xfrm>
          <a:prstGeom prst="ellipse">
            <a:avLst/>
          </a:prstGeom>
          <a:solidFill>
            <a:srgbClr val="3D6BE0"/>
          </a:solidFill>
          <a:ln/>
        </p:spPr>
      </p:sp>
      <p:sp>
        <p:nvSpPr>
          <p:cNvPr id="18" name="Text 16"/>
          <p:cNvSpPr/>
          <p:nvPr/>
        </p:nvSpPr>
        <p:spPr>
          <a:xfrm>
            <a:off x="8467344" y="171907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9015984" y="1682496"/>
            <a:ext cx="24505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600" b="1" dirty="0">
                <a:solidFill>
                  <a:srgbClr val="150E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Perception &amp; affordance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8467344" y="2267712"/>
            <a:ext cx="29900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6C63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 perception and affordances — the ground under weeks 8 and 15.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8631936" y="2834640"/>
            <a:ext cx="2825496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200" b="1" dirty="0">
                <a:solidFill>
                  <a:srgbClr val="2E27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James J. Gibson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640080" y="3968496"/>
            <a:ext cx="3502152" cy="2212848"/>
          </a:xfrm>
          <a:prstGeom prst="roundRect">
            <a:avLst>
              <a:gd name="adj" fmla="val 371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19050" dir="5400000">
              <a:srgbClr val="150E2E">
                <a:alpha val="1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896112" y="4206240"/>
            <a:ext cx="420624" cy="420624"/>
          </a:xfrm>
          <a:prstGeom prst="ellipse">
            <a:avLst/>
          </a:prstGeom>
          <a:solidFill>
            <a:srgbClr val="FFB020"/>
          </a:solidFill>
          <a:ln/>
        </p:spPr>
      </p:sp>
      <p:sp>
        <p:nvSpPr>
          <p:cNvPr id="24" name="Text 22"/>
          <p:cNvSpPr/>
          <p:nvPr/>
        </p:nvSpPr>
        <p:spPr>
          <a:xfrm>
            <a:off x="896112" y="420624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50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1444752" y="4169664"/>
            <a:ext cx="24505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600" b="1" dirty="0">
                <a:solidFill>
                  <a:srgbClr val="150E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Game design practice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896112" y="4754880"/>
            <a:ext cx="29900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6C63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Method, narrative and iteration: designing play as a working practice.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1060704" y="5321808"/>
            <a:ext cx="2825496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200" b="1" dirty="0">
                <a:solidFill>
                  <a:srgbClr val="2E27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Tracy Fullerton</a:t>
            </a:r>
            <a:endParaRPr lang="en-US" sz="12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200" b="1" dirty="0">
                <a:solidFill>
                  <a:srgbClr val="2E27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Janet H. Murray</a:t>
            </a:r>
            <a:endParaRPr lang="en-US" sz="12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200" b="1" dirty="0">
                <a:solidFill>
                  <a:srgbClr val="2E27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Jane McGonigal</a:t>
            </a:r>
            <a:endParaRPr lang="en-US" sz="12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200" b="1" dirty="0">
                <a:solidFill>
                  <a:srgbClr val="2E27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Hwiller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4425696" y="3968496"/>
            <a:ext cx="3502152" cy="2212848"/>
          </a:xfrm>
          <a:prstGeom prst="roundRect">
            <a:avLst>
              <a:gd name="adj" fmla="val 371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19050" dir="5400000">
              <a:srgbClr val="150E2E">
                <a:alpha val="10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4681728" y="4206240"/>
            <a:ext cx="420624" cy="420624"/>
          </a:xfrm>
          <a:prstGeom prst="ellipse">
            <a:avLst/>
          </a:prstGeom>
          <a:solidFill>
            <a:srgbClr val="B5478A"/>
          </a:solidFill>
          <a:ln/>
        </p:spPr>
      </p:sp>
      <p:sp>
        <p:nvSpPr>
          <p:cNvPr id="30" name="Text 28"/>
          <p:cNvSpPr/>
          <p:nvPr/>
        </p:nvSpPr>
        <p:spPr>
          <a:xfrm>
            <a:off x="4681728" y="420624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5230368" y="4169664"/>
            <a:ext cx="24505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600" b="1" dirty="0">
                <a:solidFill>
                  <a:srgbClr val="150E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Artistic practice &amp; aesthetics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4681728" y="4754880"/>
            <a:ext cx="29900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6C63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Experience, attention and imagination as the material of artistic work.</a:t>
            </a:r>
            <a:endParaRPr lang="en-US" sz="1150" dirty="0"/>
          </a:p>
        </p:txBody>
      </p:sp>
      <p:sp>
        <p:nvSpPr>
          <p:cNvPr id="33" name="Text 31"/>
          <p:cNvSpPr/>
          <p:nvPr/>
        </p:nvSpPr>
        <p:spPr>
          <a:xfrm>
            <a:off x="4846320" y="5321808"/>
            <a:ext cx="2825496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200" b="1" dirty="0">
                <a:solidFill>
                  <a:srgbClr val="2E27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John Dewey</a:t>
            </a:r>
            <a:endParaRPr lang="en-US" sz="12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200" b="1" dirty="0">
                <a:solidFill>
                  <a:srgbClr val="2E27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Maxine Greene</a:t>
            </a:r>
            <a:endParaRPr lang="en-US" sz="12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200" b="1" dirty="0">
                <a:solidFill>
                  <a:srgbClr val="2E27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Torkil Færø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8211312" y="3968496"/>
            <a:ext cx="3502152" cy="2212848"/>
          </a:xfrm>
          <a:prstGeom prst="roundRect">
            <a:avLst>
              <a:gd name="adj" fmla="val 3719"/>
            </a:avLst>
          </a:prstGeom>
          <a:solidFill>
            <a:srgbClr val="150E2E"/>
          </a:solidFill>
          <a:ln/>
        </p:spPr>
      </p:sp>
      <p:pic>
        <p:nvPicPr>
          <p:cNvPr id="3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67344" y="4242816"/>
            <a:ext cx="365760" cy="365760"/>
          </a:xfrm>
          <a:prstGeom prst="rect">
            <a:avLst/>
          </a:prstGeom>
        </p:spPr>
      </p:pic>
      <p:sp>
        <p:nvSpPr>
          <p:cNvPr id="36" name="Text 33"/>
          <p:cNvSpPr/>
          <p:nvPr/>
        </p:nvSpPr>
        <p:spPr>
          <a:xfrm>
            <a:off x="8467344" y="4754880"/>
            <a:ext cx="29900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More to come</a:t>
            </a:r>
            <a:endParaRPr lang="en-US" sz="1700" dirty="0"/>
          </a:p>
        </p:txBody>
      </p:sp>
      <p:sp>
        <p:nvSpPr>
          <p:cNvPr id="37" name="Text 34"/>
          <p:cNvSpPr/>
          <p:nvPr/>
        </p:nvSpPr>
        <p:spPr>
          <a:xfrm>
            <a:off x="8467344" y="5175504"/>
            <a:ext cx="299008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D8CF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reading list is open — further titles will be added as the productions, consultations and studio visits develop.</a:t>
            </a:r>
            <a:endParaRPr lang="en-US" sz="11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50E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287000" y="1051560"/>
            <a:ext cx="680314" cy="680314"/>
          </a:xfrm>
          <a:prstGeom prst="ellipse">
            <a:avLst/>
          </a:prstGeom>
          <a:solidFill>
            <a:srgbClr val="4B2E9E">
              <a:alpha val="5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1219688" y="1380744"/>
            <a:ext cx="373075" cy="373075"/>
          </a:xfrm>
          <a:prstGeom prst="ellipse">
            <a:avLst/>
          </a:prstGeom>
          <a:solidFill>
            <a:srgbClr val="4B2E9E">
              <a:alpha val="5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10671048" y="1951330"/>
            <a:ext cx="504749" cy="504749"/>
          </a:xfrm>
          <a:prstGeom prst="triangle">
            <a:avLst/>
          </a:prstGeom>
          <a:solidFill>
            <a:srgbClr val="4B2E9E">
              <a:alpha val="5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11603736" y="2093976"/>
            <a:ext cx="263347" cy="263347"/>
          </a:xfrm>
          <a:prstGeom prst="ellipse">
            <a:avLst/>
          </a:prstGeom>
          <a:solidFill>
            <a:srgbClr val="4B2E9E">
              <a:alpha val="50000"/>
            </a:srgbClr>
          </a:solidFill>
          <a:ln/>
        </p:spPr>
      </p:sp>
      <p:sp>
        <p:nvSpPr>
          <p:cNvPr id="6" name="Shape 4"/>
          <p:cNvSpPr/>
          <p:nvPr/>
        </p:nvSpPr>
        <p:spPr>
          <a:xfrm rot="1200000">
            <a:off x="11406226" y="590702"/>
            <a:ext cx="307238" cy="307238"/>
          </a:xfrm>
          <a:prstGeom prst="rect">
            <a:avLst/>
          </a:prstGeom>
          <a:solidFill>
            <a:srgbClr val="4B2E9E">
              <a:alpha val="5000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8229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FFB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summary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40080" y="1371600"/>
            <a:ext cx="96012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48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production, four phases,</a:t>
            </a:r>
            <a:endParaRPr lang="en-US" sz="4000" dirty="0"/>
          </a:p>
          <a:p>
            <a:pPr indent="0" marL="0">
              <a:lnSpc>
                <a:spcPts val="48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six ways of teaching it.</a:t>
            </a:r>
            <a:endParaRPr lang="en-US" sz="4000" dirty="0"/>
          </a:p>
        </p:txBody>
      </p:sp>
      <p:sp>
        <p:nvSpPr>
          <p:cNvPr id="9" name="Shape 7"/>
          <p:cNvSpPr/>
          <p:nvPr/>
        </p:nvSpPr>
        <p:spPr>
          <a:xfrm>
            <a:off x="640080" y="3118104"/>
            <a:ext cx="274320" cy="274320"/>
          </a:xfrm>
          <a:prstGeom prst="ellipse">
            <a:avLst/>
          </a:prstGeom>
          <a:solidFill>
            <a:srgbClr val="FFB020"/>
          </a:solidFill>
          <a:ln/>
        </p:spPr>
      </p:sp>
      <p:sp>
        <p:nvSpPr>
          <p:cNvPr id="10" name="Text 8"/>
          <p:cNvSpPr/>
          <p:nvPr/>
        </p:nvSpPr>
        <p:spPr>
          <a:xfrm>
            <a:off x="1097280" y="3063240"/>
            <a:ext cx="4480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Enquiry first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097280" y="3520440"/>
            <a:ext cx="4480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D8CF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Teams begin from a societal challenge or theme, examined through systems and story before anything is built.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6035040" y="3118104"/>
            <a:ext cx="274320" cy="274320"/>
          </a:xfrm>
          <a:prstGeom prst="ellipse">
            <a:avLst/>
          </a:prstGeom>
          <a:solidFill>
            <a:srgbClr val="1FB8A0"/>
          </a:solidFill>
          <a:ln/>
        </p:spPr>
      </p:sp>
      <p:sp>
        <p:nvSpPr>
          <p:cNvPr id="13" name="Text 11"/>
          <p:cNvSpPr/>
          <p:nvPr/>
        </p:nvSpPr>
        <p:spPr>
          <a:xfrm>
            <a:off x="6492240" y="3063240"/>
            <a:ext cx="4480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Production in teams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6492240" y="3520440"/>
            <a:ext cx="4480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D8CF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shared production runs the length of the course, green-lit in week 7 and tested in weeks 13–14.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640080" y="4718304"/>
            <a:ext cx="274320" cy="274320"/>
          </a:xfrm>
          <a:prstGeom prst="ellipse">
            <a:avLst/>
          </a:prstGeom>
          <a:solidFill>
            <a:srgbClr val="FFB020"/>
          </a:solidFill>
          <a:ln/>
        </p:spPr>
      </p:sp>
      <p:sp>
        <p:nvSpPr>
          <p:cNvPr id="16" name="Text 14"/>
          <p:cNvSpPr/>
          <p:nvPr/>
        </p:nvSpPr>
        <p:spPr>
          <a:xfrm>
            <a:off x="1097280" y="4663440"/>
            <a:ext cx="4480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Feedback at every scale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097280" y="5120640"/>
            <a:ext cx="4480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D8CF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Lectures and workshops for the cohort, supervision and consultations for the team, studio visits for the work itself.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6035040" y="4718304"/>
            <a:ext cx="274320" cy="274320"/>
          </a:xfrm>
          <a:prstGeom prst="ellipse">
            <a:avLst/>
          </a:prstGeom>
          <a:solidFill>
            <a:srgbClr val="1FB8A0"/>
          </a:solidFill>
          <a:ln/>
        </p:spPr>
      </p:sp>
      <p:sp>
        <p:nvSpPr>
          <p:cNvPr id="19" name="Text 17"/>
          <p:cNvSpPr/>
          <p:nvPr/>
        </p:nvSpPr>
        <p:spPr>
          <a:xfrm>
            <a:off x="6492240" y="4663440"/>
            <a:ext cx="4480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Reflection as method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6492240" y="5120640"/>
            <a:ext cx="4480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D8CF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course closes by peeling the onion — reading the finished experience back against the artistic intention.</a:t>
            </a:r>
            <a:endParaRPr lang="en-US" sz="1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Game Production — Course Structure</dc:title>
  <dc:subject>PptxGenJS Presentation</dc:subject>
  <dc:creator>MFA Game Production</dc:creator>
  <cp:lastModifiedBy>MFA Game Production</cp:lastModifiedBy>
  <cp:revision>1</cp:revision>
  <dcterms:created xsi:type="dcterms:W3CDTF">2026-08-14T13:13:18Z</dcterms:created>
  <dcterms:modified xsi:type="dcterms:W3CDTF">2026-08-14T13:13:18Z</dcterms:modified>
</cp:coreProperties>
</file>